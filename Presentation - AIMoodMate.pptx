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Work Sans Semi-Bold" charset="1" panose="00000000000000000000"/>
      <p:regular r:id="rId24"/>
    </p:embeddedFont>
    <p:embeddedFont>
      <p:font typeface="Work Sans" charset="1" panose="00000000000000000000"/>
      <p:regular r:id="rId25"/>
    </p:embeddedFont>
    <p:embeddedFont>
      <p:font typeface="Work Sans Bold"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2686050"/>
            <a:chOff x="0" y="0"/>
            <a:chExt cx="4987154" cy="790100"/>
          </a:xfrm>
        </p:grpSpPr>
        <p:sp>
          <p:nvSpPr>
            <p:cNvPr name="Freeform 3" id="3"/>
            <p:cNvSpPr/>
            <p:nvPr/>
          </p:nvSpPr>
          <p:spPr>
            <a:xfrm flipH="false" flipV="false" rot="0">
              <a:off x="0" y="0"/>
              <a:ext cx="4987156" cy="790100"/>
            </a:xfrm>
            <a:custGeom>
              <a:avLst/>
              <a:gdLst/>
              <a:ahLst/>
              <a:cxnLst/>
              <a:rect r="r" b="b" t="t" l="l"/>
              <a:pathLst>
                <a:path h="790100" w="4987156">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42316A"/>
            </a:solidFill>
            <a:ln w="12700">
              <a:solidFill>
                <a:srgbClr val="000000"/>
              </a:solidFill>
            </a:ln>
          </p:spPr>
        </p:sp>
      </p:grpSp>
      <p:grpSp>
        <p:nvGrpSpPr>
          <p:cNvPr name="Group 4" id="4"/>
          <p:cNvGrpSpPr/>
          <p:nvPr/>
        </p:nvGrpSpPr>
        <p:grpSpPr>
          <a:xfrm rot="0">
            <a:off x="10734675" y="7834471"/>
            <a:ext cx="6886575" cy="1785779"/>
            <a:chOff x="0" y="0"/>
            <a:chExt cx="1813748" cy="470329"/>
          </a:xfrm>
        </p:grpSpPr>
        <p:sp>
          <p:nvSpPr>
            <p:cNvPr name="Freeform 5" id="5"/>
            <p:cNvSpPr/>
            <p:nvPr/>
          </p:nvSpPr>
          <p:spPr>
            <a:xfrm flipH="false" flipV="false" rot="0">
              <a:off x="0" y="0"/>
              <a:ext cx="1813748" cy="470329"/>
            </a:xfrm>
            <a:custGeom>
              <a:avLst/>
              <a:gdLst/>
              <a:ahLst/>
              <a:cxnLst/>
              <a:rect r="r" b="b" t="t" l="l"/>
              <a:pathLst>
                <a:path h="470329" w="1813748">
                  <a:moveTo>
                    <a:pt x="44968" y="0"/>
                  </a:moveTo>
                  <a:lnTo>
                    <a:pt x="1768780" y="0"/>
                  </a:lnTo>
                  <a:cubicBezTo>
                    <a:pt x="1780706" y="0"/>
                    <a:pt x="1792144" y="4738"/>
                    <a:pt x="1800577" y="13171"/>
                  </a:cubicBezTo>
                  <a:cubicBezTo>
                    <a:pt x="1809011" y="21604"/>
                    <a:pt x="1813748" y="33042"/>
                    <a:pt x="1813748" y="44968"/>
                  </a:cubicBezTo>
                  <a:lnTo>
                    <a:pt x="1813748" y="425360"/>
                  </a:lnTo>
                  <a:cubicBezTo>
                    <a:pt x="1813748" y="437287"/>
                    <a:pt x="1809011" y="448724"/>
                    <a:pt x="1800577" y="457158"/>
                  </a:cubicBezTo>
                  <a:cubicBezTo>
                    <a:pt x="1792144" y="465591"/>
                    <a:pt x="1780706" y="470329"/>
                    <a:pt x="1768780" y="470329"/>
                  </a:cubicBezTo>
                  <a:lnTo>
                    <a:pt x="44968" y="470329"/>
                  </a:lnTo>
                  <a:cubicBezTo>
                    <a:pt x="33042" y="470329"/>
                    <a:pt x="21604" y="465591"/>
                    <a:pt x="13171" y="457158"/>
                  </a:cubicBezTo>
                  <a:cubicBezTo>
                    <a:pt x="4738" y="448724"/>
                    <a:pt x="0" y="437287"/>
                    <a:pt x="0" y="425360"/>
                  </a:cubicBezTo>
                  <a:lnTo>
                    <a:pt x="0" y="44968"/>
                  </a:lnTo>
                  <a:cubicBezTo>
                    <a:pt x="0" y="33042"/>
                    <a:pt x="4738" y="21604"/>
                    <a:pt x="13171" y="13171"/>
                  </a:cubicBezTo>
                  <a:cubicBezTo>
                    <a:pt x="21604" y="4738"/>
                    <a:pt x="33042" y="0"/>
                    <a:pt x="44968" y="0"/>
                  </a:cubicBezTo>
                  <a:close/>
                </a:path>
              </a:pathLst>
            </a:custGeom>
            <a:solidFill>
              <a:srgbClr val="42316A"/>
            </a:solidFill>
          </p:spPr>
        </p:sp>
        <p:sp>
          <p:nvSpPr>
            <p:cNvPr name="TextBox 6" id="6"/>
            <p:cNvSpPr txBox="true"/>
            <p:nvPr/>
          </p:nvSpPr>
          <p:spPr>
            <a:xfrm>
              <a:off x="0" y="-57150"/>
              <a:ext cx="1813748" cy="527479"/>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10734675" y="3657600"/>
            <a:ext cx="6886575" cy="3872071"/>
            <a:chOff x="0" y="0"/>
            <a:chExt cx="1066911" cy="599885"/>
          </a:xfrm>
        </p:grpSpPr>
        <p:sp>
          <p:nvSpPr>
            <p:cNvPr name="Freeform 8" id="8"/>
            <p:cNvSpPr/>
            <p:nvPr/>
          </p:nvSpPr>
          <p:spPr>
            <a:xfrm flipH="false" flipV="false" rot="0">
              <a:off x="0" y="0"/>
              <a:ext cx="1066911" cy="599885"/>
            </a:xfrm>
            <a:custGeom>
              <a:avLst/>
              <a:gdLst/>
              <a:ahLst/>
              <a:cxnLst/>
              <a:rect r="r" b="b" t="t" l="l"/>
              <a:pathLst>
                <a:path h="599885" w="1066911">
                  <a:moveTo>
                    <a:pt x="44968" y="0"/>
                  </a:moveTo>
                  <a:lnTo>
                    <a:pt x="1021942" y="0"/>
                  </a:lnTo>
                  <a:cubicBezTo>
                    <a:pt x="1033869" y="0"/>
                    <a:pt x="1045307" y="4738"/>
                    <a:pt x="1053740" y="13171"/>
                  </a:cubicBezTo>
                  <a:cubicBezTo>
                    <a:pt x="1062173" y="21604"/>
                    <a:pt x="1066911" y="33042"/>
                    <a:pt x="1066911" y="44968"/>
                  </a:cubicBezTo>
                  <a:lnTo>
                    <a:pt x="1066911" y="554917"/>
                  </a:lnTo>
                  <a:cubicBezTo>
                    <a:pt x="1066911" y="566843"/>
                    <a:pt x="1062173" y="578281"/>
                    <a:pt x="1053740" y="586714"/>
                  </a:cubicBezTo>
                  <a:cubicBezTo>
                    <a:pt x="1045307" y="595147"/>
                    <a:pt x="1033869" y="599885"/>
                    <a:pt x="1021942" y="599885"/>
                  </a:cubicBezTo>
                  <a:lnTo>
                    <a:pt x="44968" y="599885"/>
                  </a:lnTo>
                  <a:cubicBezTo>
                    <a:pt x="33042" y="599885"/>
                    <a:pt x="21604" y="595147"/>
                    <a:pt x="13171" y="586714"/>
                  </a:cubicBezTo>
                  <a:cubicBezTo>
                    <a:pt x="4738" y="578281"/>
                    <a:pt x="0" y="566843"/>
                    <a:pt x="0" y="554917"/>
                  </a:cubicBezTo>
                  <a:lnTo>
                    <a:pt x="0" y="44968"/>
                  </a:lnTo>
                  <a:cubicBezTo>
                    <a:pt x="0" y="33042"/>
                    <a:pt x="4738" y="21604"/>
                    <a:pt x="13171" y="13171"/>
                  </a:cubicBezTo>
                  <a:cubicBezTo>
                    <a:pt x="21604" y="4738"/>
                    <a:pt x="33042" y="0"/>
                    <a:pt x="44968" y="0"/>
                  </a:cubicBezTo>
                  <a:close/>
                </a:path>
              </a:pathLst>
            </a:custGeom>
            <a:blipFill>
              <a:blip r:embed="rId2"/>
              <a:stretch>
                <a:fillRect l="-202" t="0" r="-202" b="0"/>
              </a:stretch>
            </a:blipFill>
          </p:spPr>
        </p:sp>
      </p:grpSp>
      <p:grpSp>
        <p:nvGrpSpPr>
          <p:cNvPr name="Group 9" id="9"/>
          <p:cNvGrpSpPr/>
          <p:nvPr/>
        </p:nvGrpSpPr>
        <p:grpSpPr>
          <a:xfrm rot="0">
            <a:off x="666750" y="3657600"/>
            <a:ext cx="9763125" cy="5962650"/>
            <a:chOff x="0" y="0"/>
            <a:chExt cx="4083676" cy="2494030"/>
          </a:xfrm>
        </p:grpSpPr>
        <p:sp>
          <p:nvSpPr>
            <p:cNvPr name="Freeform 10" id="10"/>
            <p:cNvSpPr/>
            <p:nvPr/>
          </p:nvSpPr>
          <p:spPr>
            <a:xfrm flipH="false" flipV="false" rot="0">
              <a:off x="54483" y="50038"/>
              <a:ext cx="3974583" cy="2394589"/>
            </a:xfrm>
            <a:custGeom>
              <a:avLst/>
              <a:gdLst/>
              <a:ahLst/>
              <a:cxnLst/>
              <a:rect r="r" b="b" t="t" l="l"/>
              <a:pathLst>
                <a:path h="2394589" w="3974583">
                  <a:moveTo>
                    <a:pt x="3886953" y="2394589"/>
                  </a:moveTo>
                  <a:lnTo>
                    <a:pt x="87757" y="2394589"/>
                  </a:lnTo>
                  <a:cubicBezTo>
                    <a:pt x="39370" y="2394589"/>
                    <a:pt x="0" y="2355346"/>
                    <a:pt x="0" y="2306832"/>
                  </a:cubicBezTo>
                  <a:lnTo>
                    <a:pt x="0" y="87757"/>
                  </a:lnTo>
                  <a:cubicBezTo>
                    <a:pt x="0" y="39370"/>
                    <a:pt x="39243" y="0"/>
                    <a:pt x="87757" y="0"/>
                  </a:cubicBezTo>
                  <a:lnTo>
                    <a:pt x="3886826" y="0"/>
                  </a:lnTo>
                  <a:cubicBezTo>
                    <a:pt x="3935213" y="0"/>
                    <a:pt x="3974583" y="39243"/>
                    <a:pt x="3974583" y="87757"/>
                  </a:cubicBezTo>
                  <a:lnTo>
                    <a:pt x="3974583" y="2306832"/>
                  </a:lnTo>
                  <a:cubicBezTo>
                    <a:pt x="3974583" y="2355219"/>
                    <a:pt x="3935340" y="2394589"/>
                    <a:pt x="3886826" y="2394589"/>
                  </a:cubicBezTo>
                  <a:close/>
                </a:path>
              </a:pathLst>
            </a:custGeom>
            <a:blipFill>
              <a:blip r:embed="rId3"/>
              <a:stretch>
                <a:fillRect l="0" t="-209" r="0" b="-209"/>
              </a:stretch>
            </a:blipFill>
          </p:spPr>
        </p:sp>
        <p:sp>
          <p:nvSpPr>
            <p:cNvPr name="Freeform 11" id="11"/>
            <p:cNvSpPr/>
            <p:nvPr/>
          </p:nvSpPr>
          <p:spPr>
            <a:xfrm flipH="false" flipV="false" rot="0">
              <a:off x="0" y="0"/>
              <a:ext cx="4083549" cy="2493903"/>
            </a:xfrm>
            <a:custGeom>
              <a:avLst/>
              <a:gdLst/>
              <a:ahLst/>
              <a:cxnLst/>
              <a:rect r="r" b="b" t="t" l="l"/>
              <a:pathLst>
                <a:path h="2493903" w="4083549">
                  <a:moveTo>
                    <a:pt x="0" y="91567"/>
                  </a:moveTo>
                  <a:lnTo>
                    <a:pt x="0" y="2402337"/>
                  </a:lnTo>
                  <a:cubicBezTo>
                    <a:pt x="0" y="2452882"/>
                    <a:pt x="41021" y="2493903"/>
                    <a:pt x="91567" y="2493903"/>
                  </a:cubicBezTo>
                  <a:lnTo>
                    <a:pt x="3991982" y="2493903"/>
                  </a:lnTo>
                  <a:cubicBezTo>
                    <a:pt x="4042528" y="2493903"/>
                    <a:pt x="4083549" y="2452882"/>
                    <a:pt x="4083549" y="2402337"/>
                  </a:cubicBezTo>
                  <a:lnTo>
                    <a:pt x="4083549" y="91567"/>
                  </a:lnTo>
                  <a:cubicBezTo>
                    <a:pt x="4083549" y="41021"/>
                    <a:pt x="4042528" y="0"/>
                    <a:pt x="3991982" y="0"/>
                  </a:cubicBezTo>
                  <a:lnTo>
                    <a:pt x="91567" y="0"/>
                  </a:lnTo>
                  <a:cubicBezTo>
                    <a:pt x="41021" y="0"/>
                    <a:pt x="0" y="41021"/>
                    <a:pt x="0" y="91567"/>
                  </a:cubicBezTo>
                  <a:close/>
                  <a:moveTo>
                    <a:pt x="3241793" y="331724"/>
                  </a:moveTo>
                  <a:lnTo>
                    <a:pt x="3900923" y="331724"/>
                  </a:lnTo>
                  <a:cubicBezTo>
                    <a:pt x="3951469" y="331724"/>
                    <a:pt x="3992490" y="372745"/>
                    <a:pt x="3992490" y="423291"/>
                  </a:cubicBezTo>
                  <a:lnTo>
                    <a:pt x="3992490" y="2311277"/>
                  </a:lnTo>
                  <a:cubicBezTo>
                    <a:pt x="3992490" y="2361823"/>
                    <a:pt x="3951469" y="2402844"/>
                    <a:pt x="3900923" y="2402844"/>
                  </a:cubicBezTo>
                  <a:lnTo>
                    <a:pt x="182753" y="2402844"/>
                  </a:lnTo>
                  <a:cubicBezTo>
                    <a:pt x="132207" y="2402844"/>
                    <a:pt x="91186" y="2361823"/>
                    <a:pt x="91186" y="2311277"/>
                  </a:cubicBezTo>
                  <a:lnTo>
                    <a:pt x="91186" y="182753"/>
                  </a:lnTo>
                  <a:cubicBezTo>
                    <a:pt x="91186" y="132207"/>
                    <a:pt x="132207" y="91186"/>
                    <a:pt x="182753" y="91186"/>
                  </a:cubicBezTo>
                  <a:lnTo>
                    <a:pt x="2944740" y="91186"/>
                  </a:lnTo>
                  <a:cubicBezTo>
                    <a:pt x="2970775" y="91186"/>
                    <a:pt x="2995667" y="102235"/>
                    <a:pt x="3013066" y="121666"/>
                  </a:cubicBezTo>
                  <a:lnTo>
                    <a:pt x="3173721" y="301244"/>
                  </a:lnTo>
                  <a:cubicBezTo>
                    <a:pt x="3191120" y="320675"/>
                    <a:pt x="3215885" y="331724"/>
                    <a:pt x="3242047" y="331724"/>
                  </a:cubicBezTo>
                  <a:lnTo>
                    <a:pt x="3241793" y="331724"/>
                  </a:lnTo>
                  <a:close/>
                </a:path>
              </a:pathLst>
            </a:custGeom>
            <a:solidFill>
              <a:srgbClr val="D2D6F0"/>
            </a:solidFill>
          </p:spPr>
        </p:sp>
      </p:grpSp>
      <p:sp>
        <p:nvSpPr>
          <p:cNvPr name="Freeform 12" id="12"/>
          <p:cNvSpPr/>
          <p:nvPr/>
        </p:nvSpPr>
        <p:spPr>
          <a:xfrm flipH="false" flipV="false" rot="0">
            <a:off x="15220953" y="1376364"/>
            <a:ext cx="1266822" cy="1266822"/>
          </a:xfrm>
          <a:custGeom>
            <a:avLst/>
            <a:gdLst/>
            <a:ahLst/>
            <a:cxnLst/>
            <a:rect r="r" b="b" t="t" l="l"/>
            <a:pathLst>
              <a:path h="1266822" w="1266822">
                <a:moveTo>
                  <a:pt x="0" y="0"/>
                </a:moveTo>
                <a:lnTo>
                  <a:pt x="1266822" y="0"/>
                </a:lnTo>
                <a:lnTo>
                  <a:pt x="1266822" y="1266822"/>
                </a:lnTo>
                <a:lnTo>
                  <a:pt x="0" y="12668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320434" y="1570221"/>
            <a:ext cx="13424266" cy="1035051"/>
          </a:xfrm>
          <a:prstGeom prst="rect">
            <a:avLst/>
          </a:prstGeom>
        </p:spPr>
        <p:txBody>
          <a:bodyPr anchor="t" rtlCol="false" tIns="0" lIns="0" bIns="0" rIns="0">
            <a:spAutoFit/>
          </a:bodyPr>
          <a:lstStyle/>
          <a:p>
            <a:pPr algn="l" marL="0" indent="0" lvl="0">
              <a:lnSpc>
                <a:spcPts val="7600"/>
              </a:lnSpc>
            </a:pPr>
            <a:r>
              <a:rPr lang="en-US" b="true" sz="8000" spc="-440">
                <a:solidFill>
                  <a:srgbClr val="D2D6F0"/>
                </a:solidFill>
                <a:latin typeface="Work Sans Semi-Bold"/>
                <a:ea typeface="Work Sans Semi-Bold"/>
                <a:cs typeface="Work Sans Semi-Bold"/>
                <a:sym typeface="Work Sans Semi-Bold"/>
              </a:rPr>
              <a:t>MoodMate</a:t>
            </a:r>
          </a:p>
        </p:txBody>
      </p:sp>
      <p:grpSp>
        <p:nvGrpSpPr>
          <p:cNvPr name="Group 14" id="14"/>
          <p:cNvGrpSpPr/>
          <p:nvPr/>
        </p:nvGrpSpPr>
        <p:grpSpPr>
          <a:xfrm rot="0">
            <a:off x="11388359" y="8185437"/>
            <a:ext cx="5603210" cy="964648"/>
            <a:chOff x="0" y="0"/>
            <a:chExt cx="7470947" cy="1286197"/>
          </a:xfrm>
        </p:grpSpPr>
        <p:sp>
          <p:nvSpPr>
            <p:cNvPr name="TextBox 15" id="15"/>
            <p:cNvSpPr txBox="true"/>
            <p:nvPr/>
          </p:nvSpPr>
          <p:spPr>
            <a:xfrm rot="0">
              <a:off x="0" y="-38100"/>
              <a:ext cx="7470947" cy="624205"/>
            </a:xfrm>
            <a:prstGeom prst="rect">
              <a:avLst/>
            </a:prstGeom>
          </p:spPr>
          <p:txBody>
            <a:bodyPr anchor="t" rtlCol="false" tIns="0" lIns="0" bIns="0" rIns="0">
              <a:spAutoFit/>
            </a:bodyPr>
            <a:lstStyle/>
            <a:p>
              <a:pPr algn="l" marL="0" indent="0" lvl="0">
                <a:lnSpc>
                  <a:spcPts val="3753"/>
                </a:lnSpc>
              </a:pPr>
              <a:r>
                <a:rPr lang="en-US" b="true" sz="2887" spc="-158">
                  <a:solidFill>
                    <a:srgbClr val="D2D6F0"/>
                  </a:solidFill>
                  <a:latin typeface="Work Sans Semi-Bold"/>
                  <a:ea typeface="Work Sans Semi-Bold"/>
                  <a:cs typeface="Work Sans Semi-Bold"/>
                  <a:sym typeface="Work Sans Semi-Bold"/>
                </a:rPr>
                <a:t>Presented by</a:t>
              </a:r>
            </a:p>
          </p:txBody>
        </p:sp>
        <p:sp>
          <p:nvSpPr>
            <p:cNvPr name="TextBox 16" id="16"/>
            <p:cNvSpPr txBox="true"/>
            <p:nvPr/>
          </p:nvSpPr>
          <p:spPr>
            <a:xfrm rot="0">
              <a:off x="0" y="661992"/>
              <a:ext cx="7470947" cy="624205"/>
            </a:xfrm>
            <a:prstGeom prst="rect">
              <a:avLst/>
            </a:prstGeom>
          </p:spPr>
          <p:txBody>
            <a:bodyPr anchor="t" rtlCol="false" tIns="0" lIns="0" bIns="0" rIns="0">
              <a:spAutoFit/>
            </a:bodyPr>
            <a:lstStyle/>
            <a:p>
              <a:pPr algn="l" marL="0" indent="0" lvl="0">
                <a:lnSpc>
                  <a:spcPts val="3753"/>
                </a:lnSpc>
              </a:pPr>
              <a:r>
                <a:rPr lang="en-US" sz="2887" spc="-158">
                  <a:solidFill>
                    <a:srgbClr val="D2D6F0"/>
                  </a:solidFill>
                  <a:latin typeface="Work Sans"/>
                  <a:ea typeface="Work Sans"/>
                  <a:cs typeface="Work Sans"/>
                  <a:sym typeface="Work Sans"/>
                </a:rPr>
                <a:t>Veda Priya Mutyam</a:t>
              </a:r>
            </a:p>
          </p:txBody>
        </p:sp>
      </p:grpSp>
      <p:sp>
        <p:nvSpPr>
          <p:cNvPr name="TextBox 17" id="17"/>
          <p:cNvSpPr txBox="true"/>
          <p:nvPr/>
        </p:nvSpPr>
        <p:spPr>
          <a:xfrm rot="0">
            <a:off x="4284485" y="2596323"/>
            <a:ext cx="9677881" cy="404052"/>
          </a:xfrm>
          <a:prstGeom prst="rect">
            <a:avLst/>
          </a:prstGeom>
        </p:spPr>
        <p:txBody>
          <a:bodyPr anchor="t" rtlCol="false" tIns="0" lIns="0" bIns="0" rIns="0">
            <a:spAutoFit/>
          </a:bodyPr>
          <a:lstStyle/>
          <a:p>
            <a:pPr algn="l" marL="0" indent="0" lvl="0">
              <a:lnSpc>
                <a:spcPts val="2969"/>
              </a:lnSpc>
            </a:pPr>
            <a:r>
              <a:rPr lang="en-US" b="true" sz="3126" spc="-171">
                <a:solidFill>
                  <a:srgbClr val="D2D6F0"/>
                </a:solidFill>
                <a:latin typeface="Work Sans Semi-Bold"/>
                <a:ea typeface="Work Sans Semi-Bold"/>
                <a:cs typeface="Work Sans Semi-Bold"/>
                <a:sym typeface="Work Sans Semi-Bold"/>
              </a:rPr>
              <a:t>-AI that understands em</a:t>
            </a:r>
            <a:r>
              <a:rPr lang="en-US" b="true" sz="3126" spc="-171">
                <a:solidFill>
                  <a:srgbClr val="D2D6F0"/>
                </a:solidFill>
                <a:latin typeface="Work Sans Semi-Bold"/>
                <a:ea typeface="Work Sans Semi-Bold"/>
                <a:cs typeface="Work Sans Semi-Bold"/>
                <a:sym typeface="Work Sans Semi-Bold"/>
              </a:rPr>
              <a:t>otions &amp; plays your vibe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71B4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7A6FB3"/>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D2D6F0"/>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9881936" y="1190507"/>
            <a:ext cx="7153778" cy="7905985"/>
            <a:chOff x="0" y="0"/>
            <a:chExt cx="1935901" cy="2139458"/>
          </a:xfrm>
        </p:grpSpPr>
        <p:sp>
          <p:nvSpPr>
            <p:cNvPr name="Freeform 8" id="8"/>
            <p:cNvSpPr/>
            <p:nvPr/>
          </p:nvSpPr>
          <p:spPr>
            <a:xfrm flipH="false" flipV="false" rot="0">
              <a:off x="0" y="0"/>
              <a:ext cx="1935903" cy="2139471"/>
            </a:xfrm>
            <a:custGeom>
              <a:avLst/>
              <a:gdLst/>
              <a:ahLst/>
              <a:cxnLst/>
              <a:rect r="r" b="b" t="t" l="l"/>
              <a:pathLst>
                <a:path h="2139471" w="1935903">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0" t="-130" r="0" b="-130"/>
              </a:stretch>
            </a:blipFill>
          </p:spPr>
        </p:sp>
      </p:grpSp>
      <p:grpSp>
        <p:nvGrpSpPr>
          <p:cNvPr name="Group 9" id="9"/>
          <p:cNvGrpSpPr/>
          <p:nvPr/>
        </p:nvGrpSpPr>
        <p:grpSpPr>
          <a:xfrm rot="0">
            <a:off x="2105025" y="1562100"/>
            <a:ext cx="5448300" cy="4583538"/>
            <a:chOff x="0" y="0"/>
            <a:chExt cx="7264400" cy="6111384"/>
          </a:xfrm>
        </p:grpSpPr>
        <p:sp>
          <p:nvSpPr>
            <p:cNvPr name="TextBox 10" id="10"/>
            <p:cNvSpPr txBox="true"/>
            <p:nvPr/>
          </p:nvSpPr>
          <p:spPr>
            <a:xfrm rot="0">
              <a:off x="50129" y="4746769"/>
              <a:ext cx="7214271" cy="1364615"/>
            </a:xfrm>
            <a:prstGeom prst="rect">
              <a:avLst/>
            </a:prstGeom>
          </p:spPr>
          <p:txBody>
            <a:bodyPr anchor="t" rtlCol="false" tIns="0" lIns="0" bIns="0" rIns="0">
              <a:spAutoFit/>
            </a:bodyPr>
            <a:lstStyle/>
            <a:p>
              <a:pPr algn="l" marL="0" indent="0" lvl="0">
                <a:lnSpc>
                  <a:spcPts val="2730"/>
                </a:lnSpc>
              </a:pPr>
              <a:r>
                <a:rPr lang="en-US" sz="2100" spc="-115">
                  <a:solidFill>
                    <a:srgbClr val="D2D6F0"/>
                  </a:solidFill>
                  <a:latin typeface="Work Sans"/>
                  <a:ea typeface="Work Sans"/>
                  <a:cs typeface="Work Sans"/>
                  <a:sym typeface="Work Sans"/>
                </a:rPr>
                <a:t>Users struggle to find music that matches their emotions, as current systems require manual searching.</a:t>
              </a:r>
            </a:p>
          </p:txBody>
        </p:sp>
        <p:sp>
          <p:nvSpPr>
            <p:cNvPr name="TextBox 11" id="11"/>
            <p:cNvSpPr txBox="true"/>
            <p:nvPr/>
          </p:nvSpPr>
          <p:spPr>
            <a:xfrm rot="0">
              <a:off x="0" y="133350"/>
              <a:ext cx="7264400" cy="24659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D2D6F0"/>
                  </a:solidFill>
                  <a:latin typeface="Work Sans Semi-Bold"/>
                  <a:ea typeface="Work Sans Semi-Bold"/>
                  <a:cs typeface="Work Sans Semi-Bold"/>
                  <a:sym typeface="Work Sans Semi-Bold"/>
                </a:rPr>
                <a:t>Problem Statement</a:t>
              </a:r>
            </a:p>
          </p:txBody>
        </p:sp>
        <p:sp>
          <p:nvSpPr>
            <p:cNvPr name="TextBox 12" id="12"/>
            <p:cNvSpPr txBox="true"/>
            <p:nvPr/>
          </p:nvSpPr>
          <p:spPr>
            <a:xfrm rot="0">
              <a:off x="0" y="2919027"/>
              <a:ext cx="7264400" cy="1238250"/>
            </a:xfrm>
            <a:prstGeom prst="rect">
              <a:avLst/>
            </a:prstGeom>
          </p:spPr>
          <p:txBody>
            <a:bodyPr anchor="t" rtlCol="false" tIns="0" lIns="0" bIns="0" rIns="0">
              <a:spAutoFit/>
            </a:bodyPr>
            <a:lstStyle/>
            <a:p>
              <a:pPr algn="l" marL="0" indent="0" lvl="0">
                <a:lnSpc>
                  <a:spcPts val="3600"/>
                </a:lnSpc>
                <a:spcBef>
                  <a:spcPct val="0"/>
                </a:spcBef>
              </a:pPr>
              <a:r>
                <a:rPr lang="en-US" sz="3000" spc="-165" strike="noStrike" u="none">
                  <a:solidFill>
                    <a:srgbClr val="D2D6F0"/>
                  </a:solidFill>
                  <a:latin typeface="Work Sans"/>
                  <a:ea typeface="Work Sans"/>
                  <a:cs typeface="Work Sans"/>
                  <a:sym typeface="Work Sans"/>
                </a:rPr>
                <a:t>Challenges in music selection today</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71B4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7A6FB3"/>
            </a:solidFill>
            <a:ln w="12700">
              <a:solidFill>
                <a:srgbClr val="000000"/>
              </a:solidFill>
            </a:ln>
          </p:spPr>
        </p:sp>
      </p:grpSp>
      <p:grpSp>
        <p:nvGrpSpPr>
          <p:cNvPr name="Group 4" id="4"/>
          <p:cNvGrpSpPr/>
          <p:nvPr/>
        </p:nvGrpSpPr>
        <p:grpSpPr>
          <a:xfrm rot="0">
            <a:off x="8991600" y="666750"/>
            <a:ext cx="8324850" cy="8953500"/>
            <a:chOff x="0" y="0"/>
            <a:chExt cx="2448748" cy="2633665"/>
          </a:xfrm>
        </p:grpSpPr>
        <p:sp>
          <p:nvSpPr>
            <p:cNvPr name="Freeform 5" id="5"/>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blipFill>
              <a:blip r:embed="rId2"/>
              <a:stretch>
                <a:fillRect l="0" t="-9793" r="0" b="-9793"/>
              </a:stretch>
            </a:blipFill>
          </p:spPr>
        </p:sp>
      </p:grpSp>
      <p:grpSp>
        <p:nvGrpSpPr>
          <p:cNvPr name="Group 6" id="6"/>
          <p:cNvGrpSpPr/>
          <p:nvPr/>
        </p:nvGrpSpPr>
        <p:grpSpPr>
          <a:xfrm rot="0">
            <a:off x="1707662" y="1258996"/>
            <a:ext cx="5448300" cy="5840838"/>
            <a:chOff x="0" y="0"/>
            <a:chExt cx="7264400" cy="7787784"/>
          </a:xfrm>
        </p:grpSpPr>
        <p:sp>
          <p:nvSpPr>
            <p:cNvPr name="TextBox 7" id="7"/>
            <p:cNvSpPr txBox="true"/>
            <p:nvPr/>
          </p:nvSpPr>
          <p:spPr>
            <a:xfrm rot="0">
              <a:off x="50129" y="4137169"/>
              <a:ext cx="7214271" cy="3650615"/>
            </a:xfrm>
            <a:prstGeom prst="rect">
              <a:avLst/>
            </a:prstGeom>
          </p:spPr>
          <p:txBody>
            <a:bodyPr anchor="t" rtlCol="false" tIns="0" lIns="0" bIns="0" rIns="0">
              <a:spAutoFit/>
            </a:bodyPr>
            <a:lstStyle/>
            <a:p>
              <a:pPr algn="just" marL="0" indent="0" lvl="0">
                <a:lnSpc>
                  <a:spcPts val="2730"/>
                </a:lnSpc>
              </a:pPr>
              <a:r>
                <a:rPr lang="en-US" sz="2100" spc="-115">
                  <a:solidFill>
                    <a:srgbClr val="D2D6F0"/>
                  </a:solidFill>
                  <a:latin typeface="Work Sans"/>
                  <a:ea typeface="Work Sans"/>
                  <a:cs typeface="Work Sans"/>
                  <a:sym typeface="Work Sans"/>
                </a:rPr>
                <a:t>The main objective of this project is to develop an intelligent music recommendation system that understands a user’s emotional state and suggests suitable music accordingly. The system aims to detect emotions through multiple input methods such as text, images, and webcam, and reduce the effort of manually searching for mood-matching songs.</a:t>
              </a:r>
            </a:p>
          </p:txBody>
        </p:sp>
        <p:sp>
          <p:nvSpPr>
            <p:cNvPr name="TextBox 8" id="8"/>
            <p:cNvSpPr txBox="true"/>
            <p:nvPr/>
          </p:nvSpPr>
          <p:spPr>
            <a:xfrm rot="0">
              <a:off x="0" y="133350"/>
              <a:ext cx="7264400" cy="2465917"/>
            </a:xfrm>
            <a:prstGeom prst="rect">
              <a:avLst/>
            </a:prstGeom>
          </p:spPr>
          <p:txBody>
            <a:bodyPr anchor="t" rtlCol="false" tIns="0" lIns="0" bIns="0" rIns="0">
              <a:spAutoFit/>
            </a:bodyPr>
            <a:lstStyle/>
            <a:p>
              <a:pPr algn="l" marL="0" indent="0" lvl="0">
                <a:lnSpc>
                  <a:spcPts val="6999"/>
                </a:lnSpc>
              </a:pPr>
              <a:r>
                <a:rPr lang="en-US" b="true" sz="6999" spc="-384">
                  <a:solidFill>
                    <a:srgbClr val="D2D6F0"/>
                  </a:solidFill>
                  <a:latin typeface="Work Sans Semi-Bold"/>
                  <a:ea typeface="Work Sans Semi-Bold"/>
                  <a:cs typeface="Work Sans Semi-Bold"/>
                  <a:sym typeface="Work Sans Semi-Bold"/>
                </a:rPr>
                <a:t>Project Overview </a:t>
              </a:r>
            </a:p>
          </p:txBody>
        </p:sp>
        <p:sp>
          <p:nvSpPr>
            <p:cNvPr name="TextBox 9" id="9"/>
            <p:cNvSpPr txBox="true"/>
            <p:nvPr/>
          </p:nvSpPr>
          <p:spPr>
            <a:xfrm rot="0">
              <a:off x="0" y="2931727"/>
              <a:ext cx="7264400" cy="628650"/>
            </a:xfrm>
            <a:prstGeom prst="rect">
              <a:avLst/>
            </a:prstGeom>
          </p:spPr>
          <p:txBody>
            <a:bodyPr anchor="t" rtlCol="false" tIns="0" lIns="0" bIns="0" rIns="0">
              <a:spAutoFit/>
            </a:bodyPr>
            <a:lstStyle/>
            <a:p>
              <a:pPr algn="l" marL="0" indent="0" lvl="0">
                <a:lnSpc>
                  <a:spcPts val="3600"/>
                </a:lnSpc>
                <a:spcBef>
                  <a:spcPct val="0"/>
                </a:spcBef>
              </a:pPr>
              <a:r>
                <a:rPr lang="en-US" sz="3000" spc="-165">
                  <a:solidFill>
                    <a:srgbClr val="D2D6F0"/>
                  </a:solidFill>
                  <a:latin typeface="Work Sans"/>
                  <a:ea typeface="Work Sans"/>
                  <a:cs typeface="Work Sans"/>
                  <a:sym typeface="Work Sans"/>
                </a:rPr>
                <a:t>Objective:</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71B4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7A6FB3"/>
            </a:solidFill>
            <a:ln w="12700">
              <a:solidFill>
                <a:srgbClr val="000000"/>
              </a:solidFill>
            </a:ln>
          </p:spPr>
        </p:sp>
      </p:grpSp>
      <p:sp>
        <p:nvSpPr>
          <p:cNvPr name="Freeform 4" id="4"/>
          <p:cNvSpPr/>
          <p:nvPr/>
        </p:nvSpPr>
        <p:spPr>
          <a:xfrm flipH="false" flipV="false" rot="0">
            <a:off x="14645703" y="1181100"/>
            <a:ext cx="1266822" cy="1266822"/>
          </a:xfrm>
          <a:custGeom>
            <a:avLst/>
            <a:gdLst/>
            <a:ahLst/>
            <a:cxnLst/>
            <a:rect r="r" b="b" t="t" l="l"/>
            <a:pathLst>
              <a:path h="1266822" w="1266822">
                <a:moveTo>
                  <a:pt x="0" y="0"/>
                </a:moveTo>
                <a:lnTo>
                  <a:pt x="1266822" y="0"/>
                </a:lnTo>
                <a:lnTo>
                  <a:pt x="1266822" y="1266822"/>
                </a:lnTo>
                <a:lnTo>
                  <a:pt x="0" y="12668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629400" y="1304548"/>
            <a:ext cx="1266822" cy="1266822"/>
          </a:xfrm>
          <a:custGeom>
            <a:avLst/>
            <a:gdLst/>
            <a:ahLst/>
            <a:cxnLst/>
            <a:rect r="r" b="b" t="t" l="l"/>
            <a:pathLst>
              <a:path h="1266822" w="1266822">
                <a:moveTo>
                  <a:pt x="0" y="0"/>
                </a:moveTo>
                <a:lnTo>
                  <a:pt x="1266822" y="0"/>
                </a:lnTo>
                <a:lnTo>
                  <a:pt x="1266822" y="1266822"/>
                </a:lnTo>
                <a:lnTo>
                  <a:pt x="0" y="12668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028700" y="1304548"/>
            <a:ext cx="5448300" cy="3440538"/>
            <a:chOff x="0" y="0"/>
            <a:chExt cx="7264400" cy="4587384"/>
          </a:xfrm>
        </p:grpSpPr>
        <p:sp>
          <p:nvSpPr>
            <p:cNvPr name="TextBox 7" id="7"/>
            <p:cNvSpPr txBox="true"/>
            <p:nvPr/>
          </p:nvSpPr>
          <p:spPr>
            <a:xfrm rot="0">
              <a:off x="50129" y="4137169"/>
              <a:ext cx="7214271" cy="450215"/>
            </a:xfrm>
            <a:prstGeom prst="rect">
              <a:avLst/>
            </a:prstGeom>
          </p:spPr>
          <p:txBody>
            <a:bodyPr anchor="t" rtlCol="false" tIns="0" lIns="0" bIns="0" rIns="0">
              <a:spAutoFit/>
            </a:bodyPr>
            <a:lstStyle/>
            <a:p>
              <a:pPr algn="just" marL="0" indent="0" lvl="0">
                <a:lnSpc>
                  <a:spcPts val="2730"/>
                </a:lnSpc>
              </a:pPr>
            </a:p>
          </p:txBody>
        </p:sp>
        <p:sp>
          <p:nvSpPr>
            <p:cNvPr name="TextBox 8" id="8"/>
            <p:cNvSpPr txBox="true"/>
            <p:nvPr/>
          </p:nvSpPr>
          <p:spPr>
            <a:xfrm rot="0">
              <a:off x="0" y="133350"/>
              <a:ext cx="7264400" cy="2465917"/>
            </a:xfrm>
            <a:prstGeom prst="rect">
              <a:avLst/>
            </a:prstGeom>
          </p:spPr>
          <p:txBody>
            <a:bodyPr anchor="t" rtlCol="false" tIns="0" lIns="0" bIns="0" rIns="0">
              <a:spAutoFit/>
            </a:bodyPr>
            <a:lstStyle/>
            <a:p>
              <a:pPr algn="l" marL="0" indent="0" lvl="0">
                <a:lnSpc>
                  <a:spcPts val="6999"/>
                </a:lnSpc>
              </a:pPr>
              <a:r>
                <a:rPr lang="en-US" b="true" sz="6999" spc="-384">
                  <a:solidFill>
                    <a:srgbClr val="D2D6F0"/>
                  </a:solidFill>
                  <a:latin typeface="Work Sans Semi-Bold"/>
                  <a:ea typeface="Work Sans Semi-Bold"/>
                  <a:cs typeface="Work Sans Semi-Bold"/>
                  <a:sym typeface="Work Sans Semi-Bold"/>
                </a:rPr>
                <a:t>Project Overview </a:t>
              </a:r>
            </a:p>
          </p:txBody>
        </p:sp>
      </p:grpSp>
      <p:grpSp>
        <p:nvGrpSpPr>
          <p:cNvPr name="Group 9" id="9"/>
          <p:cNvGrpSpPr/>
          <p:nvPr/>
        </p:nvGrpSpPr>
        <p:grpSpPr>
          <a:xfrm rot="0">
            <a:off x="1181100" y="3401982"/>
            <a:ext cx="5448300" cy="5437506"/>
            <a:chOff x="0" y="0"/>
            <a:chExt cx="7264400" cy="7250008"/>
          </a:xfrm>
        </p:grpSpPr>
        <p:sp>
          <p:nvSpPr>
            <p:cNvPr name="TextBox 10" id="10"/>
            <p:cNvSpPr txBox="true"/>
            <p:nvPr/>
          </p:nvSpPr>
          <p:spPr>
            <a:xfrm rot="0">
              <a:off x="50129" y="6799793"/>
              <a:ext cx="7214271" cy="450215"/>
            </a:xfrm>
            <a:prstGeom prst="rect">
              <a:avLst/>
            </a:prstGeom>
          </p:spPr>
          <p:txBody>
            <a:bodyPr anchor="t" rtlCol="false" tIns="0" lIns="0" bIns="0" rIns="0">
              <a:spAutoFit/>
            </a:bodyPr>
            <a:lstStyle/>
            <a:p>
              <a:pPr algn="just" marL="0" indent="0" lvl="0">
                <a:lnSpc>
                  <a:spcPts val="2730"/>
                </a:lnSpc>
              </a:pPr>
            </a:p>
          </p:txBody>
        </p:sp>
        <p:sp>
          <p:nvSpPr>
            <p:cNvPr name="TextBox 11" id="11"/>
            <p:cNvSpPr txBox="true"/>
            <p:nvPr/>
          </p:nvSpPr>
          <p:spPr>
            <a:xfrm rot="0">
              <a:off x="0" y="-9525"/>
              <a:ext cx="7264400" cy="6232525"/>
            </a:xfrm>
            <a:prstGeom prst="rect">
              <a:avLst/>
            </a:prstGeom>
          </p:spPr>
          <p:txBody>
            <a:bodyPr anchor="t" rtlCol="false" tIns="0" lIns="0" bIns="0" rIns="0">
              <a:spAutoFit/>
            </a:bodyPr>
            <a:lstStyle/>
            <a:p>
              <a:pPr algn="l">
                <a:lnSpc>
                  <a:spcPts val="2640"/>
                </a:lnSpc>
              </a:pPr>
              <a:r>
                <a:rPr lang="en-US" sz="2200" spc="-121">
                  <a:solidFill>
                    <a:srgbClr val="D2D6F0"/>
                  </a:solidFill>
                  <a:latin typeface="Work Sans"/>
                  <a:ea typeface="Work Sans"/>
                  <a:cs typeface="Work Sans"/>
                  <a:sym typeface="Work Sans"/>
                </a:rPr>
                <a:t>Outcomes: </a:t>
              </a:r>
            </a:p>
            <a:p>
              <a:pPr algn="l">
                <a:lnSpc>
                  <a:spcPts val="2640"/>
                </a:lnSpc>
              </a:pPr>
              <a:r>
                <a:rPr lang="en-US" sz="2200" spc="-121">
                  <a:solidFill>
                    <a:srgbClr val="D2D6F0"/>
                  </a:solidFill>
                  <a:latin typeface="Work Sans"/>
                  <a:ea typeface="Work Sans"/>
                  <a:cs typeface="Work Sans"/>
                  <a:sym typeface="Work Sans"/>
                </a:rPr>
                <a:t>• Successfully detects user emotions using AI models from text, facial images, and webcam input.</a:t>
              </a:r>
            </a:p>
            <a:p>
              <a:pPr algn="l">
                <a:lnSpc>
                  <a:spcPts val="2640"/>
                </a:lnSpc>
              </a:pPr>
              <a:r>
                <a:rPr lang="en-US" sz="2200" spc="-121">
                  <a:solidFill>
                    <a:srgbClr val="D2D6F0"/>
                  </a:solidFill>
                  <a:latin typeface="Work Sans"/>
                  <a:ea typeface="Work Sans"/>
                  <a:cs typeface="Work Sans"/>
                  <a:sym typeface="Work Sans"/>
                </a:rPr>
                <a:t> • Recommends personalized music based on the detected emotion.</a:t>
              </a:r>
            </a:p>
            <a:p>
              <a:pPr algn="l">
                <a:lnSpc>
                  <a:spcPts val="2640"/>
                </a:lnSpc>
              </a:pPr>
              <a:r>
                <a:rPr lang="en-US" sz="2200" spc="-121">
                  <a:solidFill>
                    <a:srgbClr val="D2D6F0"/>
                  </a:solidFill>
                  <a:latin typeface="Work Sans"/>
                  <a:ea typeface="Work Sans"/>
                  <a:cs typeface="Work Sans"/>
                  <a:sym typeface="Work Sans"/>
                </a:rPr>
                <a:t> • Provides direct access to songs through Spotify links for easy listening.</a:t>
              </a:r>
            </a:p>
            <a:p>
              <a:pPr algn="l">
                <a:lnSpc>
                  <a:spcPts val="2640"/>
                </a:lnSpc>
              </a:pPr>
              <a:r>
                <a:rPr lang="en-US" sz="2200" spc="-121">
                  <a:solidFill>
                    <a:srgbClr val="D2D6F0"/>
                  </a:solidFill>
                  <a:latin typeface="Work Sans"/>
                  <a:ea typeface="Work Sans"/>
                  <a:cs typeface="Work Sans"/>
                  <a:sym typeface="Work Sans"/>
                </a:rPr>
                <a:t> • Enhances user experience by offering emotion-aware, real-time music recommendations.</a:t>
              </a:r>
            </a:p>
            <a:p>
              <a:pPr algn="l" marL="0" indent="0" lvl="0">
                <a:lnSpc>
                  <a:spcPts val="2640"/>
                </a:lnSpc>
                <a:spcBef>
                  <a:spcPct val="0"/>
                </a:spcBef>
              </a:pPr>
              <a:r>
                <a:rPr lang="en-US" sz="2200" spc="-121">
                  <a:solidFill>
                    <a:srgbClr val="D2D6F0"/>
                  </a:solidFill>
                  <a:latin typeface="Work Sans"/>
                  <a:ea typeface="Work Sans"/>
                  <a:cs typeface="Work Sans"/>
                  <a:sym typeface="Work Sans"/>
                </a:rPr>
                <a:t> • Demonstrates the practical application of AI techniques in emotion recognition and recommendation systems.</a:t>
              </a:r>
            </a:p>
          </p:txBody>
        </p:sp>
      </p:grpSp>
      <p:grpSp>
        <p:nvGrpSpPr>
          <p:cNvPr name="Group 12" id="12"/>
          <p:cNvGrpSpPr/>
          <p:nvPr/>
        </p:nvGrpSpPr>
        <p:grpSpPr>
          <a:xfrm rot="0">
            <a:off x="10170842" y="1028700"/>
            <a:ext cx="6702318" cy="8344608"/>
            <a:chOff x="0" y="0"/>
            <a:chExt cx="1114132" cy="1387131"/>
          </a:xfrm>
        </p:grpSpPr>
        <p:sp>
          <p:nvSpPr>
            <p:cNvPr name="Freeform 13" id="13"/>
            <p:cNvSpPr/>
            <p:nvPr/>
          </p:nvSpPr>
          <p:spPr>
            <a:xfrm flipH="false" flipV="false" rot="0">
              <a:off x="0" y="0"/>
              <a:ext cx="1114132" cy="1387131"/>
            </a:xfrm>
            <a:custGeom>
              <a:avLst/>
              <a:gdLst/>
              <a:ahLst/>
              <a:cxnLst/>
              <a:rect r="r" b="b" t="t" l="l"/>
              <a:pathLst>
                <a:path h="1387131" w="1114132">
                  <a:moveTo>
                    <a:pt x="46204" y="0"/>
                  </a:moveTo>
                  <a:lnTo>
                    <a:pt x="1067928" y="0"/>
                  </a:lnTo>
                  <a:cubicBezTo>
                    <a:pt x="1080182" y="0"/>
                    <a:pt x="1091934" y="4868"/>
                    <a:pt x="1100599" y="13533"/>
                  </a:cubicBezTo>
                  <a:cubicBezTo>
                    <a:pt x="1109264" y="22198"/>
                    <a:pt x="1114132" y="33950"/>
                    <a:pt x="1114132" y="46204"/>
                  </a:cubicBezTo>
                  <a:lnTo>
                    <a:pt x="1114132" y="1340927"/>
                  </a:lnTo>
                  <a:cubicBezTo>
                    <a:pt x="1114132" y="1353181"/>
                    <a:pt x="1109264" y="1364933"/>
                    <a:pt x="1100599" y="1373598"/>
                  </a:cubicBezTo>
                  <a:cubicBezTo>
                    <a:pt x="1091934" y="1382263"/>
                    <a:pt x="1080182" y="1387131"/>
                    <a:pt x="1067928" y="1387131"/>
                  </a:cubicBezTo>
                  <a:lnTo>
                    <a:pt x="46204" y="1387131"/>
                  </a:lnTo>
                  <a:cubicBezTo>
                    <a:pt x="20686" y="1387131"/>
                    <a:pt x="0" y="1366445"/>
                    <a:pt x="0" y="1340927"/>
                  </a:cubicBezTo>
                  <a:lnTo>
                    <a:pt x="0" y="46204"/>
                  </a:lnTo>
                  <a:cubicBezTo>
                    <a:pt x="0" y="33950"/>
                    <a:pt x="4868" y="22198"/>
                    <a:pt x="13533" y="13533"/>
                  </a:cubicBezTo>
                  <a:cubicBezTo>
                    <a:pt x="22198" y="4868"/>
                    <a:pt x="33950" y="0"/>
                    <a:pt x="46204" y="0"/>
                  </a:cubicBezTo>
                  <a:close/>
                </a:path>
              </a:pathLst>
            </a:custGeom>
            <a:blipFill>
              <a:blip r:embed="rId4"/>
              <a:stretch>
                <a:fillRect l="0" t="-199" r="0" b="-199"/>
              </a:stretch>
            </a:blipFill>
            <a:ln w="28575" cap="rnd">
              <a:solidFill>
                <a:srgbClr val="FFFFFF"/>
              </a:solidFill>
              <a:prstDash val="solid"/>
              <a:round/>
            </a:ln>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71B4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2686050"/>
            <a:chOff x="0" y="0"/>
            <a:chExt cx="4987154" cy="790100"/>
          </a:xfrm>
        </p:grpSpPr>
        <p:sp>
          <p:nvSpPr>
            <p:cNvPr name="Freeform 3" id="3"/>
            <p:cNvSpPr/>
            <p:nvPr/>
          </p:nvSpPr>
          <p:spPr>
            <a:xfrm flipH="false" flipV="false" rot="0">
              <a:off x="0" y="0"/>
              <a:ext cx="4987156" cy="790100"/>
            </a:xfrm>
            <a:custGeom>
              <a:avLst/>
              <a:gdLst/>
              <a:ahLst/>
              <a:cxnLst/>
              <a:rect r="r" b="b" t="t" l="l"/>
              <a:pathLst>
                <a:path h="790100" w="4987156">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7A6FB3"/>
            </a:solidFill>
            <a:ln w="12700">
              <a:solidFill>
                <a:srgbClr val="000000"/>
              </a:solidFill>
            </a:ln>
          </p:spPr>
        </p:sp>
      </p:grpSp>
      <p:grpSp>
        <p:nvGrpSpPr>
          <p:cNvPr name="Group 4" id="4"/>
          <p:cNvGrpSpPr/>
          <p:nvPr/>
        </p:nvGrpSpPr>
        <p:grpSpPr>
          <a:xfrm rot="0">
            <a:off x="9296324" y="3729038"/>
            <a:ext cx="8020126" cy="2828925"/>
            <a:chOff x="0" y="0"/>
            <a:chExt cx="2112297" cy="745067"/>
          </a:xfrm>
        </p:grpSpPr>
        <p:sp>
          <p:nvSpPr>
            <p:cNvPr name="Freeform 5" id="5"/>
            <p:cNvSpPr/>
            <p:nvPr/>
          </p:nvSpPr>
          <p:spPr>
            <a:xfrm flipH="false" flipV="false" rot="0">
              <a:off x="0" y="0"/>
              <a:ext cx="2112297" cy="745067"/>
            </a:xfrm>
            <a:custGeom>
              <a:avLst/>
              <a:gdLst/>
              <a:ahLst/>
              <a:cxnLst/>
              <a:rect r="r" b="b" t="t" l="l"/>
              <a:pathLst>
                <a:path h="745067" w="2112297">
                  <a:moveTo>
                    <a:pt x="38612" y="0"/>
                  </a:moveTo>
                  <a:lnTo>
                    <a:pt x="2073684" y="0"/>
                  </a:lnTo>
                  <a:cubicBezTo>
                    <a:pt x="2095009" y="0"/>
                    <a:pt x="2112297" y="17287"/>
                    <a:pt x="2112297" y="38612"/>
                  </a:cubicBezTo>
                  <a:lnTo>
                    <a:pt x="2112297" y="706454"/>
                  </a:lnTo>
                  <a:cubicBezTo>
                    <a:pt x="2112297" y="716695"/>
                    <a:pt x="2108228" y="726516"/>
                    <a:pt x="2100987" y="733757"/>
                  </a:cubicBezTo>
                  <a:cubicBezTo>
                    <a:pt x="2093746" y="740999"/>
                    <a:pt x="2083925" y="745067"/>
                    <a:pt x="2073684" y="745067"/>
                  </a:cubicBezTo>
                  <a:lnTo>
                    <a:pt x="38612" y="745067"/>
                  </a:lnTo>
                  <a:cubicBezTo>
                    <a:pt x="17287" y="745067"/>
                    <a:pt x="0" y="727779"/>
                    <a:pt x="0" y="706454"/>
                  </a:cubicBezTo>
                  <a:lnTo>
                    <a:pt x="0" y="38612"/>
                  </a:lnTo>
                  <a:cubicBezTo>
                    <a:pt x="0" y="17287"/>
                    <a:pt x="17287" y="0"/>
                    <a:pt x="38612" y="0"/>
                  </a:cubicBezTo>
                  <a:close/>
                </a:path>
              </a:pathLst>
            </a:custGeom>
            <a:solidFill>
              <a:srgbClr val="7A6FB3"/>
            </a:solidFill>
          </p:spPr>
        </p:sp>
        <p:sp>
          <p:nvSpPr>
            <p:cNvPr name="TextBox 6" id="6"/>
            <p:cNvSpPr txBox="true"/>
            <p:nvPr/>
          </p:nvSpPr>
          <p:spPr>
            <a:xfrm>
              <a:off x="0" y="-57150"/>
              <a:ext cx="2112297" cy="802217"/>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666750" y="3657600"/>
            <a:ext cx="7725302" cy="2900362"/>
            <a:chOff x="0" y="0"/>
            <a:chExt cx="2034647" cy="763881"/>
          </a:xfrm>
        </p:grpSpPr>
        <p:sp>
          <p:nvSpPr>
            <p:cNvPr name="Freeform 8" id="8"/>
            <p:cNvSpPr/>
            <p:nvPr/>
          </p:nvSpPr>
          <p:spPr>
            <a:xfrm flipH="false" flipV="false" rot="0">
              <a:off x="0" y="0"/>
              <a:ext cx="2034647" cy="763881"/>
            </a:xfrm>
            <a:custGeom>
              <a:avLst/>
              <a:gdLst/>
              <a:ahLst/>
              <a:cxnLst/>
              <a:rect r="r" b="b" t="t" l="l"/>
              <a:pathLst>
                <a:path h="763881" w="2034647">
                  <a:moveTo>
                    <a:pt x="40086" y="0"/>
                  </a:moveTo>
                  <a:lnTo>
                    <a:pt x="1994561" y="0"/>
                  </a:lnTo>
                  <a:cubicBezTo>
                    <a:pt x="2005193" y="0"/>
                    <a:pt x="2015389" y="4223"/>
                    <a:pt x="2022906" y="11741"/>
                  </a:cubicBezTo>
                  <a:cubicBezTo>
                    <a:pt x="2030424" y="19259"/>
                    <a:pt x="2034647" y="29455"/>
                    <a:pt x="2034647" y="40086"/>
                  </a:cubicBezTo>
                  <a:lnTo>
                    <a:pt x="2034647" y="723795"/>
                  </a:lnTo>
                  <a:cubicBezTo>
                    <a:pt x="2034647" y="745934"/>
                    <a:pt x="2016700" y="763881"/>
                    <a:pt x="1994561" y="763881"/>
                  </a:cubicBezTo>
                  <a:lnTo>
                    <a:pt x="40086" y="763881"/>
                  </a:lnTo>
                  <a:cubicBezTo>
                    <a:pt x="29455" y="763881"/>
                    <a:pt x="19259" y="759658"/>
                    <a:pt x="11741" y="752141"/>
                  </a:cubicBezTo>
                  <a:cubicBezTo>
                    <a:pt x="4223" y="744623"/>
                    <a:pt x="0" y="734427"/>
                    <a:pt x="0" y="723795"/>
                  </a:cubicBezTo>
                  <a:lnTo>
                    <a:pt x="0" y="40086"/>
                  </a:lnTo>
                  <a:cubicBezTo>
                    <a:pt x="0" y="17947"/>
                    <a:pt x="17947" y="0"/>
                    <a:pt x="40086" y="0"/>
                  </a:cubicBezTo>
                  <a:close/>
                </a:path>
              </a:pathLst>
            </a:custGeom>
            <a:solidFill>
              <a:srgbClr val="7A6FB3"/>
            </a:solidFill>
          </p:spPr>
        </p:sp>
        <p:sp>
          <p:nvSpPr>
            <p:cNvPr name="TextBox 9" id="9"/>
            <p:cNvSpPr txBox="true"/>
            <p:nvPr/>
          </p:nvSpPr>
          <p:spPr>
            <a:xfrm>
              <a:off x="0" y="-57150"/>
              <a:ext cx="2034647" cy="821031"/>
            </a:xfrm>
            <a:prstGeom prst="rect">
              <a:avLst/>
            </a:prstGeom>
          </p:spPr>
          <p:txBody>
            <a:bodyPr anchor="ctr" rtlCol="false" tIns="50800" lIns="50800" bIns="50800" rIns="50800"/>
            <a:lstStyle/>
            <a:p>
              <a:pPr algn="ctr">
                <a:lnSpc>
                  <a:spcPts val="3359"/>
                </a:lnSpc>
              </a:pPr>
            </a:p>
          </p:txBody>
        </p:sp>
      </p:grpSp>
      <p:grpSp>
        <p:nvGrpSpPr>
          <p:cNvPr name="Group 10" id="10"/>
          <p:cNvGrpSpPr/>
          <p:nvPr/>
        </p:nvGrpSpPr>
        <p:grpSpPr>
          <a:xfrm rot="0">
            <a:off x="9296324" y="6793759"/>
            <a:ext cx="8020126" cy="2828925"/>
            <a:chOff x="0" y="0"/>
            <a:chExt cx="2112297" cy="745067"/>
          </a:xfrm>
        </p:grpSpPr>
        <p:sp>
          <p:nvSpPr>
            <p:cNvPr name="Freeform 11" id="11"/>
            <p:cNvSpPr/>
            <p:nvPr/>
          </p:nvSpPr>
          <p:spPr>
            <a:xfrm flipH="false" flipV="false" rot="0">
              <a:off x="0" y="0"/>
              <a:ext cx="2112297" cy="745067"/>
            </a:xfrm>
            <a:custGeom>
              <a:avLst/>
              <a:gdLst/>
              <a:ahLst/>
              <a:cxnLst/>
              <a:rect r="r" b="b" t="t" l="l"/>
              <a:pathLst>
                <a:path h="745067" w="2112297">
                  <a:moveTo>
                    <a:pt x="38612" y="0"/>
                  </a:moveTo>
                  <a:lnTo>
                    <a:pt x="2073684" y="0"/>
                  </a:lnTo>
                  <a:cubicBezTo>
                    <a:pt x="2095009" y="0"/>
                    <a:pt x="2112297" y="17287"/>
                    <a:pt x="2112297" y="38612"/>
                  </a:cubicBezTo>
                  <a:lnTo>
                    <a:pt x="2112297" y="706454"/>
                  </a:lnTo>
                  <a:cubicBezTo>
                    <a:pt x="2112297" y="716695"/>
                    <a:pt x="2108228" y="726516"/>
                    <a:pt x="2100987" y="733757"/>
                  </a:cubicBezTo>
                  <a:cubicBezTo>
                    <a:pt x="2093746" y="740999"/>
                    <a:pt x="2083925" y="745067"/>
                    <a:pt x="2073684" y="745067"/>
                  </a:cubicBezTo>
                  <a:lnTo>
                    <a:pt x="38612" y="745067"/>
                  </a:lnTo>
                  <a:cubicBezTo>
                    <a:pt x="17287" y="745067"/>
                    <a:pt x="0" y="727779"/>
                    <a:pt x="0" y="706454"/>
                  </a:cubicBezTo>
                  <a:lnTo>
                    <a:pt x="0" y="38612"/>
                  </a:lnTo>
                  <a:cubicBezTo>
                    <a:pt x="0" y="17287"/>
                    <a:pt x="17287" y="0"/>
                    <a:pt x="38612" y="0"/>
                  </a:cubicBezTo>
                  <a:close/>
                </a:path>
              </a:pathLst>
            </a:custGeom>
            <a:solidFill>
              <a:srgbClr val="7A6FB3"/>
            </a:solidFill>
          </p:spPr>
        </p:sp>
        <p:sp>
          <p:nvSpPr>
            <p:cNvPr name="TextBox 12" id="12"/>
            <p:cNvSpPr txBox="true"/>
            <p:nvPr/>
          </p:nvSpPr>
          <p:spPr>
            <a:xfrm>
              <a:off x="0" y="-57150"/>
              <a:ext cx="2112297" cy="802217"/>
            </a:xfrm>
            <a:prstGeom prst="rect">
              <a:avLst/>
            </a:prstGeom>
          </p:spPr>
          <p:txBody>
            <a:bodyPr anchor="ctr" rtlCol="false" tIns="50800" lIns="50800" bIns="50800" rIns="50800"/>
            <a:lstStyle/>
            <a:p>
              <a:pPr algn="ctr">
                <a:lnSpc>
                  <a:spcPts val="3359"/>
                </a:lnSpc>
              </a:pPr>
            </a:p>
          </p:txBody>
        </p:sp>
      </p:grpSp>
      <p:grpSp>
        <p:nvGrpSpPr>
          <p:cNvPr name="Group 13" id="13"/>
          <p:cNvGrpSpPr/>
          <p:nvPr/>
        </p:nvGrpSpPr>
        <p:grpSpPr>
          <a:xfrm rot="0">
            <a:off x="666750" y="6791325"/>
            <a:ext cx="7725302" cy="2767655"/>
            <a:chOff x="0" y="0"/>
            <a:chExt cx="2034647" cy="728930"/>
          </a:xfrm>
        </p:grpSpPr>
        <p:sp>
          <p:nvSpPr>
            <p:cNvPr name="Freeform 14" id="14"/>
            <p:cNvSpPr/>
            <p:nvPr/>
          </p:nvSpPr>
          <p:spPr>
            <a:xfrm flipH="false" flipV="false" rot="0">
              <a:off x="0" y="0"/>
              <a:ext cx="2034647" cy="728930"/>
            </a:xfrm>
            <a:custGeom>
              <a:avLst/>
              <a:gdLst/>
              <a:ahLst/>
              <a:cxnLst/>
              <a:rect r="r" b="b" t="t" l="l"/>
              <a:pathLst>
                <a:path h="728930" w="2034647">
                  <a:moveTo>
                    <a:pt x="40086" y="0"/>
                  </a:moveTo>
                  <a:lnTo>
                    <a:pt x="1994561" y="0"/>
                  </a:lnTo>
                  <a:cubicBezTo>
                    <a:pt x="2005193" y="0"/>
                    <a:pt x="2015389" y="4223"/>
                    <a:pt x="2022906" y="11741"/>
                  </a:cubicBezTo>
                  <a:cubicBezTo>
                    <a:pt x="2030424" y="19259"/>
                    <a:pt x="2034647" y="29455"/>
                    <a:pt x="2034647" y="40086"/>
                  </a:cubicBezTo>
                  <a:lnTo>
                    <a:pt x="2034647" y="688844"/>
                  </a:lnTo>
                  <a:cubicBezTo>
                    <a:pt x="2034647" y="710983"/>
                    <a:pt x="2016700" y="728930"/>
                    <a:pt x="1994561" y="728930"/>
                  </a:cubicBezTo>
                  <a:lnTo>
                    <a:pt x="40086" y="728930"/>
                  </a:lnTo>
                  <a:cubicBezTo>
                    <a:pt x="17947" y="728930"/>
                    <a:pt x="0" y="710983"/>
                    <a:pt x="0" y="688844"/>
                  </a:cubicBezTo>
                  <a:lnTo>
                    <a:pt x="0" y="40086"/>
                  </a:lnTo>
                  <a:cubicBezTo>
                    <a:pt x="0" y="17947"/>
                    <a:pt x="17947" y="0"/>
                    <a:pt x="40086" y="0"/>
                  </a:cubicBezTo>
                  <a:close/>
                </a:path>
              </a:pathLst>
            </a:custGeom>
            <a:solidFill>
              <a:srgbClr val="7A6FB3"/>
            </a:solidFill>
          </p:spPr>
        </p:sp>
        <p:sp>
          <p:nvSpPr>
            <p:cNvPr name="TextBox 15" id="15"/>
            <p:cNvSpPr txBox="true"/>
            <p:nvPr/>
          </p:nvSpPr>
          <p:spPr>
            <a:xfrm>
              <a:off x="0" y="-57150"/>
              <a:ext cx="2034647" cy="786080"/>
            </a:xfrm>
            <a:prstGeom prst="rect">
              <a:avLst/>
            </a:prstGeom>
          </p:spPr>
          <p:txBody>
            <a:bodyPr anchor="ctr" rtlCol="false" tIns="50800" lIns="50800" bIns="50800" rIns="50800"/>
            <a:lstStyle/>
            <a:p>
              <a:pPr algn="ctr">
                <a:lnSpc>
                  <a:spcPts val="3359"/>
                </a:lnSpc>
              </a:pPr>
            </a:p>
          </p:txBody>
        </p:sp>
      </p:grpSp>
      <p:sp>
        <p:nvSpPr>
          <p:cNvPr name="Freeform 16" id="16"/>
          <p:cNvSpPr/>
          <p:nvPr/>
        </p:nvSpPr>
        <p:spPr>
          <a:xfrm flipH="false" flipV="false" rot="0">
            <a:off x="10056796" y="4017883"/>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39691" y="3794180"/>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9826528" y="6996112"/>
            <a:ext cx="460534" cy="460534"/>
          </a:xfrm>
          <a:custGeom>
            <a:avLst/>
            <a:gdLst/>
            <a:ahLst/>
            <a:cxnLst/>
            <a:rect r="r" b="b" t="t" l="l"/>
            <a:pathLst>
              <a:path h="460534" w="460534">
                <a:moveTo>
                  <a:pt x="0" y="0"/>
                </a:moveTo>
                <a:lnTo>
                  <a:pt x="460535" y="0"/>
                </a:lnTo>
                <a:lnTo>
                  <a:pt x="460535" y="460535"/>
                </a:lnTo>
                <a:lnTo>
                  <a:pt x="0" y="4605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1109423" y="6996112"/>
            <a:ext cx="460534" cy="460534"/>
          </a:xfrm>
          <a:custGeom>
            <a:avLst/>
            <a:gdLst/>
            <a:ahLst/>
            <a:cxnLst/>
            <a:rect r="r" b="b" t="t" l="l"/>
            <a:pathLst>
              <a:path h="460534" w="460534">
                <a:moveTo>
                  <a:pt x="0" y="0"/>
                </a:moveTo>
                <a:lnTo>
                  <a:pt x="460535" y="0"/>
                </a:lnTo>
                <a:lnTo>
                  <a:pt x="460535" y="460535"/>
                </a:lnTo>
                <a:lnTo>
                  <a:pt x="0" y="4605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2105025" y="1641475"/>
            <a:ext cx="14077950" cy="898525"/>
          </a:xfrm>
          <a:prstGeom prst="rect">
            <a:avLst/>
          </a:prstGeom>
        </p:spPr>
        <p:txBody>
          <a:bodyPr anchor="t" rtlCol="false" tIns="0" lIns="0" bIns="0" rIns="0">
            <a:spAutoFit/>
          </a:bodyPr>
          <a:lstStyle/>
          <a:p>
            <a:pPr algn="l" marL="0" indent="0" lvl="0">
              <a:lnSpc>
                <a:spcPts val="6649"/>
              </a:lnSpc>
              <a:spcBef>
                <a:spcPct val="0"/>
              </a:spcBef>
            </a:pPr>
            <a:r>
              <a:rPr lang="en-US" b="true" sz="6999" spc="-384">
                <a:solidFill>
                  <a:srgbClr val="D2D6F0"/>
                </a:solidFill>
                <a:latin typeface="Work Sans Semi-Bold"/>
                <a:ea typeface="Work Sans Semi-Bold"/>
                <a:cs typeface="Work Sans Semi-Bold"/>
                <a:sym typeface="Work Sans Semi-Bold"/>
              </a:rPr>
              <a:t>Data Set Overview</a:t>
            </a:r>
          </a:p>
        </p:txBody>
      </p:sp>
      <p:sp>
        <p:nvSpPr>
          <p:cNvPr name="TextBox 21" id="21"/>
          <p:cNvSpPr txBox="true"/>
          <p:nvPr/>
        </p:nvSpPr>
        <p:spPr>
          <a:xfrm rot="0">
            <a:off x="2105025" y="3746555"/>
            <a:ext cx="5641842" cy="2666764"/>
          </a:xfrm>
          <a:prstGeom prst="rect">
            <a:avLst/>
          </a:prstGeom>
        </p:spPr>
        <p:txBody>
          <a:bodyPr anchor="t" rtlCol="false" tIns="0" lIns="0" bIns="0" rIns="0">
            <a:spAutoFit/>
          </a:bodyPr>
          <a:lstStyle/>
          <a:p>
            <a:pPr algn="l">
              <a:lnSpc>
                <a:spcPts val="2638"/>
              </a:lnSpc>
              <a:spcBef>
                <a:spcPct val="0"/>
              </a:spcBef>
            </a:pPr>
            <a:r>
              <a:rPr lang="en-US" b="true" sz="1884" spc="-103">
                <a:solidFill>
                  <a:srgbClr val="D2D6F0"/>
                </a:solidFill>
                <a:latin typeface="Work Sans Bold"/>
                <a:ea typeface="Work Sans Bold"/>
                <a:cs typeface="Work Sans Bold"/>
                <a:sym typeface="Work Sans Bold"/>
              </a:rPr>
              <a:t>📝 Text Emotion Dataset</a:t>
            </a:r>
          </a:p>
          <a:p>
            <a:pPr algn="l">
              <a:lnSpc>
                <a:spcPts val="2638"/>
              </a:lnSpc>
              <a:spcBef>
                <a:spcPct val="0"/>
              </a:spcBef>
            </a:pPr>
            <a:r>
              <a:rPr lang="en-US" b="true" sz="1884" spc="-103">
                <a:solidFill>
                  <a:srgbClr val="D2D6F0"/>
                </a:solidFill>
                <a:latin typeface="Work Sans Bold"/>
                <a:ea typeface="Work Sans Bold"/>
                <a:cs typeface="Work Sans Bold"/>
                <a:sym typeface="Work Sans Bold"/>
              </a:rPr>
              <a:t>Name: GoEmotion Dataset for NLP (e.g., Kaggle Emotion Dataset)</a:t>
            </a:r>
          </a:p>
          <a:p>
            <a:pPr algn="l">
              <a:lnSpc>
                <a:spcPts val="2638"/>
              </a:lnSpc>
              <a:spcBef>
                <a:spcPct val="0"/>
              </a:spcBef>
            </a:pPr>
            <a:r>
              <a:rPr lang="en-US" b="true" sz="1884" spc="-103">
                <a:solidFill>
                  <a:srgbClr val="D2D6F0"/>
                </a:solidFill>
                <a:latin typeface="Work Sans Bold"/>
                <a:ea typeface="Work Sans Bold"/>
                <a:cs typeface="Work Sans Bold"/>
                <a:sym typeface="Work Sans Bold"/>
              </a:rPr>
              <a:t>Overview:</a:t>
            </a:r>
          </a:p>
          <a:p>
            <a:pPr algn="l">
              <a:lnSpc>
                <a:spcPts val="2638"/>
              </a:lnSpc>
              <a:spcBef>
                <a:spcPct val="0"/>
              </a:spcBef>
            </a:pPr>
            <a:r>
              <a:rPr lang="en-US" b="true" sz="1884" spc="-103">
                <a:solidFill>
                  <a:srgbClr val="D2D6F0"/>
                </a:solidFill>
                <a:latin typeface="Work Sans Bold"/>
                <a:ea typeface="Work Sans Bold"/>
                <a:cs typeface="Work Sans Bold"/>
                <a:sym typeface="Work Sans Bold"/>
              </a:rPr>
              <a:t>Contains text sentences labeled with emotions such as happy, sad, angry, love, etc.</a:t>
            </a:r>
          </a:p>
          <a:p>
            <a:pPr algn="l">
              <a:lnSpc>
                <a:spcPts val="2638"/>
              </a:lnSpc>
              <a:spcBef>
                <a:spcPct val="0"/>
              </a:spcBef>
            </a:pPr>
            <a:r>
              <a:rPr lang="en-US" b="true" sz="1884" spc="-103">
                <a:solidFill>
                  <a:srgbClr val="D2D6F0"/>
                </a:solidFill>
                <a:latin typeface="Work Sans Bold"/>
                <a:ea typeface="Work Sans Bold"/>
                <a:cs typeface="Work Sans Bold"/>
                <a:sym typeface="Work Sans Bold"/>
              </a:rPr>
              <a:t>Used to train the Transformer (DistilBERT) model for text-based emotion detection.</a:t>
            </a:r>
          </a:p>
        </p:txBody>
      </p:sp>
      <p:sp>
        <p:nvSpPr>
          <p:cNvPr name="TextBox 22" id="22"/>
          <p:cNvSpPr txBox="true"/>
          <p:nvPr/>
        </p:nvSpPr>
        <p:spPr>
          <a:xfrm rot="0">
            <a:off x="2105025" y="6851027"/>
            <a:ext cx="5793236" cy="2666764"/>
          </a:xfrm>
          <a:prstGeom prst="rect">
            <a:avLst/>
          </a:prstGeom>
        </p:spPr>
        <p:txBody>
          <a:bodyPr anchor="t" rtlCol="false" tIns="0" lIns="0" bIns="0" rIns="0">
            <a:spAutoFit/>
          </a:bodyPr>
          <a:lstStyle/>
          <a:p>
            <a:pPr algn="l">
              <a:lnSpc>
                <a:spcPts val="2638"/>
              </a:lnSpc>
              <a:spcBef>
                <a:spcPct val="0"/>
              </a:spcBef>
            </a:pPr>
            <a:r>
              <a:rPr lang="en-US" b="true" sz="1884" spc="-103">
                <a:solidFill>
                  <a:srgbClr val="D2D6F0"/>
                </a:solidFill>
                <a:latin typeface="Work Sans Bold"/>
                <a:ea typeface="Work Sans Bold"/>
                <a:cs typeface="Work Sans Bold"/>
                <a:sym typeface="Work Sans Bold"/>
              </a:rPr>
              <a:t>📷</a:t>
            </a:r>
            <a:r>
              <a:rPr lang="en-US" b="true" sz="1884" spc="-103">
                <a:solidFill>
                  <a:srgbClr val="D2D6F0"/>
                </a:solidFill>
                <a:latin typeface="Work Sans Bold"/>
                <a:ea typeface="Work Sans Bold"/>
                <a:cs typeface="Work Sans Bold"/>
                <a:sym typeface="Work Sans Bold"/>
              </a:rPr>
              <a:t> Facial Emotion Image Dataset</a:t>
            </a:r>
          </a:p>
          <a:p>
            <a:pPr algn="l">
              <a:lnSpc>
                <a:spcPts val="2638"/>
              </a:lnSpc>
              <a:spcBef>
                <a:spcPct val="0"/>
              </a:spcBef>
            </a:pPr>
            <a:r>
              <a:rPr lang="en-US" b="true" sz="1884" spc="-103">
                <a:solidFill>
                  <a:srgbClr val="D2D6F0"/>
                </a:solidFill>
                <a:latin typeface="Work Sans Bold"/>
                <a:ea typeface="Work Sans Bold"/>
                <a:cs typeface="Work Sans Bold"/>
                <a:sym typeface="Work Sans Bold"/>
              </a:rPr>
              <a:t>Name: FER-2013 (Facial Expression Recognition Dataset)</a:t>
            </a:r>
          </a:p>
          <a:p>
            <a:pPr algn="l">
              <a:lnSpc>
                <a:spcPts val="2638"/>
              </a:lnSpc>
              <a:spcBef>
                <a:spcPct val="0"/>
              </a:spcBef>
            </a:pPr>
            <a:r>
              <a:rPr lang="en-US" b="true" sz="1884" spc="-103">
                <a:solidFill>
                  <a:srgbClr val="D2D6F0"/>
                </a:solidFill>
                <a:latin typeface="Work Sans Bold"/>
                <a:ea typeface="Work Sans Bold"/>
                <a:cs typeface="Work Sans Bold"/>
                <a:sym typeface="Work Sans Bold"/>
              </a:rPr>
              <a:t>Overview:</a:t>
            </a:r>
          </a:p>
          <a:p>
            <a:pPr algn="l">
              <a:lnSpc>
                <a:spcPts val="2638"/>
              </a:lnSpc>
              <a:spcBef>
                <a:spcPct val="0"/>
              </a:spcBef>
            </a:pPr>
            <a:r>
              <a:rPr lang="en-US" b="true" sz="1884" spc="-103">
                <a:solidFill>
                  <a:srgbClr val="D2D6F0"/>
                </a:solidFill>
                <a:latin typeface="Work Sans Bold"/>
                <a:ea typeface="Work Sans Bold"/>
                <a:cs typeface="Work Sans Bold"/>
                <a:sym typeface="Work Sans Bold"/>
              </a:rPr>
              <a:t>Consists of grayscale facial images categorized into different emotions.</a:t>
            </a:r>
          </a:p>
          <a:p>
            <a:pPr algn="l">
              <a:lnSpc>
                <a:spcPts val="2638"/>
              </a:lnSpc>
              <a:spcBef>
                <a:spcPct val="0"/>
              </a:spcBef>
            </a:pPr>
            <a:r>
              <a:rPr lang="en-US" b="true" sz="1884" spc="-103">
                <a:solidFill>
                  <a:srgbClr val="D2D6F0"/>
                </a:solidFill>
                <a:latin typeface="Work Sans Bold"/>
                <a:ea typeface="Work Sans Bold"/>
                <a:cs typeface="Work Sans Bold"/>
                <a:sym typeface="Work Sans Bold"/>
              </a:rPr>
              <a:t>Used to train the CNN model for image-based emotion recognition.</a:t>
            </a:r>
          </a:p>
        </p:txBody>
      </p:sp>
      <p:sp>
        <p:nvSpPr>
          <p:cNvPr name="TextBox 23" id="23"/>
          <p:cNvSpPr txBox="true"/>
          <p:nvPr/>
        </p:nvSpPr>
        <p:spPr>
          <a:xfrm rot="0">
            <a:off x="10693016" y="3609975"/>
            <a:ext cx="5641842" cy="2666764"/>
          </a:xfrm>
          <a:prstGeom prst="rect">
            <a:avLst/>
          </a:prstGeom>
        </p:spPr>
        <p:txBody>
          <a:bodyPr anchor="t" rtlCol="false" tIns="0" lIns="0" bIns="0" rIns="0">
            <a:spAutoFit/>
          </a:bodyPr>
          <a:lstStyle/>
          <a:p>
            <a:pPr algn="l">
              <a:lnSpc>
                <a:spcPts val="2638"/>
              </a:lnSpc>
            </a:pPr>
          </a:p>
          <a:p>
            <a:pPr algn="l">
              <a:lnSpc>
                <a:spcPts val="2638"/>
              </a:lnSpc>
              <a:spcBef>
                <a:spcPct val="0"/>
              </a:spcBef>
            </a:pPr>
            <a:r>
              <a:rPr lang="en-US" b="true" sz="1884" spc="-103">
                <a:solidFill>
                  <a:srgbClr val="D2D6F0"/>
                </a:solidFill>
                <a:latin typeface="Work Sans Bold"/>
                <a:ea typeface="Work Sans Bold"/>
                <a:cs typeface="Work Sans Bold"/>
                <a:sym typeface="Work Sans Bold"/>
              </a:rPr>
              <a:t>🎥</a:t>
            </a:r>
            <a:r>
              <a:rPr lang="en-US" b="true" sz="1884" spc="-103">
                <a:solidFill>
                  <a:srgbClr val="D2D6F0"/>
                </a:solidFill>
                <a:latin typeface="Work Sans Bold"/>
                <a:ea typeface="Work Sans Bold"/>
                <a:cs typeface="Work Sans Bold"/>
                <a:sym typeface="Work Sans Bold"/>
              </a:rPr>
              <a:t> Webcam Emotion Dataset</a:t>
            </a:r>
          </a:p>
          <a:p>
            <a:pPr algn="l">
              <a:lnSpc>
                <a:spcPts val="2638"/>
              </a:lnSpc>
              <a:spcBef>
                <a:spcPct val="0"/>
              </a:spcBef>
            </a:pPr>
            <a:r>
              <a:rPr lang="en-US" b="true" sz="1884" spc="-103">
                <a:solidFill>
                  <a:srgbClr val="D2D6F0"/>
                </a:solidFill>
                <a:latin typeface="Work Sans Bold"/>
                <a:ea typeface="Work Sans Bold"/>
                <a:cs typeface="Work Sans Bold"/>
                <a:sym typeface="Work Sans Bold"/>
              </a:rPr>
              <a:t>Name: DeepFace Pre-trained Emotion Model</a:t>
            </a:r>
          </a:p>
          <a:p>
            <a:pPr algn="l">
              <a:lnSpc>
                <a:spcPts val="2638"/>
              </a:lnSpc>
              <a:spcBef>
                <a:spcPct val="0"/>
              </a:spcBef>
            </a:pPr>
            <a:r>
              <a:rPr lang="en-US" b="true" sz="1884" spc="-103">
                <a:solidFill>
                  <a:srgbClr val="D2D6F0"/>
                </a:solidFill>
                <a:latin typeface="Work Sans Bold"/>
                <a:ea typeface="Work Sans Bold"/>
                <a:cs typeface="Work Sans Bold"/>
                <a:sym typeface="Work Sans Bold"/>
              </a:rPr>
              <a:t>Overview:</a:t>
            </a:r>
          </a:p>
          <a:p>
            <a:pPr algn="l">
              <a:lnSpc>
                <a:spcPts val="2638"/>
              </a:lnSpc>
              <a:spcBef>
                <a:spcPct val="0"/>
              </a:spcBef>
            </a:pPr>
            <a:r>
              <a:rPr lang="en-US" b="true" sz="1884" spc="-103">
                <a:solidFill>
                  <a:srgbClr val="D2D6F0"/>
                </a:solidFill>
                <a:latin typeface="Work Sans Bold"/>
                <a:ea typeface="Work Sans Bold"/>
                <a:cs typeface="Work Sans Bold"/>
                <a:sym typeface="Work Sans Bold"/>
              </a:rPr>
              <a:t>Uses a large-scale pre-trained facial emotion dataset internally.</a:t>
            </a:r>
          </a:p>
          <a:p>
            <a:pPr algn="l">
              <a:lnSpc>
                <a:spcPts val="2638"/>
              </a:lnSpc>
              <a:spcBef>
                <a:spcPct val="0"/>
              </a:spcBef>
            </a:pPr>
            <a:r>
              <a:rPr lang="en-US" b="true" sz="1884" spc="-103">
                <a:solidFill>
                  <a:srgbClr val="D2D6F0"/>
                </a:solidFill>
                <a:latin typeface="Work Sans Bold"/>
                <a:ea typeface="Work Sans Bold"/>
                <a:cs typeface="Work Sans Bold"/>
                <a:sym typeface="Work Sans Bold"/>
              </a:rPr>
              <a:t>Enables real-time emotion detection from webcam input.</a:t>
            </a:r>
          </a:p>
        </p:txBody>
      </p:sp>
      <p:sp>
        <p:nvSpPr>
          <p:cNvPr name="TextBox 24" id="24"/>
          <p:cNvSpPr txBox="true"/>
          <p:nvPr/>
        </p:nvSpPr>
        <p:spPr>
          <a:xfrm rot="0">
            <a:off x="10485466" y="6891337"/>
            <a:ext cx="5641842" cy="2666764"/>
          </a:xfrm>
          <a:prstGeom prst="rect">
            <a:avLst/>
          </a:prstGeom>
        </p:spPr>
        <p:txBody>
          <a:bodyPr anchor="t" rtlCol="false" tIns="0" lIns="0" bIns="0" rIns="0">
            <a:spAutoFit/>
          </a:bodyPr>
          <a:lstStyle/>
          <a:p>
            <a:pPr algn="l">
              <a:lnSpc>
                <a:spcPts val="2638"/>
              </a:lnSpc>
              <a:spcBef>
                <a:spcPct val="0"/>
              </a:spcBef>
            </a:pPr>
            <a:r>
              <a:rPr lang="en-US" sz="1884" spc="-103">
                <a:solidFill>
                  <a:srgbClr val="D2D6F0"/>
                </a:solidFill>
                <a:latin typeface="Work Sans"/>
                <a:ea typeface="Work Sans"/>
                <a:cs typeface="Work Sans"/>
                <a:sym typeface="Work Sans"/>
              </a:rPr>
              <a:t>🎵</a:t>
            </a:r>
            <a:r>
              <a:rPr lang="en-US" sz="1884" spc="-103">
                <a:solidFill>
                  <a:srgbClr val="D2D6F0"/>
                </a:solidFill>
                <a:latin typeface="Work Sans"/>
                <a:ea typeface="Work Sans"/>
                <a:cs typeface="Work Sans"/>
                <a:sym typeface="Work Sans"/>
              </a:rPr>
              <a:t> </a:t>
            </a:r>
            <a:r>
              <a:rPr lang="en-US" sz="1884" spc="-103">
                <a:solidFill>
                  <a:srgbClr val="D2D6F0"/>
                </a:solidFill>
                <a:latin typeface="Work Sans"/>
                <a:ea typeface="Work Sans"/>
                <a:cs typeface="Work Sans"/>
                <a:sym typeface="Work Sans"/>
              </a:rPr>
              <a:t>Musi</a:t>
            </a:r>
            <a:r>
              <a:rPr lang="en-US" sz="1884" spc="-103">
                <a:solidFill>
                  <a:srgbClr val="D2D6F0"/>
                </a:solidFill>
                <a:latin typeface="Work Sans"/>
                <a:ea typeface="Work Sans"/>
                <a:cs typeface="Work Sans"/>
                <a:sym typeface="Work Sans"/>
              </a:rPr>
              <a:t>c Dataset</a:t>
            </a:r>
          </a:p>
          <a:p>
            <a:pPr algn="l">
              <a:lnSpc>
                <a:spcPts val="2638"/>
              </a:lnSpc>
              <a:spcBef>
                <a:spcPct val="0"/>
              </a:spcBef>
            </a:pPr>
            <a:r>
              <a:rPr lang="en-US" sz="1884" spc="-103">
                <a:solidFill>
                  <a:srgbClr val="D2D6F0"/>
                </a:solidFill>
                <a:latin typeface="Work Sans"/>
                <a:ea typeface="Work Sans"/>
                <a:cs typeface="Work Sans"/>
                <a:sym typeface="Work Sans"/>
              </a:rPr>
              <a:t>Name: **</a:t>
            </a:r>
            <a:r>
              <a:rPr lang="en-US" sz="1884" spc="-103">
                <a:solidFill>
                  <a:srgbClr val="D2D6F0"/>
                </a:solidFill>
                <a:latin typeface="Work Sans"/>
                <a:ea typeface="Work Sans"/>
                <a:cs typeface="Work Sans"/>
                <a:sym typeface="Work Sans"/>
              </a:rPr>
              <a:t>Million Song</a:t>
            </a:r>
            <a:r>
              <a:rPr lang="en-US" sz="1884" spc="-103">
                <a:solidFill>
                  <a:srgbClr val="D2D6F0"/>
                </a:solidFill>
                <a:latin typeface="Work Sans"/>
                <a:ea typeface="Work Sans"/>
                <a:cs typeface="Work Sans"/>
                <a:sym typeface="Work Sans"/>
              </a:rPr>
              <a:t> Datase</a:t>
            </a:r>
            <a:r>
              <a:rPr lang="en-US" sz="1884" spc="-103">
                <a:solidFill>
                  <a:srgbClr val="D2D6F0"/>
                </a:solidFill>
                <a:latin typeface="Work Sans"/>
                <a:ea typeface="Work Sans"/>
                <a:cs typeface="Work Sans"/>
                <a:sym typeface="Work Sans"/>
              </a:rPr>
              <a:t>t +</a:t>
            </a:r>
            <a:r>
              <a:rPr lang="en-US" sz="1884" spc="-103">
                <a:solidFill>
                  <a:srgbClr val="D2D6F0"/>
                </a:solidFill>
                <a:latin typeface="Work Sans"/>
                <a:ea typeface="Work Sans"/>
                <a:cs typeface="Work Sans"/>
                <a:sym typeface="Work Sans"/>
              </a:rPr>
              <a:t> Spotify + L</a:t>
            </a:r>
            <a:r>
              <a:rPr lang="en-US" sz="1884" spc="-103">
                <a:solidFill>
                  <a:srgbClr val="D2D6F0"/>
                </a:solidFill>
                <a:latin typeface="Work Sans"/>
                <a:ea typeface="Work Sans"/>
                <a:cs typeface="Work Sans"/>
                <a:sym typeface="Work Sans"/>
              </a:rPr>
              <a:t>ast.fm**</a:t>
            </a:r>
          </a:p>
          <a:p>
            <a:pPr algn="l">
              <a:lnSpc>
                <a:spcPts val="2638"/>
              </a:lnSpc>
              <a:spcBef>
                <a:spcPct val="0"/>
              </a:spcBef>
            </a:pPr>
            <a:r>
              <a:rPr lang="en-US" sz="1884" spc="-103">
                <a:solidFill>
                  <a:srgbClr val="D2D6F0"/>
                </a:solidFill>
                <a:latin typeface="Work Sans"/>
                <a:ea typeface="Work Sans"/>
                <a:cs typeface="Work Sans"/>
                <a:sym typeface="Work Sans"/>
              </a:rPr>
              <a:t> </a:t>
            </a:r>
            <a:r>
              <a:rPr lang="en-US" sz="1884" spc="-103">
                <a:solidFill>
                  <a:srgbClr val="D2D6F0"/>
                </a:solidFill>
                <a:latin typeface="Work Sans"/>
                <a:ea typeface="Work Sans"/>
                <a:cs typeface="Work Sans"/>
                <a:sym typeface="Work Sans"/>
              </a:rPr>
              <a:t>(Cust</a:t>
            </a:r>
            <a:r>
              <a:rPr lang="en-US" sz="1884" spc="-103">
                <a:solidFill>
                  <a:srgbClr val="D2D6F0"/>
                </a:solidFill>
                <a:latin typeface="Work Sans"/>
                <a:ea typeface="Work Sans"/>
                <a:cs typeface="Work Sans"/>
                <a:sym typeface="Work Sans"/>
              </a:rPr>
              <a:t>o</a:t>
            </a:r>
            <a:r>
              <a:rPr lang="en-US" sz="1884" spc="-103">
                <a:solidFill>
                  <a:srgbClr val="D2D6F0"/>
                </a:solidFill>
                <a:latin typeface="Work Sans"/>
                <a:ea typeface="Work Sans"/>
                <a:cs typeface="Work Sans"/>
                <a:sym typeface="Work Sans"/>
              </a:rPr>
              <a:t>m / Kagg</a:t>
            </a:r>
            <a:r>
              <a:rPr lang="en-US" sz="1884" spc="-103">
                <a:solidFill>
                  <a:srgbClr val="D2D6F0"/>
                </a:solidFill>
                <a:latin typeface="Work Sans"/>
                <a:ea typeface="Work Sans"/>
                <a:cs typeface="Work Sans"/>
                <a:sym typeface="Work Sans"/>
              </a:rPr>
              <a:t>l</a:t>
            </a:r>
            <a:r>
              <a:rPr lang="en-US" sz="1884" spc="-103">
                <a:solidFill>
                  <a:srgbClr val="D2D6F0"/>
                </a:solidFill>
                <a:latin typeface="Work Sans"/>
                <a:ea typeface="Work Sans"/>
                <a:cs typeface="Work Sans"/>
                <a:sym typeface="Work Sans"/>
              </a:rPr>
              <a:t>e)</a:t>
            </a:r>
          </a:p>
          <a:p>
            <a:pPr algn="l">
              <a:lnSpc>
                <a:spcPts val="2638"/>
              </a:lnSpc>
              <a:spcBef>
                <a:spcPct val="0"/>
              </a:spcBef>
            </a:pPr>
            <a:r>
              <a:rPr lang="en-US" sz="1884" spc="-103">
                <a:solidFill>
                  <a:srgbClr val="D2D6F0"/>
                </a:solidFill>
                <a:latin typeface="Work Sans"/>
                <a:ea typeface="Work Sans"/>
                <a:cs typeface="Work Sans"/>
                <a:sym typeface="Work Sans"/>
              </a:rPr>
              <a:t>Overview:</a:t>
            </a:r>
          </a:p>
          <a:p>
            <a:pPr algn="l">
              <a:lnSpc>
                <a:spcPts val="2638"/>
              </a:lnSpc>
              <a:spcBef>
                <a:spcPct val="0"/>
              </a:spcBef>
            </a:pPr>
            <a:r>
              <a:rPr lang="en-US" sz="1884" spc="-103">
                <a:solidFill>
                  <a:srgbClr val="D2D6F0"/>
                </a:solidFill>
                <a:latin typeface="Work Sans"/>
                <a:ea typeface="Work Sans"/>
                <a:cs typeface="Work Sans"/>
                <a:sym typeface="Work Sans"/>
              </a:rPr>
              <a:t>Contain</a:t>
            </a:r>
            <a:r>
              <a:rPr lang="en-US" sz="1884" spc="-103">
                <a:solidFill>
                  <a:srgbClr val="D2D6F0"/>
                </a:solidFill>
                <a:latin typeface="Work Sans"/>
                <a:ea typeface="Work Sans"/>
                <a:cs typeface="Work Sans"/>
                <a:sym typeface="Work Sans"/>
              </a:rPr>
              <a:t>s</a:t>
            </a:r>
            <a:r>
              <a:rPr lang="en-US" sz="1884" spc="-103">
                <a:solidFill>
                  <a:srgbClr val="D2D6F0"/>
                </a:solidFill>
                <a:latin typeface="Work Sans"/>
                <a:ea typeface="Work Sans"/>
                <a:cs typeface="Work Sans"/>
                <a:sym typeface="Work Sans"/>
              </a:rPr>
              <a:t> </a:t>
            </a:r>
            <a:r>
              <a:rPr lang="en-US" sz="1884" spc="-103">
                <a:solidFill>
                  <a:srgbClr val="D2D6F0"/>
                </a:solidFill>
                <a:latin typeface="Work Sans"/>
                <a:ea typeface="Work Sans"/>
                <a:cs typeface="Work Sans"/>
                <a:sym typeface="Work Sans"/>
              </a:rPr>
              <a:t>s</a:t>
            </a:r>
            <a:r>
              <a:rPr lang="en-US" sz="1884" spc="-103">
                <a:solidFill>
                  <a:srgbClr val="D2D6F0"/>
                </a:solidFill>
                <a:latin typeface="Work Sans"/>
                <a:ea typeface="Work Sans"/>
                <a:cs typeface="Work Sans"/>
                <a:sym typeface="Work Sans"/>
              </a:rPr>
              <a:t>ong</a:t>
            </a:r>
            <a:r>
              <a:rPr lang="en-US" sz="1884" spc="-103">
                <a:solidFill>
                  <a:srgbClr val="D2D6F0"/>
                </a:solidFill>
                <a:latin typeface="Work Sans"/>
                <a:ea typeface="Work Sans"/>
                <a:cs typeface="Work Sans"/>
                <a:sym typeface="Work Sans"/>
              </a:rPr>
              <a:t> </a:t>
            </a:r>
            <a:r>
              <a:rPr lang="en-US" sz="1884" spc="-103">
                <a:solidFill>
                  <a:srgbClr val="D2D6F0"/>
                </a:solidFill>
                <a:latin typeface="Work Sans"/>
                <a:ea typeface="Work Sans"/>
                <a:cs typeface="Work Sans"/>
                <a:sym typeface="Work Sans"/>
              </a:rPr>
              <a:t>n</a:t>
            </a:r>
            <a:r>
              <a:rPr lang="en-US" sz="1884" spc="-103">
                <a:solidFill>
                  <a:srgbClr val="D2D6F0"/>
                </a:solidFill>
                <a:latin typeface="Work Sans"/>
                <a:ea typeface="Work Sans"/>
                <a:cs typeface="Work Sans"/>
                <a:sym typeface="Work Sans"/>
              </a:rPr>
              <a:t>a</a:t>
            </a:r>
            <a:r>
              <a:rPr lang="en-US" sz="1884" spc="-103">
                <a:solidFill>
                  <a:srgbClr val="D2D6F0"/>
                </a:solidFill>
                <a:latin typeface="Work Sans"/>
                <a:ea typeface="Work Sans"/>
                <a:cs typeface="Work Sans"/>
                <a:sym typeface="Work Sans"/>
              </a:rPr>
              <a:t>mes,</a:t>
            </a:r>
            <a:r>
              <a:rPr lang="en-US" sz="1884" spc="-103">
                <a:solidFill>
                  <a:srgbClr val="D2D6F0"/>
                </a:solidFill>
                <a:latin typeface="Work Sans"/>
                <a:ea typeface="Work Sans"/>
                <a:cs typeface="Work Sans"/>
                <a:sym typeface="Work Sans"/>
              </a:rPr>
              <a:t> ar</a:t>
            </a:r>
            <a:r>
              <a:rPr lang="en-US" sz="1884" spc="-103">
                <a:solidFill>
                  <a:srgbClr val="D2D6F0"/>
                </a:solidFill>
                <a:latin typeface="Work Sans"/>
                <a:ea typeface="Work Sans"/>
                <a:cs typeface="Work Sans"/>
                <a:sym typeface="Work Sans"/>
              </a:rPr>
              <a:t>ti</a:t>
            </a:r>
            <a:r>
              <a:rPr lang="en-US" sz="1884" spc="-103">
                <a:solidFill>
                  <a:srgbClr val="D2D6F0"/>
                </a:solidFill>
                <a:latin typeface="Work Sans"/>
                <a:ea typeface="Work Sans"/>
                <a:cs typeface="Work Sans"/>
                <a:sym typeface="Work Sans"/>
              </a:rPr>
              <a:t>s</a:t>
            </a:r>
            <a:r>
              <a:rPr lang="en-US" sz="1884" spc="-103">
                <a:solidFill>
                  <a:srgbClr val="D2D6F0"/>
                </a:solidFill>
                <a:latin typeface="Work Sans"/>
                <a:ea typeface="Work Sans"/>
                <a:cs typeface="Work Sans"/>
                <a:sym typeface="Work Sans"/>
              </a:rPr>
              <a:t>ts,</a:t>
            </a:r>
            <a:r>
              <a:rPr lang="en-US" sz="1884" spc="-103">
                <a:solidFill>
                  <a:srgbClr val="D2D6F0"/>
                </a:solidFill>
                <a:latin typeface="Work Sans"/>
                <a:ea typeface="Work Sans"/>
                <a:cs typeface="Work Sans"/>
                <a:sym typeface="Work Sans"/>
              </a:rPr>
              <a:t> </a:t>
            </a:r>
            <a:r>
              <a:rPr lang="en-US" sz="1884" spc="-103">
                <a:solidFill>
                  <a:srgbClr val="D2D6F0"/>
                </a:solidFill>
                <a:latin typeface="Work Sans"/>
                <a:ea typeface="Work Sans"/>
                <a:cs typeface="Work Sans"/>
                <a:sym typeface="Work Sans"/>
              </a:rPr>
              <a:t>mood</a:t>
            </a:r>
            <a:r>
              <a:rPr lang="en-US" sz="1884" spc="-103">
                <a:solidFill>
                  <a:srgbClr val="D2D6F0"/>
                </a:solidFill>
                <a:latin typeface="Work Sans"/>
                <a:ea typeface="Work Sans"/>
                <a:cs typeface="Work Sans"/>
                <a:sym typeface="Work Sans"/>
              </a:rPr>
              <a:t>-r</a:t>
            </a:r>
            <a:r>
              <a:rPr lang="en-US" sz="1884" spc="-103">
                <a:solidFill>
                  <a:srgbClr val="D2D6F0"/>
                </a:solidFill>
                <a:latin typeface="Work Sans"/>
                <a:ea typeface="Work Sans"/>
                <a:cs typeface="Work Sans"/>
                <a:sym typeface="Work Sans"/>
              </a:rPr>
              <a:t>el</a:t>
            </a:r>
            <a:r>
              <a:rPr lang="en-US" sz="1884" spc="-103">
                <a:solidFill>
                  <a:srgbClr val="D2D6F0"/>
                </a:solidFill>
                <a:latin typeface="Work Sans"/>
                <a:ea typeface="Work Sans"/>
                <a:cs typeface="Work Sans"/>
                <a:sym typeface="Work Sans"/>
              </a:rPr>
              <a:t>a</a:t>
            </a:r>
            <a:r>
              <a:rPr lang="en-US" sz="1884" spc="-103">
                <a:solidFill>
                  <a:srgbClr val="D2D6F0"/>
                </a:solidFill>
                <a:latin typeface="Work Sans"/>
                <a:ea typeface="Work Sans"/>
                <a:cs typeface="Work Sans"/>
                <a:sym typeface="Work Sans"/>
              </a:rPr>
              <a:t>t</a:t>
            </a:r>
            <a:r>
              <a:rPr lang="en-US" sz="1884" spc="-103">
                <a:solidFill>
                  <a:srgbClr val="D2D6F0"/>
                </a:solidFill>
                <a:latin typeface="Work Sans"/>
                <a:ea typeface="Work Sans"/>
                <a:cs typeface="Work Sans"/>
                <a:sym typeface="Work Sans"/>
              </a:rPr>
              <a:t>ed </a:t>
            </a:r>
            <a:r>
              <a:rPr lang="en-US" sz="1884" spc="-103">
                <a:solidFill>
                  <a:srgbClr val="D2D6F0"/>
                </a:solidFill>
                <a:latin typeface="Work Sans"/>
                <a:ea typeface="Work Sans"/>
                <a:cs typeface="Work Sans"/>
                <a:sym typeface="Work Sans"/>
              </a:rPr>
              <a:t>t</a:t>
            </a:r>
            <a:r>
              <a:rPr lang="en-US" sz="1884" spc="-103">
                <a:solidFill>
                  <a:srgbClr val="D2D6F0"/>
                </a:solidFill>
                <a:latin typeface="Work Sans"/>
                <a:ea typeface="Work Sans"/>
                <a:cs typeface="Work Sans"/>
                <a:sym typeface="Work Sans"/>
              </a:rPr>
              <a:t>e</a:t>
            </a:r>
            <a:r>
              <a:rPr lang="en-US" sz="1884" spc="-103">
                <a:solidFill>
                  <a:srgbClr val="D2D6F0"/>
                </a:solidFill>
                <a:latin typeface="Work Sans"/>
                <a:ea typeface="Work Sans"/>
                <a:cs typeface="Work Sans"/>
                <a:sym typeface="Work Sans"/>
              </a:rPr>
              <a:t>x</a:t>
            </a:r>
            <a:r>
              <a:rPr lang="en-US" sz="1884" spc="-103">
                <a:solidFill>
                  <a:srgbClr val="D2D6F0"/>
                </a:solidFill>
                <a:latin typeface="Work Sans"/>
                <a:ea typeface="Work Sans"/>
                <a:cs typeface="Work Sans"/>
                <a:sym typeface="Work Sans"/>
              </a:rPr>
              <a:t>t</a:t>
            </a:r>
            <a:r>
              <a:rPr lang="en-US" sz="1884" spc="-103">
                <a:solidFill>
                  <a:srgbClr val="D2D6F0"/>
                </a:solidFill>
                <a:latin typeface="Work Sans"/>
                <a:ea typeface="Work Sans"/>
                <a:cs typeface="Work Sans"/>
                <a:sym typeface="Work Sans"/>
              </a:rPr>
              <a:t>, aud</a:t>
            </a:r>
            <a:r>
              <a:rPr lang="en-US" sz="1884" spc="-103">
                <a:solidFill>
                  <a:srgbClr val="D2D6F0"/>
                </a:solidFill>
                <a:latin typeface="Work Sans"/>
                <a:ea typeface="Work Sans"/>
                <a:cs typeface="Work Sans"/>
                <a:sym typeface="Work Sans"/>
              </a:rPr>
              <a:t>io </a:t>
            </a:r>
            <a:r>
              <a:rPr lang="en-US" sz="1884" spc="-103">
                <a:solidFill>
                  <a:srgbClr val="D2D6F0"/>
                </a:solidFill>
                <a:latin typeface="Work Sans"/>
                <a:ea typeface="Work Sans"/>
                <a:cs typeface="Work Sans"/>
                <a:sym typeface="Work Sans"/>
              </a:rPr>
              <a:t>fe</a:t>
            </a:r>
            <a:r>
              <a:rPr lang="en-US" sz="1884" spc="-103">
                <a:solidFill>
                  <a:srgbClr val="D2D6F0"/>
                </a:solidFill>
                <a:latin typeface="Work Sans"/>
                <a:ea typeface="Work Sans"/>
                <a:cs typeface="Work Sans"/>
                <a:sym typeface="Work Sans"/>
              </a:rPr>
              <a:t>at</a:t>
            </a:r>
            <a:r>
              <a:rPr lang="en-US" sz="1884" spc="-103">
                <a:solidFill>
                  <a:srgbClr val="D2D6F0"/>
                </a:solidFill>
                <a:latin typeface="Work Sans"/>
                <a:ea typeface="Work Sans"/>
                <a:cs typeface="Work Sans"/>
                <a:sym typeface="Work Sans"/>
              </a:rPr>
              <a:t>ur</a:t>
            </a:r>
            <a:r>
              <a:rPr lang="en-US" sz="1884" spc="-103">
                <a:solidFill>
                  <a:srgbClr val="D2D6F0"/>
                </a:solidFill>
                <a:latin typeface="Work Sans"/>
                <a:ea typeface="Work Sans"/>
                <a:cs typeface="Work Sans"/>
                <a:sym typeface="Work Sans"/>
              </a:rPr>
              <a:t>e</a:t>
            </a:r>
            <a:r>
              <a:rPr lang="en-US" sz="1884" spc="-103">
                <a:solidFill>
                  <a:srgbClr val="D2D6F0"/>
                </a:solidFill>
                <a:latin typeface="Work Sans"/>
                <a:ea typeface="Work Sans"/>
                <a:cs typeface="Work Sans"/>
                <a:sym typeface="Work Sans"/>
              </a:rPr>
              <a:t>s,</a:t>
            </a:r>
            <a:r>
              <a:rPr lang="en-US" sz="1884" spc="-103">
                <a:solidFill>
                  <a:srgbClr val="D2D6F0"/>
                </a:solidFill>
                <a:latin typeface="Work Sans"/>
                <a:ea typeface="Work Sans"/>
                <a:cs typeface="Work Sans"/>
                <a:sym typeface="Work Sans"/>
              </a:rPr>
              <a:t> </a:t>
            </a:r>
            <a:r>
              <a:rPr lang="en-US" sz="1884" spc="-103">
                <a:solidFill>
                  <a:srgbClr val="D2D6F0"/>
                </a:solidFill>
                <a:latin typeface="Work Sans"/>
                <a:ea typeface="Work Sans"/>
                <a:cs typeface="Work Sans"/>
                <a:sym typeface="Work Sans"/>
              </a:rPr>
              <a:t>a</a:t>
            </a:r>
            <a:r>
              <a:rPr lang="en-US" sz="1884" spc="-103">
                <a:solidFill>
                  <a:srgbClr val="D2D6F0"/>
                </a:solidFill>
                <a:latin typeface="Work Sans"/>
                <a:ea typeface="Work Sans"/>
                <a:cs typeface="Work Sans"/>
                <a:sym typeface="Work Sans"/>
              </a:rPr>
              <a:t>n</a:t>
            </a:r>
            <a:r>
              <a:rPr lang="en-US" sz="1884" spc="-103">
                <a:solidFill>
                  <a:srgbClr val="D2D6F0"/>
                </a:solidFill>
                <a:latin typeface="Work Sans"/>
                <a:ea typeface="Work Sans"/>
                <a:cs typeface="Work Sans"/>
                <a:sym typeface="Work Sans"/>
              </a:rPr>
              <a:t>d Spo</a:t>
            </a:r>
            <a:r>
              <a:rPr lang="en-US" sz="1884" spc="-103">
                <a:solidFill>
                  <a:srgbClr val="D2D6F0"/>
                </a:solidFill>
                <a:latin typeface="Work Sans"/>
                <a:ea typeface="Work Sans"/>
                <a:cs typeface="Work Sans"/>
                <a:sym typeface="Work Sans"/>
              </a:rPr>
              <a:t>t</a:t>
            </a:r>
            <a:r>
              <a:rPr lang="en-US" sz="1884" spc="-103">
                <a:solidFill>
                  <a:srgbClr val="D2D6F0"/>
                </a:solidFill>
                <a:latin typeface="Work Sans"/>
                <a:ea typeface="Work Sans"/>
                <a:cs typeface="Work Sans"/>
                <a:sym typeface="Work Sans"/>
              </a:rPr>
              <a:t>if</a:t>
            </a:r>
            <a:r>
              <a:rPr lang="en-US" sz="1884" spc="-103">
                <a:solidFill>
                  <a:srgbClr val="D2D6F0"/>
                </a:solidFill>
                <a:latin typeface="Work Sans"/>
                <a:ea typeface="Work Sans"/>
                <a:cs typeface="Work Sans"/>
                <a:sym typeface="Work Sans"/>
              </a:rPr>
              <a:t>y</a:t>
            </a:r>
            <a:r>
              <a:rPr lang="en-US" sz="1884" spc="-103">
                <a:solidFill>
                  <a:srgbClr val="D2D6F0"/>
                </a:solidFill>
                <a:latin typeface="Work Sans"/>
                <a:ea typeface="Work Sans"/>
                <a:cs typeface="Work Sans"/>
                <a:sym typeface="Work Sans"/>
              </a:rPr>
              <a:t> IDs</a:t>
            </a:r>
            <a:r>
              <a:rPr lang="en-US" sz="1884" spc="-103">
                <a:solidFill>
                  <a:srgbClr val="D2D6F0"/>
                </a:solidFill>
                <a:latin typeface="Work Sans"/>
                <a:ea typeface="Work Sans"/>
                <a:cs typeface="Work Sans"/>
                <a:sym typeface="Work Sans"/>
              </a:rPr>
              <a:t>.</a:t>
            </a:r>
          </a:p>
          <a:p>
            <a:pPr algn="l">
              <a:lnSpc>
                <a:spcPts val="2638"/>
              </a:lnSpc>
              <a:spcBef>
                <a:spcPct val="0"/>
              </a:spcBef>
            </a:pPr>
            <a:r>
              <a:rPr lang="en-US" sz="1884" spc="-103">
                <a:solidFill>
                  <a:srgbClr val="D2D6F0"/>
                </a:solidFill>
                <a:latin typeface="Work Sans"/>
                <a:ea typeface="Work Sans"/>
                <a:cs typeface="Work Sans"/>
                <a:sym typeface="Work Sans"/>
              </a:rPr>
              <a:t>U</a:t>
            </a:r>
            <a:r>
              <a:rPr lang="en-US" sz="1884" spc="-103">
                <a:solidFill>
                  <a:srgbClr val="D2D6F0"/>
                </a:solidFill>
                <a:latin typeface="Work Sans"/>
                <a:ea typeface="Work Sans"/>
                <a:cs typeface="Work Sans"/>
                <a:sym typeface="Work Sans"/>
              </a:rPr>
              <a:t>s</a:t>
            </a:r>
            <a:r>
              <a:rPr lang="en-US" sz="1884" spc="-103">
                <a:solidFill>
                  <a:srgbClr val="D2D6F0"/>
                </a:solidFill>
                <a:latin typeface="Work Sans"/>
                <a:ea typeface="Work Sans"/>
                <a:cs typeface="Work Sans"/>
                <a:sym typeface="Work Sans"/>
              </a:rPr>
              <a:t>ed</a:t>
            </a:r>
            <a:r>
              <a:rPr lang="en-US" sz="1884" spc="-103">
                <a:solidFill>
                  <a:srgbClr val="D2D6F0"/>
                </a:solidFill>
                <a:latin typeface="Work Sans"/>
                <a:ea typeface="Work Sans"/>
                <a:cs typeface="Work Sans"/>
                <a:sym typeface="Work Sans"/>
              </a:rPr>
              <a:t> </a:t>
            </a:r>
            <a:r>
              <a:rPr lang="en-US" sz="1884" spc="-103">
                <a:solidFill>
                  <a:srgbClr val="D2D6F0"/>
                </a:solidFill>
                <a:latin typeface="Work Sans"/>
                <a:ea typeface="Work Sans"/>
                <a:cs typeface="Work Sans"/>
                <a:sym typeface="Work Sans"/>
              </a:rPr>
              <a:t>fo</a:t>
            </a:r>
            <a:r>
              <a:rPr lang="en-US" sz="1884" spc="-103">
                <a:solidFill>
                  <a:srgbClr val="D2D6F0"/>
                </a:solidFill>
                <a:latin typeface="Work Sans"/>
                <a:ea typeface="Work Sans"/>
                <a:cs typeface="Work Sans"/>
                <a:sym typeface="Work Sans"/>
              </a:rPr>
              <a:t>r emotion</a:t>
            </a:r>
            <a:r>
              <a:rPr lang="en-US" sz="1884" spc="-103">
                <a:solidFill>
                  <a:srgbClr val="D2D6F0"/>
                </a:solidFill>
                <a:latin typeface="Work Sans"/>
                <a:ea typeface="Work Sans"/>
                <a:cs typeface="Work Sans"/>
                <a:sym typeface="Work Sans"/>
              </a:rPr>
              <a:t>-base</a:t>
            </a:r>
            <a:r>
              <a:rPr lang="en-US" sz="1884" spc="-103">
                <a:solidFill>
                  <a:srgbClr val="D2D6F0"/>
                </a:solidFill>
                <a:latin typeface="Work Sans"/>
                <a:ea typeface="Work Sans"/>
                <a:cs typeface="Work Sans"/>
                <a:sym typeface="Work Sans"/>
              </a:rPr>
              <a:t>d</a:t>
            </a:r>
            <a:r>
              <a:rPr lang="en-US" sz="1884" spc="-103">
                <a:solidFill>
                  <a:srgbClr val="D2D6F0"/>
                </a:solidFill>
                <a:latin typeface="Work Sans"/>
                <a:ea typeface="Work Sans"/>
                <a:cs typeface="Work Sans"/>
                <a:sym typeface="Work Sans"/>
              </a:rPr>
              <a:t> music r</a:t>
            </a:r>
            <a:r>
              <a:rPr lang="en-US" sz="1884" spc="-103">
                <a:solidFill>
                  <a:srgbClr val="D2D6F0"/>
                </a:solidFill>
                <a:latin typeface="Work Sans"/>
                <a:ea typeface="Work Sans"/>
                <a:cs typeface="Work Sans"/>
                <a:sym typeface="Work Sans"/>
              </a:rPr>
              <a:t>e</a:t>
            </a:r>
            <a:r>
              <a:rPr lang="en-US" sz="1884" spc="-103">
                <a:solidFill>
                  <a:srgbClr val="D2D6F0"/>
                </a:solidFill>
                <a:latin typeface="Work Sans"/>
                <a:ea typeface="Work Sans"/>
                <a:cs typeface="Work Sans"/>
                <a:sym typeface="Work Sans"/>
              </a:rPr>
              <a:t>comm</a:t>
            </a:r>
            <a:r>
              <a:rPr lang="en-US" sz="1884" spc="-103">
                <a:solidFill>
                  <a:srgbClr val="D2D6F0"/>
                </a:solidFill>
                <a:latin typeface="Work Sans"/>
                <a:ea typeface="Work Sans"/>
                <a:cs typeface="Work Sans"/>
                <a:sym typeface="Work Sans"/>
              </a:rPr>
              <a:t>e</a:t>
            </a:r>
            <a:r>
              <a:rPr lang="en-US" sz="1884" spc="-103">
                <a:solidFill>
                  <a:srgbClr val="D2D6F0"/>
                </a:solidFill>
                <a:latin typeface="Work Sans"/>
                <a:ea typeface="Work Sans"/>
                <a:cs typeface="Work Sans"/>
                <a:sym typeface="Work Sans"/>
              </a:rPr>
              <a:t>nda</a:t>
            </a:r>
            <a:r>
              <a:rPr lang="en-US" sz="1884" spc="-103">
                <a:solidFill>
                  <a:srgbClr val="D2D6F0"/>
                </a:solidFill>
                <a:latin typeface="Work Sans"/>
                <a:ea typeface="Work Sans"/>
                <a:cs typeface="Work Sans"/>
                <a:sym typeface="Work Sans"/>
              </a:rPr>
              <a:t>tion </a:t>
            </a:r>
            <a:r>
              <a:rPr lang="en-US" sz="1884" spc="-103">
                <a:solidFill>
                  <a:srgbClr val="D2D6F0"/>
                </a:solidFill>
                <a:latin typeface="Work Sans"/>
                <a:ea typeface="Work Sans"/>
                <a:cs typeface="Work Sans"/>
                <a:sym typeface="Work Sans"/>
              </a:rPr>
              <a:t>using TF-IDF</a:t>
            </a:r>
            <a:r>
              <a:rPr lang="en-US" sz="1884" spc="-103">
                <a:solidFill>
                  <a:srgbClr val="D2D6F0"/>
                </a:solidFill>
                <a:latin typeface="Work Sans"/>
                <a:ea typeface="Work Sans"/>
                <a:cs typeface="Work Sans"/>
                <a:sym typeface="Work Sans"/>
              </a:rPr>
              <a:t> a</a:t>
            </a:r>
            <a:r>
              <a:rPr lang="en-US" sz="1884" spc="-103">
                <a:solidFill>
                  <a:srgbClr val="D2D6F0"/>
                </a:solidFill>
                <a:latin typeface="Work Sans"/>
                <a:ea typeface="Work Sans"/>
                <a:cs typeface="Work Sans"/>
                <a:sym typeface="Work Sans"/>
              </a:rPr>
              <a:t>nd</a:t>
            </a:r>
            <a:r>
              <a:rPr lang="en-US" sz="1884" spc="-103">
                <a:solidFill>
                  <a:srgbClr val="D2D6F0"/>
                </a:solidFill>
                <a:latin typeface="Work Sans"/>
                <a:ea typeface="Work Sans"/>
                <a:cs typeface="Work Sans"/>
                <a:sym typeface="Work Sans"/>
              </a:rPr>
              <a:t> </a:t>
            </a:r>
            <a:r>
              <a:rPr lang="en-US" sz="1884" spc="-103">
                <a:solidFill>
                  <a:srgbClr val="D2D6F0"/>
                </a:solidFill>
                <a:latin typeface="Work Sans"/>
                <a:ea typeface="Work Sans"/>
                <a:cs typeface="Work Sans"/>
                <a:sym typeface="Work Sans"/>
              </a:rPr>
              <a:t>cos</a:t>
            </a:r>
            <a:r>
              <a:rPr lang="en-US" sz="1884" spc="-103">
                <a:solidFill>
                  <a:srgbClr val="D2D6F0"/>
                </a:solidFill>
                <a:latin typeface="Work Sans"/>
                <a:ea typeface="Work Sans"/>
                <a:cs typeface="Work Sans"/>
                <a:sym typeface="Work Sans"/>
              </a:rPr>
              <a:t>in</a:t>
            </a:r>
            <a:r>
              <a:rPr lang="en-US" sz="1884" spc="-103">
                <a:solidFill>
                  <a:srgbClr val="D2D6F0"/>
                </a:solidFill>
                <a:latin typeface="Work Sans"/>
                <a:ea typeface="Work Sans"/>
                <a:cs typeface="Work Sans"/>
                <a:sym typeface="Work Sans"/>
              </a:rPr>
              <a:t>e similari</a:t>
            </a:r>
            <a:r>
              <a:rPr lang="en-US" sz="1884" spc="-103">
                <a:solidFill>
                  <a:srgbClr val="D2D6F0"/>
                </a:solidFill>
                <a:latin typeface="Work Sans"/>
                <a:ea typeface="Work Sans"/>
                <a:cs typeface="Work Sans"/>
                <a:sym typeface="Work Sans"/>
              </a:rPr>
              <a:t>t</a:t>
            </a:r>
            <a:r>
              <a:rPr lang="en-US" sz="1884" spc="-103">
                <a:solidFill>
                  <a:srgbClr val="D2D6F0"/>
                </a:solidFill>
                <a:latin typeface="Work Sans"/>
                <a:ea typeface="Work Sans"/>
                <a:cs typeface="Work Sans"/>
                <a:sym typeface="Work Sans"/>
              </a:rPr>
              <a:t>y</a:t>
            </a:r>
            <a:r>
              <a:rPr lang="en-US" sz="1884" spc="-103">
                <a:solidFill>
                  <a:srgbClr val="D2D6F0"/>
                </a:solidFill>
                <a:latin typeface="Work Sans"/>
                <a:ea typeface="Work Sans"/>
                <a:cs typeface="Work Sans"/>
                <a:sym typeface="Work Sans"/>
              </a:rPr>
              <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42316A"/>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D2D6F0"/>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9881936" y="1190507"/>
            <a:ext cx="7153778" cy="7905985"/>
            <a:chOff x="0" y="0"/>
            <a:chExt cx="1935901" cy="2139458"/>
          </a:xfrm>
        </p:grpSpPr>
        <p:sp>
          <p:nvSpPr>
            <p:cNvPr name="Freeform 8" id="8"/>
            <p:cNvSpPr/>
            <p:nvPr/>
          </p:nvSpPr>
          <p:spPr>
            <a:xfrm flipH="false" flipV="false" rot="0">
              <a:off x="0" y="0"/>
              <a:ext cx="1935903" cy="2139471"/>
            </a:xfrm>
            <a:custGeom>
              <a:avLst/>
              <a:gdLst/>
              <a:ahLst/>
              <a:cxnLst/>
              <a:rect r="r" b="b" t="t" l="l"/>
              <a:pathLst>
                <a:path h="2139471" w="1935903">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0" t="-130" r="0" b="-130"/>
              </a:stretch>
            </a:blipFill>
          </p:spPr>
        </p:sp>
      </p:grpSp>
      <p:grpSp>
        <p:nvGrpSpPr>
          <p:cNvPr name="Group 9" id="9"/>
          <p:cNvGrpSpPr/>
          <p:nvPr/>
        </p:nvGrpSpPr>
        <p:grpSpPr>
          <a:xfrm rot="0">
            <a:off x="2105025" y="1562100"/>
            <a:ext cx="5448300" cy="5269338"/>
            <a:chOff x="0" y="0"/>
            <a:chExt cx="7264400" cy="7025784"/>
          </a:xfrm>
        </p:grpSpPr>
        <p:sp>
          <p:nvSpPr>
            <p:cNvPr name="TextBox 10" id="10"/>
            <p:cNvSpPr txBox="true"/>
            <p:nvPr/>
          </p:nvSpPr>
          <p:spPr>
            <a:xfrm rot="0">
              <a:off x="50129" y="4746769"/>
              <a:ext cx="7214271" cy="2279015"/>
            </a:xfrm>
            <a:prstGeom prst="rect">
              <a:avLst/>
            </a:prstGeom>
          </p:spPr>
          <p:txBody>
            <a:bodyPr anchor="t" rtlCol="false" tIns="0" lIns="0" bIns="0" rIns="0">
              <a:spAutoFit/>
            </a:bodyPr>
            <a:lstStyle/>
            <a:p>
              <a:pPr algn="l" marL="0" indent="0" lvl="0">
                <a:lnSpc>
                  <a:spcPts val="2730"/>
                </a:lnSpc>
              </a:pPr>
              <a:r>
                <a:rPr lang="en-US" sz="2100" spc="-115">
                  <a:solidFill>
                    <a:srgbClr val="D2D6F0"/>
                  </a:solidFill>
                  <a:latin typeface="Work Sans"/>
                  <a:ea typeface="Work Sans"/>
                  <a:cs typeface="Work Sans"/>
                  <a:sym typeface="Work Sans"/>
                </a:rPr>
                <a:t>The MoodMate system leverages  AI to </a:t>
              </a:r>
              <a:r>
                <a:rPr lang="en-US" b="true" sz="2100" spc="-115">
                  <a:solidFill>
                    <a:srgbClr val="D2D6F0"/>
                  </a:solidFill>
                  <a:latin typeface="Work Sans Bold"/>
                  <a:ea typeface="Work Sans Bold"/>
                  <a:cs typeface="Work Sans Bold"/>
                  <a:sym typeface="Work Sans Bold"/>
                </a:rPr>
                <a:t>detect user emotions</a:t>
              </a:r>
              <a:r>
                <a:rPr lang="en-US" sz="2100" spc="-115">
                  <a:solidFill>
                    <a:srgbClr val="D2D6F0"/>
                  </a:solidFill>
                  <a:latin typeface="Work Sans"/>
                  <a:ea typeface="Work Sans"/>
                  <a:cs typeface="Work Sans"/>
                  <a:sym typeface="Work Sans"/>
                </a:rPr>
                <a:t> through various inputs, automatically recommending personalized playlists that match their current mood for an enhanced listening experience.</a:t>
              </a:r>
            </a:p>
          </p:txBody>
        </p:sp>
        <p:sp>
          <p:nvSpPr>
            <p:cNvPr name="TextBox 11" id="11"/>
            <p:cNvSpPr txBox="true"/>
            <p:nvPr/>
          </p:nvSpPr>
          <p:spPr>
            <a:xfrm rot="0">
              <a:off x="0" y="133350"/>
              <a:ext cx="7264400" cy="24659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D2D6F0"/>
                  </a:solidFill>
                  <a:latin typeface="Work Sans Semi-Bold"/>
                  <a:ea typeface="Work Sans Semi-Bold"/>
                  <a:cs typeface="Work Sans Semi-Bold"/>
                  <a:sym typeface="Work Sans Semi-Bold"/>
                </a:rPr>
                <a:t>Proposed Solution</a:t>
              </a:r>
            </a:p>
          </p:txBody>
        </p:sp>
        <p:sp>
          <p:nvSpPr>
            <p:cNvPr name="TextBox 12" id="12"/>
            <p:cNvSpPr txBox="true"/>
            <p:nvPr/>
          </p:nvSpPr>
          <p:spPr>
            <a:xfrm rot="0">
              <a:off x="0" y="2919027"/>
              <a:ext cx="7264400" cy="1238250"/>
            </a:xfrm>
            <a:prstGeom prst="rect">
              <a:avLst/>
            </a:prstGeom>
          </p:spPr>
          <p:txBody>
            <a:bodyPr anchor="t" rtlCol="false" tIns="0" lIns="0" bIns="0" rIns="0">
              <a:spAutoFit/>
            </a:bodyPr>
            <a:lstStyle/>
            <a:p>
              <a:pPr algn="l" marL="0" indent="0" lvl="0">
                <a:lnSpc>
                  <a:spcPts val="3600"/>
                </a:lnSpc>
                <a:spcBef>
                  <a:spcPct val="0"/>
                </a:spcBef>
              </a:pPr>
              <a:r>
                <a:rPr lang="en-US" sz="3000" spc="-165" strike="noStrike" u="none">
                  <a:solidFill>
                    <a:srgbClr val="D2D6F0"/>
                  </a:solidFill>
                  <a:latin typeface="Work Sans"/>
                  <a:ea typeface="Work Sans"/>
                  <a:cs typeface="Work Sans"/>
                  <a:sym typeface="Work Sans"/>
                </a:rPr>
                <a:t>Emotion detection and music recommendation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71B4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2686050"/>
            <a:chOff x="0" y="0"/>
            <a:chExt cx="4987154" cy="790100"/>
          </a:xfrm>
        </p:grpSpPr>
        <p:sp>
          <p:nvSpPr>
            <p:cNvPr name="Freeform 3" id="3"/>
            <p:cNvSpPr/>
            <p:nvPr/>
          </p:nvSpPr>
          <p:spPr>
            <a:xfrm flipH="false" flipV="false" rot="0">
              <a:off x="0" y="0"/>
              <a:ext cx="4987156" cy="790100"/>
            </a:xfrm>
            <a:custGeom>
              <a:avLst/>
              <a:gdLst/>
              <a:ahLst/>
              <a:cxnLst/>
              <a:rect r="r" b="b" t="t" l="l"/>
              <a:pathLst>
                <a:path h="790100" w="4987156">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7A6FB3"/>
            </a:solidFill>
            <a:ln w="12700">
              <a:solidFill>
                <a:srgbClr val="000000"/>
              </a:solidFill>
            </a:ln>
          </p:spPr>
        </p:sp>
      </p:grpSp>
      <p:grpSp>
        <p:nvGrpSpPr>
          <p:cNvPr name="Group 4" id="4"/>
          <p:cNvGrpSpPr/>
          <p:nvPr/>
        </p:nvGrpSpPr>
        <p:grpSpPr>
          <a:xfrm rot="0">
            <a:off x="6419850" y="3657600"/>
            <a:ext cx="5448300" cy="2828925"/>
            <a:chOff x="0" y="0"/>
            <a:chExt cx="1434943" cy="745067"/>
          </a:xfrm>
        </p:grpSpPr>
        <p:sp>
          <p:nvSpPr>
            <p:cNvPr name="Freeform 5" id="5"/>
            <p:cNvSpPr/>
            <p:nvPr/>
          </p:nvSpPr>
          <p:spPr>
            <a:xfrm flipH="false" flipV="false" rot="0">
              <a:off x="0" y="0"/>
              <a:ext cx="1434943" cy="745067"/>
            </a:xfrm>
            <a:custGeom>
              <a:avLst/>
              <a:gdLst/>
              <a:ahLst/>
              <a:cxnLst/>
              <a:rect r="r" b="b" t="t" l="l"/>
              <a:pathLst>
                <a:path h="745067" w="1434943">
                  <a:moveTo>
                    <a:pt x="56839" y="0"/>
                  </a:moveTo>
                  <a:lnTo>
                    <a:pt x="1378104" y="0"/>
                  </a:lnTo>
                  <a:cubicBezTo>
                    <a:pt x="1409495" y="0"/>
                    <a:pt x="1434943" y="25448"/>
                    <a:pt x="1434943" y="56839"/>
                  </a:cubicBezTo>
                  <a:lnTo>
                    <a:pt x="1434943" y="688228"/>
                  </a:lnTo>
                  <a:cubicBezTo>
                    <a:pt x="1434943" y="719619"/>
                    <a:pt x="1409495" y="745067"/>
                    <a:pt x="1378104" y="745067"/>
                  </a:cubicBezTo>
                  <a:lnTo>
                    <a:pt x="56839" y="745067"/>
                  </a:lnTo>
                  <a:cubicBezTo>
                    <a:pt x="25448" y="745067"/>
                    <a:pt x="0" y="719619"/>
                    <a:pt x="0" y="688228"/>
                  </a:cubicBezTo>
                  <a:lnTo>
                    <a:pt x="0" y="56839"/>
                  </a:lnTo>
                  <a:cubicBezTo>
                    <a:pt x="0" y="25448"/>
                    <a:pt x="25448" y="0"/>
                    <a:pt x="56839" y="0"/>
                  </a:cubicBezTo>
                  <a:close/>
                </a:path>
              </a:pathLst>
            </a:custGeom>
            <a:solidFill>
              <a:srgbClr val="7A6FB3"/>
            </a:solidFill>
          </p:spPr>
        </p:sp>
        <p:sp>
          <p:nvSpPr>
            <p:cNvPr name="TextBox 6" id="6"/>
            <p:cNvSpPr txBox="true"/>
            <p:nvPr/>
          </p:nvSpPr>
          <p:spPr>
            <a:xfrm>
              <a:off x="0" y="-57150"/>
              <a:ext cx="1434943" cy="802217"/>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666750" y="3657600"/>
            <a:ext cx="5448300" cy="2828925"/>
            <a:chOff x="0" y="0"/>
            <a:chExt cx="1434943" cy="745067"/>
          </a:xfrm>
        </p:grpSpPr>
        <p:sp>
          <p:nvSpPr>
            <p:cNvPr name="Freeform 8" id="8"/>
            <p:cNvSpPr/>
            <p:nvPr/>
          </p:nvSpPr>
          <p:spPr>
            <a:xfrm flipH="false" flipV="false" rot="0">
              <a:off x="0" y="0"/>
              <a:ext cx="1434943" cy="745067"/>
            </a:xfrm>
            <a:custGeom>
              <a:avLst/>
              <a:gdLst/>
              <a:ahLst/>
              <a:cxnLst/>
              <a:rect r="r" b="b" t="t" l="l"/>
              <a:pathLst>
                <a:path h="745067" w="1434943">
                  <a:moveTo>
                    <a:pt x="56839" y="0"/>
                  </a:moveTo>
                  <a:lnTo>
                    <a:pt x="1378104" y="0"/>
                  </a:lnTo>
                  <a:cubicBezTo>
                    <a:pt x="1409495" y="0"/>
                    <a:pt x="1434943" y="25448"/>
                    <a:pt x="1434943" y="56839"/>
                  </a:cubicBezTo>
                  <a:lnTo>
                    <a:pt x="1434943" y="688228"/>
                  </a:lnTo>
                  <a:cubicBezTo>
                    <a:pt x="1434943" y="719619"/>
                    <a:pt x="1409495" y="745067"/>
                    <a:pt x="1378104" y="745067"/>
                  </a:cubicBezTo>
                  <a:lnTo>
                    <a:pt x="56839" y="745067"/>
                  </a:lnTo>
                  <a:cubicBezTo>
                    <a:pt x="25448" y="745067"/>
                    <a:pt x="0" y="719619"/>
                    <a:pt x="0" y="688228"/>
                  </a:cubicBezTo>
                  <a:lnTo>
                    <a:pt x="0" y="56839"/>
                  </a:lnTo>
                  <a:cubicBezTo>
                    <a:pt x="0" y="25448"/>
                    <a:pt x="25448" y="0"/>
                    <a:pt x="56839" y="0"/>
                  </a:cubicBezTo>
                  <a:close/>
                </a:path>
              </a:pathLst>
            </a:custGeom>
            <a:solidFill>
              <a:srgbClr val="7A6FB3"/>
            </a:solidFill>
          </p:spPr>
        </p:sp>
        <p:sp>
          <p:nvSpPr>
            <p:cNvPr name="TextBox 9" id="9"/>
            <p:cNvSpPr txBox="true"/>
            <p:nvPr/>
          </p:nvSpPr>
          <p:spPr>
            <a:xfrm>
              <a:off x="0" y="-57150"/>
              <a:ext cx="1434943" cy="802217"/>
            </a:xfrm>
            <a:prstGeom prst="rect">
              <a:avLst/>
            </a:prstGeom>
          </p:spPr>
          <p:txBody>
            <a:bodyPr anchor="ctr" rtlCol="false" tIns="50800" lIns="50800" bIns="50800" rIns="50800"/>
            <a:lstStyle/>
            <a:p>
              <a:pPr algn="ctr">
                <a:lnSpc>
                  <a:spcPts val="3359"/>
                </a:lnSpc>
              </a:pPr>
            </a:p>
          </p:txBody>
        </p:sp>
      </p:grpSp>
      <p:grpSp>
        <p:nvGrpSpPr>
          <p:cNvPr name="Group 10" id="10"/>
          <p:cNvGrpSpPr/>
          <p:nvPr/>
        </p:nvGrpSpPr>
        <p:grpSpPr>
          <a:xfrm rot="0">
            <a:off x="6419850" y="6791325"/>
            <a:ext cx="5448300" cy="2828925"/>
            <a:chOff x="0" y="0"/>
            <a:chExt cx="1434943" cy="745067"/>
          </a:xfrm>
        </p:grpSpPr>
        <p:sp>
          <p:nvSpPr>
            <p:cNvPr name="Freeform 11" id="11"/>
            <p:cNvSpPr/>
            <p:nvPr/>
          </p:nvSpPr>
          <p:spPr>
            <a:xfrm flipH="false" flipV="false" rot="0">
              <a:off x="0" y="0"/>
              <a:ext cx="1434943" cy="745067"/>
            </a:xfrm>
            <a:custGeom>
              <a:avLst/>
              <a:gdLst/>
              <a:ahLst/>
              <a:cxnLst/>
              <a:rect r="r" b="b" t="t" l="l"/>
              <a:pathLst>
                <a:path h="745067" w="1434943">
                  <a:moveTo>
                    <a:pt x="56839" y="0"/>
                  </a:moveTo>
                  <a:lnTo>
                    <a:pt x="1378104" y="0"/>
                  </a:lnTo>
                  <a:cubicBezTo>
                    <a:pt x="1409495" y="0"/>
                    <a:pt x="1434943" y="25448"/>
                    <a:pt x="1434943" y="56839"/>
                  </a:cubicBezTo>
                  <a:lnTo>
                    <a:pt x="1434943" y="688228"/>
                  </a:lnTo>
                  <a:cubicBezTo>
                    <a:pt x="1434943" y="719619"/>
                    <a:pt x="1409495" y="745067"/>
                    <a:pt x="1378104" y="745067"/>
                  </a:cubicBezTo>
                  <a:lnTo>
                    <a:pt x="56839" y="745067"/>
                  </a:lnTo>
                  <a:cubicBezTo>
                    <a:pt x="25448" y="745067"/>
                    <a:pt x="0" y="719619"/>
                    <a:pt x="0" y="688228"/>
                  </a:cubicBezTo>
                  <a:lnTo>
                    <a:pt x="0" y="56839"/>
                  </a:lnTo>
                  <a:cubicBezTo>
                    <a:pt x="0" y="25448"/>
                    <a:pt x="25448" y="0"/>
                    <a:pt x="56839" y="0"/>
                  </a:cubicBezTo>
                  <a:close/>
                </a:path>
              </a:pathLst>
            </a:custGeom>
            <a:solidFill>
              <a:srgbClr val="7A6FB3"/>
            </a:solidFill>
          </p:spPr>
        </p:sp>
        <p:sp>
          <p:nvSpPr>
            <p:cNvPr name="TextBox 12" id="12"/>
            <p:cNvSpPr txBox="true"/>
            <p:nvPr/>
          </p:nvSpPr>
          <p:spPr>
            <a:xfrm>
              <a:off x="0" y="-57150"/>
              <a:ext cx="1434943" cy="802217"/>
            </a:xfrm>
            <a:prstGeom prst="rect">
              <a:avLst/>
            </a:prstGeom>
          </p:spPr>
          <p:txBody>
            <a:bodyPr anchor="ctr" rtlCol="false" tIns="50800" lIns="50800" bIns="50800" rIns="50800"/>
            <a:lstStyle/>
            <a:p>
              <a:pPr algn="ctr">
                <a:lnSpc>
                  <a:spcPts val="3359"/>
                </a:lnSpc>
              </a:pPr>
            </a:p>
          </p:txBody>
        </p:sp>
      </p:grpSp>
      <p:grpSp>
        <p:nvGrpSpPr>
          <p:cNvPr name="Group 13" id="13"/>
          <p:cNvGrpSpPr/>
          <p:nvPr/>
        </p:nvGrpSpPr>
        <p:grpSpPr>
          <a:xfrm rot="0">
            <a:off x="666750" y="6791325"/>
            <a:ext cx="5448300" cy="2828925"/>
            <a:chOff x="0" y="0"/>
            <a:chExt cx="1434943" cy="745067"/>
          </a:xfrm>
        </p:grpSpPr>
        <p:sp>
          <p:nvSpPr>
            <p:cNvPr name="Freeform 14" id="14"/>
            <p:cNvSpPr/>
            <p:nvPr/>
          </p:nvSpPr>
          <p:spPr>
            <a:xfrm flipH="false" flipV="false" rot="0">
              <a:off x="0" y="0"/>
              <a:ext cx="1434943" cy="745067"/>
            </a:xfrm>
            <a:custGeom>
              <a:avLst/>
              <a:gdLst/>
              <a:ahLst/>
              <a:cxnLst/>
              <a:rect r="r" b="b" t="t" l="l"/>
              <a:pathLst>
                <a:path h="745067" w="1434943">
                  <a:moveTo>
                    <a:pt x="56839" y="0"/>
                  </a:moveTo>
                  <a:lnTo>
                    <a:pt x="1378104" y="0"/>
                  </a:lnTo>
                  <a:cubicBezTo>
                    <a:pt x="1409495" y="0"/>
                    <a:pt x="1434943" y="25448"/>
                    <a:pt x="1434943" y="56839"/>
                  </a:cubicBezTo>
                  <a:lnTo>
                    <a:pt x="1434943" y="688228"/>
                  </a:lnTo>
                  <a:cubicBezTo>
                    <a:pt x="1434943" y="719619"/>
                    <a:pt x="1409495" y="745067"/>
                    <a:pt x="1378104" y="745067"/>
                  </a:cubicBezTo>
                  <a:lnTo>
                    <a:pt x="56839" y="745067"/>
                  </a:lnTo>
                  <a:cubicBezTo>
                    <a:pt x="25448" y="745067"/>
                    <a:pt x="0" y="719619"/>
                    <a:pt x="0" y="688228"/>
                  </a:cubicBezTo>
                  <a:lnTo>
                    <a:pt x="0" y="56839"/>
                  </a:lnTo>
                  <a:cubicBezTo>
                    <a:pt x="0" y="25448"/>
                    <a:pt x="25448" y="0"/>
                    <a:pt x="56839" y="0"/>
                  </a:cubicBezTo>
                  <a:close/>
                </a:path>
              </a:pathLst>
            </a:custGeom>
            <a:solidFill>
              <a:srgbClr val="7A6FB3"/>
            </a:solidFill>
          </p:spPr>
        </p:sp>
        <p:sp>
          <p:nvSpPr>
            <p:cNvPr name="TextBox 15" id="15"/>
            <p:cNvSpPr txBox="true"/>
            <p:nvPr/>
          </p:nvSpPr>
          <p:spPr>
            <a:xfrm>
              <a:off x="0" y="-57150"/>
              <a:ext cx="1434943" cy="802217"/>
            </a:xfrm>
            <a:prstGeom prst="rect">
              <a:avLst/>
            </a:prstGeom>
          </p:spPr>
          <p:txBody>
            <a:bodyPr anchor="ctr" rtlCol="false" tIns="50800" lIns="50800" bIns="50800" rIns="50800"/>
            <a:lstStyle/>
            <a:p>
              <a:pPr algn="ctr">
                <a:lnSpc>
                  <a:spcPts val="3359"/>
                </a:lnSpc>
              </a:pPr>
            </a:p>
          </p:txBody>
        </p:sp>
      </p:grpSp>
      <p:sp>
        <p:nvSpPr>
          <p:cNvPr name="Freeform 16" id="16"/>
          <p:cNvSpPr/>
          <p:nvPr/>
        </p:nvSpPr>
        <p:spPr>
          <a:xfrm flipH="false" flipV="false" rot="0">
            <a:off x="7092791" y="4248150"/>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0">
            <a:off x="1339691" y="4248150"/>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7092791" y="7381875"/>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0">
            <a:off x="1339691" y="7381875"/>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20" id="20"/>
          <p:cNvGrpSpPr/>
          <p:nvPr/>
        </p:nvGrpSpPr>
        <p:grpSpPr>
          <a:xfrm rot="0">
            <a:off x="12172950" y="3657600"/>
            <a:ext cx="5448300" cy="2828925"/>
            <a:chOff x="0" y="0"/>
            <a:chExt cx="1434943" cy="745067"/>
          </a:xfrm>
        </p:grpSpPr>
        <p:sp>
          <p:nvSpPr>
            <p:cNvPr name="Freeform 21" id="21"/>
            <p:cNvSpPr/>
            <p:nvPr/>
          </p:nvSpPr>
          <p:spPr>
            <a:xfrm flipH="false" flipV="false" rot="0">
              <a:off x="0" y="0"/>
              <a:ext cx="1434943" cy="745067"/>
            </a:xfrm>
            <a:custGeom>
              <a:avLst/>
              <a:gdLst/>
              <a:ahLst/>
              <a:cxnLst/>
              <a:rect r="r" b="b" t="t" l="l"/>
              <a:pathLst>
                <a:path h="745067" w="1434943">
                  <a:moveTo>
                    <a:pt x="56839" y="0"/>
                  </a:moveTo>
                  <a:lnTo>
                    <a:pt x="1378104" y="0"/>
                  </a:lnTo>
                  <a:cubicBezTo>
                    <a:pt x="1409495" y="0"/>
                    <a:pt x="1434943" y="25448"/>
                    <a:pt x="1434943" y="56839"/>
                  </a:cubicBezTo>
                  <a:lnTo>
                    <a:pt x="1434943" y="688228"/>
                  </a:lnTo>
                  <a:cubicBezTo>
                    <a:pt x="1434943" y="719619"/>
                    <a:pt x="1409495" y="745067"/>
                    <a:pt x="1378104" y="745067"/>
                  </a:cubicBezTo>
                  <a:lnTo>
                    <a:pt x="56839" y="745067"/>
                  </a:lnTo>
                  <a:cubicBezTo>
                    <a:pt x="25448" y="745067"/>
                    <a:pt x="0" y="719619"/>
                    <a:pt x="0" y="688228"/>
                  </a:cubicBezTo>
                  <a:lnTo>
                    <a:pt x="0" y="56839"/>
                  </a:lnTo>
                  <a:cubicBezTo>
                    <a:pt x="0" y="25448"/>
                    <a:pt x="25448" y="0"/>
                    <a:pt x="56839" y="0"/>
                  </a:cubicBezTo>
                  <a:close/>
                </a:path>
              </a:pathLst>
            </a:custGeom>
            <a:solidFill>
              <a:srgbClr val="7A6FB3"/>
            </a:solidFill>
          </p:spPr>
        </p:sp>
        <p:sp>
          <p:nvSpPr>
            <p:cNvPr name="TextBox 22" id="22"/>
            <p:cNvSpPr txBox="true"/>
            <p:nvPr/>
          </p:nvSpPr>
          <p:spPr>
            <a:xfrm>
              <a:off x="0" y="-57150"/>
              <a:ext cx="1434943" cy="802217"/>
            </a:xfrm>
            <a:prstGeom prst="rect">
              <a:avLst/>
            </a:prstGeom>
          </p:spPr>
          <p:txBody>
            <a:bodyPr anchor="ctr" rtlCol="false" tIns="50800" lIns="50800" bIns="50800" rIns="50800"/>
            <a:lstStyle/>
            <a:p>
              <a:pPr algn="ctr">
                <a:lnSpc>
                  <a:spcPts val="3359"/>
                </a:lnSpc>
              </a:pPr>
            </a:p>
          </p:txBody>
        </p:sp>
      </p:grpSp>
      <p:grpSp>
        <p:nvGrpSpPr>
          <p:cNvPr name="Group 23" id="23"/>
          <p:cNvGrpSpPr/>
          <p:nvPr/>
        </p:nvGrpSpPr>
        <p:grpSpPr>
          <a:xfrm rot="0">
            <a:off x="12172950" y="6791325"/>
            <a:ext cx="5448300" cy="2828925"/>
            <a:chOff x="0" y="0"/>
            <a:chExt cx="1434943" cy="745067"/>
          </a:xfrm>
        </p:grpSpPr>
        <p:sp>
          <p:nvSpPr>
            <p:cNvPr name="Freeform 24" id="24"/>
            <p:cNvSpPr/>
            <p:nvPr/>
          </p:nvSpPr>
          <p:spPr>
            <a:xfrm flipH="false" flipV="false" rot="0">
              <a:off x="0" y="0"/>
              <a:ext cx="1434943" cy="745067"/>
            </a:xfrm>
            <a:custGeom>
              <a:avLst/>
              <a:gdLst/>
              <a:ahLst/>
              <a:cxnLst/>
              <a:rect r="r" b="b" t="t" l="l"/>
              <a:pathLst>
                <a:path h="745067" w="1434943">
                  <a:moveTo>
                    <a:pt x="56839" y="0"/>
                  </a:moveTo>
                  <a:lnTo>
                    <a:pt x="1378104" y="0"/>
                  </a:lnTo>
                  <a:cubicBezTo>
                    <a:pt x="1409495" y="0"/>
                    <a:pt x="1434943" y="25448"/>
                    <a:pt x="1434943" y="56839"/>
                  </a:cubicBezTo>
                  <a:lnTo>
                    <a:pt x="1434943" y="688228"/>
                  </a:lnTo>
                  <a:cubicBezTo>
                    <a:pt x="1434943" y="719619"/>
                    <a:pt x="1409495" y="745067"/>
                    <a:pt x="1378104" y="745067"/>
                  </a:cubicBezTo>
                  <a:lnTo>
                    <a:pt x="56839" y="745067"/>
                  </a:lnTo>
                  <a:cubicBezTo>
                    <a:pt x="25448" y="745067"/>
                    <a:pt x="0" y="719619"/>
                    <a:pt x="0" y="688228"/>
                  </a:cubicBezTo>
                  <a:lnTo>
                    <a:pt x="0" y="56839"/>
                  </a:lnTo>
                  <a:cubicBezTo>
                    <a:pt x="0" y="25448"/>
                    <a:pt x="25448" y="0"/>
                    <a:pt x="56839" y="0"/>
                  </a:cubicBezTo>
                  <a:close/>
                </a:path>
              </a:pathLst>
            </a:custGeom>
            <a:solidFill>
              <a:srgbClr val="7A6FB3"/>
            </a:solidFill>
          </p:spPr>
        </p:sp>
        <p:sp>
          <p:nvSpPr>
            <p:cNvPr name="TextBox 25" id="25"/>
            <p:cNvSpPr txBox="true"/>
            <p:nvPr/>
          </p:nvSpPr>
          <p:spPr>
            <a:xfrm>
              <a:off x="0" y="-57150"/>
              <a:ext cx="1434943" cy="802217"/>
            </a:xfrm>
            <a:prstGeom prst="rect">
              <a:avLst/>
            </a:prstGeom>
          </p:spPr>
          <p:txBody>
            <a:bodyPr anchor="ctr" rtlCol="false" tIns="50800" lIns="50800" bIns="50800" rIns="50800"/>
            <a:lstStyle/>
            <a:p>
              <a:pPr algn="ctr">
                <a:lnSpc>
                  <a:spcPts val="3359"/>
                </a:lnSpc>
              </a:pPr>
            </a:p>
          </p:txBody>
        </p:sp>
      </p:grpSp>
      <p:sp>
        <p:nvSpPr>
          <p:cNvPr name="Freeform 26" id="26"/>
          <p:cNvSpPr/>
          <p:nvPr/>
        </p:nvSpPr>
        <p:spPr>
          <a:xfrm flipH="false" flipV="false" rot="0">
            <a:off x="12825820" y="4248150"/>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7" id="27"/>
          <p:cNvSpPr/>
          <p:nvPr/>
        </p:nvSpPr>
        <p:spPr>
          <a:xfrm flipH="false" flipV="false" rot="0">
            <a:off x="12825820" y="7381875"/>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8" id="28"/>
          <p:cNvSpPr txBox="true"/>
          <p:nvPr/>
        </p:nvSpPr>
        <p:spPr>
          <a:xfrm rot="0">
            <a:off x="2105025" y="1641475"/>
            <a:ext cx="14077950" cy="898525"/>
          </a:xfrm>
          <a:prstGeom prst="rect">
            <a:avLst/>
          </a:prstGeom>
        </p:spPr>
        <p:txBody>
          <a:bodyPr anchor="t" rtlCol="false" tIns="0" lIns="0" bIns="0" rIns="0">
            <a:spAutoFit/>
          </a:bodyPr>
          <a:lstStyle/>
          <a:p>
            <a:pPr algn="l" marL="0" indent="0" lvl="0">
              <a:lnSpc>
                <a:spcPts val="6649"/>
              </a:lnSpc>
              <a:spcBef>
                <a:spcPct val="0"/>
              </a:spcBef>
            </a:pPr>
            <a:r>
              <a:rPr lang="en-US" b="true" sz="6999" spc="-384" strike="noStrike" u="none">
                <a:solidFill>
                  <a:srgbClr val="D2D6F0"/>
                </a:solidFill>
                <a:latin typeface="Work Sans Semi-Bold"/>
                <a:ea typeface="Work Sans Semi-Bold"/>
                <a:cs typeface="Work Sans Semi-Bold"/>
                <a:sym typeface="Work Sans Semi-Bold"/>
              </a:rPr>
              <a:t>Key Features</a:t>
            </a:r>
          </a:p>
        </p:txBody>
      </p:sp>
      <p:grpSp>
        <p:nvGrpSpPr>
          <p:cNvPr name="Group 29" id="29"/>
          <p:cNvGrpSpPr/>
          <p:nvPr/>
        </p:nvGrpSpPr>
        <p:grpSpPr>
          <a:xfrm rot="0">
            <a:off x="7858125" y="4248150"/>
            <a:ext cx="3530082" cy="1652693"/>
            <a:chOff x="0" y="0"/>
            <a:chExt cx="4706777" cy="2203590"/>
          </a:xfrm>
        </p:grpSpPr>
        <p:sp>
          <p:nvSpPr>
            <p:cNvPr name="TextBox 30" id="30"/>
            <p:cNvSpPr txBox="true"/>
            <p:nvPr/>
          </p:nvSpPr>
          <p:spPr>
            <a:xfrm rot="0">
              <a:off x="0" y="-9525"/>
              <a:ext cx="4706777" cy="1203325"/>
            </a:xfrm>
            <a:prstGeom prst="rect">
              <a:avLst/>
            </a:prstGeom>
          </p:spPr>
          <p:txBody>
            <a:bodyPr anchor="t" rtlCol="false" tIns="0" lIns="0" bIns="0" rIns="0">
              <a:spAutoFit/>
            </a:bodyPr>
            <a:lstStyle/>
            <a:p>
              <a:pPr algn="l" marL="0" indent="0" lvl="0">
                <a:lnSpc>
                  <a:spcPts val="3554"/>
                </a:lnSpc>
                <a:spcBef>
                  <a:spcPct val="0"/>
                </a:spcBef>
              </a:pPr>
              <a:r>
                <a:rPr lang="en-US" b="true" sz="2962" spc="-162" strike="noStrike" u="none">
                  <a:solidFill>
                    <a:srgbClr val="D2D6F0"/>
                  </a:solidFill>
                  <a:latin typeface="Work Sans Semi-Bold"/>
                  <a:ea typeface="Work Sans Semi-Bold"/>
                  <a:cs typeface="Work Sans Semi-Bold"/>
                  <a:sym typeface="Work Sans Semi-Bold"/>
                </a:rPr>
                <a:t>AI Emotion Classification</a:t>
              </a:r>
            </a:p>
          </p:txBody>
        </p:sp>
        <p:sp>
          <p:nvSpPr>
            <p:cNvPr name="TextBox 31" id="31"/>
            <p:cNvSpPr txBox="true"/>
            <p:nvPr/>
          </p:nvSpPr>
          <p:spPr>
            <a:xfrm rot="0">
              <a:off x="0" y="1432065"/>
              <a:ext cx="4706777" cy="771525"/>
            </a:xfrm>
            <a:prstGeom prst="rect">
              <a:avLst/>
            </a:prstGeom>
          </p:spPr>
          <p:txBody>
            <a:bodyPr anchor="t" rtlCol="false" tIns="0" lIns="0" bIns="0" rIns="0">
              <a:spAutoFit/>
            </a:bodyPr>
            <a:lstStyle/>
            <a:p>
              <a:pPr algn="l" marL="0" indent="0" lvl="0">
                <a:lnSpc>
                  <a:spcPts val="2268"/>
                </a:lnSpc>
              </a:pPr>
              <a:r>
                <a:rPr lang="en-US" sz="1890" spc="-103">
                  <a:solidFill>
                    <a:srgbClr val="D2D6F0"/>
                  </a:solidFill>
                  <a:latin typeface="Work Sans"/>
                  <a:ea typeface="Work Sans"/>
                  <a:cs typeface="Work Sans"/>
                  <a:sym typeface="Work Sans"/>
                </a:rPr>
                <a:t>Accurately classifies emotions for personalized recommendations.</a:t>
              </a:r>
            </a:p>
          </p:txBody>
        </p:sp>
      </p:grpSp>
      <p:grpSp>
        <p:nvGrpSpPr>
          <p:cNvPr name="Group 32" id="32"/>
          <p:cNvGrpSpPr/>
          <p:nvPr/>
        </p:nvGrpSpPr>
        <p:grpSpPr>
          <a:xfrm rot="0">
            <a:off x="2105025" y="4248150"/>
            <a:ext cx="3530082" cy="1652693"/>
            <a:chOff x="0" y="0"/>
            <a:chExt cx="4706777" cy="2203590"/>
          </a:xfrm>
        </p:grpSpPr>
        <p:sp>
          <p:nvSpPr>
            <p:cNvPr name="TextBox 33" id="33"/>
            <p:cNvSpPr txBox="true"/>
            <p:nvPr/>
          </p:nvSpPr>
          <p:spPr>
            <a:xfrm rot="0">
              <a:off x="0" y="-9525"/>
              <a:ext cx="4706777" cy="1203325"/>
            </a:xfrm>
            <a:prstGeom prst="rect">
              <a:avLst/>
            </a:prstGeom>
          </p:spPr>
          <p:txBody>
            <a:bodyPr anchor="t" rtlCol="false" tIns="0" lIns="0" bIns="0" rIns="0">
              <a:spAutoFit/>
            </a:bodyPr>
            <a:lstStyle/>
            <a:p>
              <a:pPr algn="l" marL="0" indent="0" lvl="0">
                <a:lnSpc>
                  <a:spcPts val="3554"/>
                </a:lnSpc>
                <a:spcBef>
                  <a:spcPct val="0"/>
                </a:spcBef>
              </a:pPr>
              <a:r>
                <a:rPr lang="en-US" b="true" sz="2962" spc="-162" strike="noStrike" u="none">
                  <a:solidFill>
                    <a:srgbClr val="D2D6F0"/>
                  </a:solidFill>
                  <a:latin typeface="Work Sans Semi-Bold"/>
                  <a:ea typeface="Work Sans Semi-Bold"/>
                  <a:cs typeface="Work Sans Semi-Bold"/>
                  <a:sym typeface="Work Sans Semi-Bold"/>
                </a:rPr>
                <a:t>Multi-Input Detection</a:t>
              </a:r>
            </a:p>
          </p:txBody>
        </p:sp>
        <p:sp>
          <p:nvSpPr>
            <p:cNvPr name="TextBox 34" id="34"/>
            <p:cNvSpPr txBox="true"/>
            <p:nvPr/>
          </p:nvSpPr>
          <p:spPr>
            <a:xfrm rot="0">
              <a:off x="0" y="1432065"/>
              <a:ext cx="4706777" cy="771525"/>
            </a:xfrm>
            <a:prstGeom prst="rect">
              <a:avLst/>
            </a:prstGeom>
          </p:spPr>
          <p:txBody>
            <a:bodyPr anchor="t" rtlCol="false" tIns="0" lIns="0" bIns="0" rIns="0">
              <a:spAutoFit/>
            </a:bodyPr>
            <a:lstStyle/>
            <a:p>
              <a:pPr algn="l" marL="0" indent="0" lvl="0">
                <a:lnSpc>
                  <a:spcPts val="2268"/>
                </a:lnSpc>
              </a:pPr>
              <a:r>
                <a:rPr lang="en-US" sz="1890" spc="-103">
                  <a:solidFill>
                    <a:srgbClr val="D2D6F0"/>
                  </a:solidFill>
                  <a:latin typeface="Work Sans"/>
                  <a:ea typeface="Work Sans"/>
                  <a:cs typeface="Work Sans"/>
                  <a:sym typeface="Work Sans"/>
                </a:rPr>
                <a:t>Supports text, image, and webcam for emotion detection.</a:t>
              </a:r>
            </a:p>
          </p:txBody>
        </p:sp>
      </p:grpSp>
      <p:grpSp>
        <p:nvGrpSpPr>
          <p:cNvPr name="Group 35" id="35"/>
          <p:cNvGrpSpPr/>
          <p:nvPr/>
        </p:nvGrpSpPr>
        <p:grpSpPr>
          <a:xfrm rot="0">
            <a:off x="7858125" y="7381875"/>
            <a:ext cx="3530082" cy="1652693"/>
            <a:chOff x="0" y="0"/>
            <a:chExt cx="4706777" cy="2203590"/>
          </a:xfrm>
        </p:grpSpPr>
        <p:sp>
          <p:nvSpPr>
            <p:cNvPr name="TextBox 36" id="36"/>
            <p:cNvSpPr txBox="true"/>
            <p:nvPr/>
          </p:nvSpPr>
          <p:spPr>
            <a:xfrm rot="0">
              <a:off x="0" y="-9525"/>
              <a:ext cx="4706777" cy="1203325"/>
            </a:xfrm>
            <a:prstGeom prst="rect">
              <a:avLst/>
            </a:prstGeom>
          </p:spPr>
          <p:txBody>
            <a:bodyPr anchor="t" rtlCol="false" tIns="0" lIns="0" bIns="0" rIns="0">
              <a:spAutoFit/>
            </a:bodyPr>
            <a:lstStyle/>
            <a:p>
              <a:pPr algn="l" marL="0" indent="0" lvl="0">
                <a:lnSpc>
                  <a:spcPts val="3554"/>
                </a:lnSpc>
                <a:spcBef>
                  <a:spcPct val="0"/>
                </a:spcBef>
              </a:pPr>
              <a:r>
                <a:rPr lang="en-US" b="true" sz="2962" spc="-162" strike="noStrike" u="none">
                  <a:solidFill>
                    <a:srgbClr val="D2D6F0"/>
                  </a:solidFill>
                  <a:latin typeface="Work Sans Semi-Bold"/>
                  <a:ea typeface="Work Sans Semi-Bold"/>
                  <a:cs typeface="Work Sans Semi-Bold"/>
                  <a:sym typeface="Work Sans Semi-Bold"/>
                </a:rPr>
                <a:t>Emotion Confidence Meter</a:t>
              </a:r>
            </a:p>
          </p:txBody>
        </p:sp>
        <p:sp>
          <p:nvSpPr>
            <p:cNvPr name="TextBox 37" id="37"/>
            <p:cNvSpPr txBox="true"/>
            <p:nvPr/>
          </p:nvSpPr>
          <p:spPr>
            <a:xfrm rot="0">
              <a:off x="0" y="1432065"/>
              <a:ext cx="4706777" cy="771525"/>
            </a:xfrm>
            <a:prstGeom prst="rect">
              <a:avLst/>
            </a:prstGeom>
          </p:spPr>
          <p:txBody>
            <a:bodyPr anchor="t" rtlCol="false" tIns="0" lIns="0" bIns="0" rIns="0">
              <a:spAutoFit/>
            </a:bodyPr>
            <a:lstStyle/>
            <a:p>
              <a:pPr algn="l" marL="0" indent="0" lvl="0">
                <a:lnSpc>
                  <a:spcPts val="2268"/>
                </a:lnSpc>
              </a:pPr>
              <a:r>
                <a:rPr lang="en-US" sz="1890" spc="-103">
                  <a:solidFill>
                    <a:srgbClr val="D2D6F0"/>
                  </a:solidFill>
                  <a:latin typeface="Work Sans"/>
                  <a:ea typeface="Work Sans"/>
                  <a:cs typeface="Work Sans"/>
                  <a:sym typeface="Work Sans"/>
                </a:rPr>
                <a:t>Displays confidence levels for detected emotions in real-time.</a:t>
              </a:r>
            </a:p>
          </p:txBody>
        </p:sp>
      </p:grpSp>
      <p:grpSp>
        <p:nvGrpSpPr>
          <p:cNvPr name="Group 38" id="38"/>
          <p:cNvGrpSpPr/>
          <p:nvPr/>
        </p:nvGrpSpPr>
        <p:grpSpPr>
          <a:xfrm rot="0">
            <a:off x="2105025" y="7381875"/>
            <a:ext cx="3530082" cy="1938443"/>
            <a:chOff x="0" y="0"/>
            <a:chExt cx="4706777" cy="2584590"/>
          </a:xfrm>
        </p:grpSpPr>
        <p:sp>
          <p:nvSpPr>
            <p:cNvPr name="TextBox 39" id="39"/>
            <p:cNvSpPr txBox="true"/>
            <p:nvPr/>
          </p:nvSpPr>
          <p:spPr>
            <a:xfrm rot="0">
              <a:off x="0" y="-9525"/>
              <a:ext cx="4706777" cy="1203325"/>
            </a:xfrm>
            <a:prstGeom prst="rect">
              <a:avLst/>
            </a:prstGeom>
          </p:spPr>
          <p:txBody>
            <a:bodyPr anchor="t" rtlCol="false" tIns="0" lIns="0" bIns="0" rIns="0">
              <a:spAutoFit/>
            </a:bodyPr>
            <a:lstStyle/>
            <a:p>
              <a:pPr algn="l" marL="0" indent="0" lvl="0">
                <a:lnSpc>
                  <a:spcPts val="3554"/>
                </a:lnSpc>
                <a:spcBef>
                  <a:spcPct val="0"/>
                </a:spcBef>
              </a:pPr>
              <a:r>
                <a:rPr lang="en-US" b="true" sz="2962" spc="-162" strike="noStrike" u="none">
                  <a:solidFill>
                    <a:srgbClr val="D2D6F0"/>
                  </a:solidFill>
                  <a:latin typeface="Work Sans Semi-Bold"/>
                  <a:ea typeface="Work Sans Semi-Bold"/>
                  <a:cs typeface="Work Sans Semi-Bold"/>
                  <a:sym typeface="Work Sans Semi-Bold"/>
                </a:rPr>
                <a:t>External Music Integration</a:t>
              </a:r>
            </a:p>
          </p:txBody>
        </p:sp>
        <p:sp>
          <p:nvSpPr>
            <p:cNvPr name="TextBox 40" id="40"/>
            <p:cNvSpPr txBox="true"/>
            <p:nvPr/>
          </p:nvSpPr>
          <p:spPr>
            <a:xfrm rot="0">
              <a:off x="0" y="1432065"/>
              <a:ext cx="4706777" cy="1152525"/>
            </a:xfrm>
            <a:prstGeom prst="rect">
              <a:avLst/>
            </a:prstGeom>
          </p:spPr>
          <p:txBody>
            <a:bodyPr anchor="t" rtlCol="false" tIns="0" lIns="0" bIns="0" rIns="0">
              <a:spAutoFit/>
            </a:bodyPr>
            <a:lstStyle/>
            <a:p>
              <a:pPr algn="l" marL="0" indent="0" lvl="0">
                <a:lnSpc>
                  <a:spcPts val="2268"/>
                </a:lnSpc>
              </a:pPr>
              <a:r>
                <a:rPr lang="en-US" sz="1890" spc="-103">
                  <a:solidFill>
                    <a:srgbClr val="D2D6F0"/>
                  </a:solidFill>
                  <a:latin typeface="Work Sans"/>
                  <a:ea typeface="Work Sans"/>
                  <a:cs typeface="Work Sans"/>
                  <a:sym typeface="Work Sans"/>
                </a:rPr>
                <a:t>Connects with popular music platform spotify for seamless access.</a:t>
              </a:r>
            </a:p>
          </p:txBody>
        </p:sp>
      </p:grpSp>
      <p:grpSp>
        <p:nvGrpSpPr>
          <p:cNvPr name="Group 41" id="41"/>
          <p:cNvGrpSpPr/>
          <p:nvPr/>
        </p:nvGrpSpPr>
        <p:grpSpPr>
          <a:xfrm rot="0">
            <a:off x="13611225" y="4248150"/>
            <a:ext cx="3405249" cy="1652693"/>
            <a:chOff x="0" y="0"/>
            <a:chExt cx="4540332" cy="2203590"/>
          </a:xfrm>
        </p:grpSpPr>
        <p:sp>
          <p:nvSpPr>
            <p:cNvPr name="TextBox 42" id="42"/>
            <p:cNvSpPr txBox="true"/>
            <p:nvPr/>
          </p:nvSpPr>
          <p:spPr>
            <a:xfrm rot="0">
              <a:off x="0" y="-9525"/>
              <a:ext cx="4540332" cy="1203325"/>
            </a:xfrm>
            <a:prstGeom prst="rect">
              <a:avLst/>
            </a:prstGeom>
          </p:spPr>
          <p:txBody>
            <a:bodyPr anchor="t" rtlCol="false" tIns="0" lIns="0" bIns="0" rIns="0">
              <a:spAutoFit/>
            </a:bodyPr>
            <a:lstStyle/>
            <a:p>
              <a:pPr algn="l" marL="0" indent="0" lvl="0">
                <a:lnSpc>
                  <a:spcPts val="3554"/>
                </a:lnSpc>
                <a:spcBef>
                  <a:spcPct val="0"/>
                </a:spcBef>
              </a:pPr>
              <a:r>
                <a:rPr lang="en-US" b="true" sz="2962" spc="-162" strike="noStrike" u="none">
                  <a:solidFill>
                    <a:srgbClr val="D2D6F0"/>
                  </a:solidFill>
                  <a:latin typeface="Work Sans Semi-Bold"/>
                  <a:ea typeface="Work Sans Semi-Bold"/>
                  <a:cs typeface="Work Sans Semi-Bold"/>
                  <a:sym typeface="Work Sans Semi-Bold"/>
                </a:rPr>
                <a:t>Personalized Recommendations</a:t>
              </a:r>
            </a:p>
          </p:txBody>
        </p:sp>
        <p:sp>
          <p:nvSpPr>
            <p:cNvPr name="TextBox 43" id="43"/>
            <p:cNvSpPr txBox="true"/>
            <p:nvPr/>
          </p:nvSpPr>
          <p:spPr>
            <a:xfrm rot="0">
              <a:off x="0" y="1432065"/>
              <a:ext cx="4540332" cy="771525"/>
            </a:xfrm>
            <a:prstGeom prst="rect">
              <a:avLst/>
            </a:prstGeom>
          </p:spPr>
          <p:txBody>
            <a:bodyPr anchor="t" rtlCol="false" tIns="0" lIns="0" bIns="0" rIns="0">
              <a:spAutoFit/>
            </a:bodyPr>
            <a:lstStyle/>
            <a:p>
              <a:pPr algn="l" marL="0" indent="0" lvl="0">
                <a:lnSpc>
                  <a:spcPts val="2268"/>
                </a:lnSpc>
              </a:pPr>
              <a:r>
                <a:rPr lang="en-US" sz="1890" spc="-103">
                  <a:solidFill>
                    <a:srgbClr val="D2D6F0"/>
                  </a:solidFill>
                  <a:latin typeface="Work Sans"/>
                  <a:ea typeface="Work Sans"/>
                  <a:cs typeface="Work Sans"/>
                  <a:sym typeface="Work Sans"/>
                </a:rPr>
                <a:t>Suggests music tailored to the user’s current mood.</a:t>
              </a:r>
            </a:p>
          </p:txBody>
        </p:sp>
      </p:grpSp>
      <p:grpSp>
        <p:nvGrpSpPr>
          <p:cNvPr name="Group 44" id="44"/>
          <p:cNvGrpSpPr/>
          <p:nvPr/>
        </p:nvGrpSpPr>
        <p:grpSpPr>
          <a:xfrm rot="0">
            <a:off x="13611225" y="7381875"/>
            <a:ext cx="3405249" cy="1205018"/>
            <a:chOff x="0" y="0"/>
            <a:chExt cx="4540332" cy="1606690"/>
          </a:xfrm>
        </p:grpSpPr>
        <p:sp>
          <p:nvSpPr>
            <p:cNvPr name="TextBox 45" id="45"/>
            <p:cNvSpPr txBox="true"/>
            <p:nvPr/>
          </p:nvSpPr>
          <p:spPr>
            <a:xfrm rot="0">
              <a:off x="0" y="-9525"/>
              <a:ext cx="4540332" cy="606425"/>
            </a:xfrm>
            <a:prstGeom prst="rect">
              <a:avLst/>
            </a:prstGeom>
          </p:spPr>
          <p:txBody>
            <a:bodyPr anchor="t" rtlCol="false" tIns="0" lIns="0" bIns="0" rIns="0">
              <a:spAutoFit/>
            </a:bodyPr>
            <a:lstStyle/>
            <a:p>
              <a:pPr algn="l" marL="0" indent="0" lvl="0">
                <a:lnSpc>
                  <a:spcPts val="3554"/>
                </a:lnSpc>
                <a:spcBef>
                  <a:spcPct val="0"/>
                </a:spcBef>
              </a:pPr>
              <a:r>
                <a:rPr lang="en-US" b="true" sz="2962" spc="-162" strike="noStrike" u="none">
                  <a:solidFill>
                    <a:srgbClr val="D2D6F0"/>
                  </a:solidFill>
                  <a:latin typeface="Work Sans Semi-Bold"/>
                  <a:ea typeface="Work Sans Semi-Bold"/>
                  <a:cs typeface="Work Sans Semi-Bold"/>
                  <a:sym typeface="Work Sans Semi-Bold"/>
                </a:rPr>
                <a:t>History Tracking</a:t>
              </a:r>
            </a:p>
          </p:txBody>
        </p:sp>
        <p:sp>
          <p:nvSpPr>
            <p:cNvPr name="TextBox 46" id="46"/>
            <p:cNvSpPr txBox="true"/>
            <p:nvPr/>
          </p:nvSpPr>
          <p:spPr>
            <a:xfrm rot="0">
              <a:off x="0" y="835165"/>
              <a:ext cx="4540332" cy="771525"/>
            </a:xfrm>
            <a:prstGeom prst="rect">
              <a:avLst/>
            </a:prstGeom>
          </p:spPr>
          <p:txBody>
            <a:bodyPr anchor="t" rtlCol="false" tIns="0" lIns="0" bIns="0" rIns="0">
              <a:spAutoFit/>
            </a:bodyPr>
            <a:lstStyle/>
            <a:p>
              <a:pPr algn="l" marL="0" indent="0" lvl="0">
                <a:lnSpc>
                  <a:spcPts val="2268"/>
                </a:lnSpc>
              </a:pPr>
              <a:r>
                <a:rPr lang="en-US" sz="1890" spc="-103">
                  <a:solidFill>
                    <a:srgbClr val="D2D6F0"/>
                  </a:solidFill>
                  <a:latin typeface="Work Sans"/>
                  <a:ea typeface="Work Sans"/>
                  <a:cs typeface="Work Sans"/>
                  <a:sym typeface="Work Sans"/>
                </a:rPr>
                <a:t>Records user interactions and emotional trends over time.</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42316A"/>
            </a:solidFill>
            <a:ln cap="rnd" w="12700">
              <a:solidFill>
                <a:srgbClr val="000000"/>
              </a:solidFill>
              <a:prstDash val="solid"/>
              <a:round/>
            </a:ln>
          </p:spPr>
        </p:sp>
      </p:grpSp>
      <p:grpSp>
        <p:nvGrpSpPr>
          <p:cNvPr name="Group 4" id="4"/>
          <p:cNvGrpSpPr/>
          <p:nvPr/>
        </p:nvGrpSpPr>
        <p:grpSpPr>
          <a:xfrm rot="0">
            <a:off x="1687443" y="1315347"/>
            <a:ext cx="7456557" cy="6199242"/>
            <a:chOff x="0" y="0"/>
            <a:chExt cx="9942076" cy="8265656"/>
          </a:xfrm>
        </p:grpSpPr>
        <p:sp>
          <p:nvSpPr>
            <p:cNvPr name="TextBox 5" id="5"/>
            <p:cNvSpPr txBox="true"/>
            <p:nvPr/>
          </p:nvSpPr>
          <p:spPr>
            <a:xfrm rot="0">
              <a:off x="0" y="2769731"/>
              <a:ext cx="9942076" cy="5495925"/>
            </a:xfrm>
            <a:prstGeom prst="rect">
              <a:avLst/>
            </a:prstGeom>
          </p:spPr>
          <p:txBody>
            <a:bodyPr anchor="t" rtlCol="false" tIns="0" lIns="0" bIns="0" rIns="0">
              <a:spAutoFit/>
            </a:bodyPr>
            <a:lstStyle/>
            <a:p>
              <a:pPr algn="just" marL="0" indent="0" lvl="0">
                <a:lnSpc>
                  <a:spcPts val="3668"/>
                </a:lnSpc>
              </a:pPr>
              <a:r>
                <a:rPr lang="en-US" sz="3057" spc="-168">
                  <a:solidFill>
                    <a:srgbClr val="D2D6F0"/>
                  </a:solidFill>
                  <a:latin typeface="Work Sans"/>
                  <a:ea typeface="Work Sans"/>
                  <a:cs typeface="Work Sans"/>
                  <a:sym typeface="Work Sans"/>
                </a:rPr>
                <a:t>The </a:t>
              </a:r>
              <a:r>
                <a:rPr lang="en-US" b="true" sz="3057" spc="-168">
                  <a:solidFill>
                    <a:srgbClr val="D2D6F0"/>
                  </a:solidFill>
                  <a:latin typeface="Work Sans Bold"/>
                  <a:ea typeface="Work Sans Bold"/>
                  <a:cs typeface="Work Sans Bold"/>
                  <a:sym typeface="Work Sans Bold"/>
                </a:rPr>
                <a:t>MoodMate system architecture</a:t>
              </a:r>
              <a:r>
                <a:rPr lang="en-US" sz="3057" spc="-168">
                  <a:solidFill>
                    <a:srgbClr val="D2D6F0"/>
                  </a:solidFill>
                  <a:latin typeface="Work Sans"/>
                  <a:ea typeface="Work Sans"/>
                  <a:cs typeface="Work Sans"/>
                  <a:sym typeface="Work Sans"/>
                </a:rPr>
                <a:t> integrates multiple components to create a seamless user experience. It includes the User Interface for interaction, the Emotion Detection Module for analyzing user emotions, the Recommendation Engine for personalized music suggestions, and a Database for storing user data and preferences.</a:t>
              </a:r>
            </a:p>
          </p:txBody>
        </p:sp>
        <p:sp>
          <p:nvSpPr>
            <p:cNvPr name="TextBox 6" id="6"/>
            <p:cNvSpPr txBox="true"/>
            <p:nvPr/>
          </p:nvSpPr>
          <p:spPr>
            <a:xfrm rot="0">
              <a:off x="0" y="133350"/>
              <a:ext cx="9236487" cy="24659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D2D6F0"/>
                  </a:solidFill>
                  <a:latin typeface="Work Sans Semi-Bold"/>
                  <a:ea typeface="Work Sans Semi-Bold"/>
                  <a:cs typeface="Work Sans Semi-Bold"/>
                  <a:sym typeface="Work Sans Semi-Bold"/>
                </a:rPr>
                <a:t>System Architecture</a:t>
              </a:r>
            </a:p>
          </p:txBody>
        </p:sp>
      </p:grpSp>
      <p:grpSp>
        <p:nvGrpSpPr>
          <p:cNvPr name="Group 7" id="7"/>
          <p:cNvGrpSpPr/>
          <p:nvPr/>
        </p:nvGrpSpPr>
        <p:grpSpPr>
          <a:xfrm rot="0">
            <a:off x="9956359" y="801810"/>
            <a:ext cx="6886575" cy="8818440"/>
            <a:chOff x="0" y="0"/>
            <a:chExt cx="1200275" cy="1536983"/>
          </a:xfrm>
        </p:grpSpPr>
        <p:sp>
          <p:nvSpPr>
            <p:cNvPr name="Freeform 8" id="8"/>
            <p:cNvSpPr/>
            <p:nvPr/>
          </p:nvSpPr>
          <p:spPr>
            <a:xfrm flipH="false" flipV="false" rot="6000">
              <a:off x="-1262" y="-968"/>
              <a:ext cx="1202798" cy="1538919"/>
            </a:xfrm>
            <a:custGeom>
              <a:avLst/>
              <a:gdLst/>
              <a:ahLst/>
              <a:cxnLst/>
              <a:rect r="r" b="b" t="t" l="l"/>
              <a:pathLst>
                <a:path h="1538919" w="1202798">
                  <a:moveTo>
                    <a:pt x="44890" y="1938"/>
                  </a:moveTo>
                  <a:lnTo>
                    <a:pt x="1155226" y="0"/>
                  </a:lnTo>
                  <a:cubicBezTo>
                    <a:pt x="1167152" y="-21"/>
                    <a:pt x="1178599" y="4697"/>
                    <a:pt x="1187046" y="13116"/>
                  </a:cubicBezTo>
                  <a:cubicBezTo>
                    <a:pt x="1195494" y="21534"/>
                    <a:pt x="1200252" y="32964"/>
                    <a:pt x="1200273" y="44890"/>
                  </a:cubicBezTo>
                  <a:lnTo>
                    <a:pt x="1202798" y="1491934"/>
                  </a:lnTo>
                  <a:cubicBezTo>
                    <a:pt x="1202819" y="1503860"/>
                    <a:pt x="1198101" y="1515307"/>
                    <a:pt x="1189683" y="1523754"/>
                  </a:cubicBezTo>
                  <a:cubicBezTo>
                    <a:pt x="1181265" y="1532202"/>
                    <a:pt x="1169835" y="1536960"/>
                    <a:pt x="1157909" y="1536981"/>
                  </a:cubicBezTo>
                  <a:lnTo>
                    <a:pt x="47572" y="1538919"/>
                  </a:lnTo>
                  <a:cubicBezTo>
                    <a:pt x="35646" y="1538940"/>
                    <a:pt x="24200" y="1534222"/>
                    <a:pt x="15752" y="1525803"/>
                  </a:cubicBezTo>
                  <a:cubicBezTo>
                    <a:pt x="7304" y="1517385"/>
                    <a:pt x="2547" y="1505955"/>
                    <a:pt x="2526" y="1494029"/>
                  </a:cubicBezTo>
                  <a:lnTo>
                    <a:pt x="0" y="46985"/>
                  </a:lnTo>
                  <a:cubicBezTo>
                    <a:pt x="-21" y="35058"/>
                    <a:pt x="4697" y="23612"/>
                    <a:pt x="13115" y="15164"/>
                  </a:cubicBezTo>
                  <a:cubicBezTo>
                    <a:pt x="21534" y="6717"/>
                    <a:pt x="32963" y="1959"/>
                    <a:pt x="44890" y="1938"/>
                  </a:cubicBezTo>
                  <a:close/>
                </a:path>
              </a:pathLst>
            </a:custGeom>
            <a:blipFill>
              <a:blip r:embed="rId2"/>
              <a:stretch>
                <a:fillRect l="-14257" t="-22937" r="-7816" b="-1782"/>
              </a:stretch>
            </a:blipFill>
            <a:ln w="19050" cap="rnd">
              <a:solidFill>
                <a:srgbClr val="432766"/>
              </a:solidFill>
              <a:prstDash val="solid"/>
              <a:round/>
            </a:ln>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71B4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2686050"/>
            <a:chOff x="0" y="0"/>
            <a:chExt cx="4987154" cy="790100"/>
          </a:xfrm>
        </p:grpSpPr>
        <p:sp>
          <p:nvSpPr>
            <p:cNvPr name="Freeform 3" id="3"/>
            <p:cNvSpPr/>
            <p:nvPr/>
          </p:nvSpPr>
          <p:spPr>
            <a:xfrm flipH="false" flipV="false" rot="0">
              <a:off x="0" y="0"/>
              <a:ext cx="4987156" cy="790100"/>
            </a:xfrm>
            <a:custGeom>
              <a:avLst/>
              <a:gdLst/>
              <a:ahLst/>
              <a:cxnLst/>
              <a:rect r="r" b="b" t="t" l="l"/>
              <a:pathLst>
                <a:path h="790100" w="4987156">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7A6FB3"/>
            </a:solidFill>
            <a:ln w="12700">
              <a:solidFill>
                <a:srgbClr val="000000"/>
              </a:solidFill>
            </a:ln>
          </p:spPr>
        </p:sp>
      </p:grpSp>
      <p:sp>
        <p:nvSpPr>
          <p:cNvPr name="TextBox 4" id="4"/>
          <p:cNvSpPr txBox="true"/>
          <p:nvPr/>
        </p:nvSpPr>
        <p:spPr>
          <a:xfrm rot="0">
            <a:off x="2105025" y="1641475"/>
            <a:ext cx="14077950" cy="898525"/>
          </a:xfrm>
          <a:prstGeom prst="rect">
            <a:avLst/>
          </a:prstGeom>
        </p:spPr>
        <p:txBody>
          <a:bodyPr anchor="t" rtlCol="false" tIns="0" lIns="0" bIns="0" rIns="0">
            <a:spAutoFit/>
          </a:bodyPr>
          <a:lstStyle/>
          <a:p>
            <a:pPr algn="l" marL="0" indent="0" lvl="0">
              <a:lnSpc>
                <a:spcPts val="6649"/>
              </a:lnSpc>
            </a:pPr>
            <a:r>
              <a:rPr lang="en-US" b="true" sz="6999" spc="-384">
                <a:solidFill>
                  <a:srgbClr val="D2D6F0"/>
                </a:solidFill>
                <a:latin typeface="Work Sans Semi-Bold"/>
                <a:ea typeface="Work Sans Semi-Bold"/>
                <a:cs typeface="Work Sans Semi-Bold"/>
                <a:sym typeface="Work Sans Semi-Bold"/>
              </a:rPr>
              <a:t>Workflow Process</a:t>
            </a:r>
          </a:p>
        </p:txBody>
      </p:sp>
      <p:grpSp>
        <p:nvGrpSpPr>
          <p:cNvPr name="Group 5" id="5"/>
          <p:cNvGrpSpPr/>
          <p:nvPr/>
        </p:nvGrpSpPr>
        <p:grpSpPr>
          <a:xfrm rot="0">
            <a:off x="3210138" y="3677098"/>
            <a:ext cx="11867724" cy="5905500"/>
            <a:chOff x="0" y="0"/>
            <a:chExt cx="7432235" cy="3698356"/>
          </a:xfrm>
        </p:grpSpPr>
        <p:sp>
          <p:nvSpPr>
            <p:cNvPr name="Freeform 6" id="6"/>
            <p:cNvSpPr/>
            <p:nvPr/>
          </p:nvSpPr>
          <p:spPr>
            <a:xfrm flipH="false" flipV="false" rot="0">
              <a:off x="54483" y="50038"/>
              <a:ext cx="7323142" cy="3598914"/>
            </a:xfrm>
            <a:custGeom>
              <a:avLst/>
              <a:gdLst/>
              <a:ahLst/>
              <a:cxnLst/>
              <a:rect r="r" b="b" t="t" l="l"/>
              <a:pathLst>
                <a:path h="3598914" w="7323142">
                  <a:moveTo>
                    <a:pt x="7235512" y="3598914"/>
                  </a:moveTo>
                  <a:lnTo>
                    <a:pt x="87757" y="3598914"/>
                  </a:lnTo>
                  <a:cubicBezTo>
                    <a:pt x="39370" y="3598914"/>
                    <a:pt x="0" y="3559672"/>
                    <a:pt x="0" y="3511157"/>
                  </a:cubicBezTo>
                  <a:lnTo>
                    <a:pt x="0" y="87757"/>
                  </a:lnTo>
                  <a:cubicBezTo>
                    <a:pt x="0" y="39370"/>
                    <a:pt x="39243" y="0"/>
                    <a:pt x="87757" y="0"/>
                  </a:cubicBezTo>
                  <a:lnTo>
                    <a:pt x="7235385" y="0"/>
                  </a:lnTo>
                  <a:cubicBezTo>
                    <a:pt x="7283772" y="0"/>
                    <a:pt x="7323142" y="39243"/>
                    <a:pt x="7323142" y="87757"/>
                  </a:cubicBezTo>
                  <a:lnTo>
                    <a:pt x="7323142" y="3511158"/>
                  </a:lnTo>
                  <a:cubicBezTo>
                    <a:pt x="7323142" y="3559545"/>
                    <a:pt x="7283899" y="3598914"/>
                    <a:pt x="7235385" y="3598914"/>
                  </a:cubicBezTo>
                  <a:close/>
                </a:path>
              </a:pathLst>
            </a:custGeom>
            <a:blipFill>
              <a:blip r:embed="rId2"/>
              <a:stretch>
                <a:fillRect l="-1683" t="-1390" r="-1705" b="-1432"/>
              </a:stretch>
            </a:blipFill>
          </p:spPr>
        </p:sp>
        <p:sp>
          <p:nvSpPr>
            <p:cNvPr name="Freeform 7" id="7"/>
            <p:cNvSpPr/>
            <p:nvPr/>
          </p:nvSpPr>
          <p:spPr>
            <a:xfrm flipH="false" flipV="false" rot="0">
              <a:off x="0" y="0"/>
              <a:ext cx="7432108" cy="3698229"/>
            </a:xfrm>
            <a:custGeom>
              <a:avLst/>
              <a:gdLst/>
              <a:ahLst/>
              <a:cxnLst/>
              <a:rect r="r" b="b" t="t" l="l"/>
              <a:pathLst>
                <a:path h="3698229" w="7432108">
                  <a:moveTo>
                    <a:pt x="0" y="91567"/>
                  </a:moveTo>
                  <a:lnTo>
                    <a:pt x="0" y="3606662"/>
                  </a:lnTo>
                  <a:cubicBezTo>
                    <a:pt x="0" y="3657208"/>
                    <a:pt x="41021" y="3698229"/>
                    <a:pt x="91567" y="3698229"/>
                  </a:cubicBezTo>
                  <a:lnTo>
                    <a:pt x="7340541" y="3698229"/>
                  </a:lnTo>
                  <a:cubicBezTo>
                    <a:pt x="7391087" y="3698229"/>
                    <a:pt x="7432108" y="3657208"/>
                    <a:pt x="7432108" y="3606662"/>
                  </a:cubicBezTo>
                  <a:lnTo>
                    <a:pt x="7432108" y="91567"/>
                  </a:lnTo>
                  <a:cubicBezTo>
                    <a:pt x="7432108" y="41021"/>
                    <a:pt x="7391087" y="0"/>
                    <a:pt x="7340541" y="0"/>
                  </a:cubicBezTo>
                  <a:lnTo>
                    <a:pt x="91567" y="0"/>
                  </a:lnTo>
                  <a:cubicBezTo>
                    <a:pt x="41021" y="0"/>
                    <a:pt x="0" y="41021"/>
                    <a:pt x="0" y="91567"/>
                  </a:cubicBezTo>
                  <a:close/>
                  <a:moveTo>
                    <a:pt x="6590352" y="331724"/>
                  </a:moveTo>
                  <a:lnTo>
                    <a:pt x="7249482" y="331724"/>
                  </a:lnTo>
                  <a:cubicBezTo>
                    <a:pt x="7300028" y="331724"/>
                    <a:pt x="7341049" y="372745"/>
                    <a:pt x="7341049" y="423291"/>
                  </a:cubicBezTo>
                  <a:lnTo>
                    <a:pt x="7341049" y="3515602"/>
                  </a:lnTo>
                  <a:cubicBezTo>
                    <a:pt x="7341049" y="3566149"/>
                    <a:pt x="7300028" y="3607170"/>
                    <a:pt x="7249482" y="3607170"/>
                  </a:cubicBezTo>
                  <a:lnTo>
                    <a:pt x="182753" y="3607170"/>
                  </a:lnTo>
                  <a:cubicBezTo>
                    <a:pt x="132207" y="3607170"/>
                    <a:pt x="91186" y="3566149"/>
                    <a:pt x="91186" y="3515602"/>
                  </a:cubicBezTo>
                  <a:lnTo>
                    <a:pt x="91186" y="182753"/>
                  </a:lnTo>
                  <a:cubicBezTo>
                    <a:pt x="91186" y="132207"/>
                    <a:pt x="132207" y="91186"/>
                    <a:pt x="182753" y="91186"/>
                  </a:cubicBezTo>
                  <a:lnTo>
                    <a:pt x="6293299" y="91186"/>
                  </a:lnTo>
                  <a:cubicBezTo>
                    <a:pt x="6319334" y="91186"/>
                    <a:pt x="6344226" y="102235"/>
                    <a:pt x="6361625" y="121666"/>
                  </a:cubicBezTo>
                  <a:lnTo>
                    <a:pt x="6522280" y="301244"/>
                  </a:lnTo>
                  <a:cubicBezTo>
                    <a:pt x="6539679" y="320675"/>
                    <a:pt x="6564444" y="331724"/>
                    <a:pt x="6590606" y="331724"/>
                  </a:cubicBezTo>
                  <a:lnTo>
                    <a:pt x="6590352" y="331724"/>
                  </a:lnTo>
                  <a:close/>
                </a:path>
              </a:pathLst>
            </a:custGeom>
            <a:solidFill>
              <a:srgbClr val="D2D6F0"/>
            </a:solid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42316A"/>
            </a:solidFill>
            <a:ln cap="rnd" w="12700">
              <a:solidFill>
                <a:srgbClr val="000000"/>
              </a:solidFill>
              <a:prstDash val="solid"/>
              <a:round/>
            </a:ln>
          </p:spPr>
        </p:sp>
      </p:grpSp>
      <p:grpSp>
        <p:nvGrpSpPr>
          <p:cNvPr name="Group 4" id="4"/>
          <p:cNvGrpSpPr/>
          <p:nvPr/>
        </p:nvGrpSpPr>
        <p:grpSpPr>
          <a:xfrm rot="0">
            <a:off x="1391568" y="1659390"/>
            <a:ext cx="8207580" cy="5122651"/>
            <a:chOff x="0" y="0"/>
            <a:chExt cx="10943440" cy="6830201"/>
          </a:xfrm>
        </p:grpSpPr>
        <p:sp>
          <p:nvSpPr>
            <p:cNvPr name="TextBox 5" id="5"/>
            <p:cNvSpPr txBox="true"/>
            <p:nvPr/>
          </p:nvSpPr>
          <p:spPr>
            <a:xfrm rot="0">
              <a:off x="0" y="1769858"/>
              <a:ext cx="10943440" cy="5060343"/>
            </a:xfrm>
            <a:prstGeom prst="rect">
              <a:avLst/>
            </a:prstGeom>
          </p:spPr>
          <p:txBody>
            <a:bodyPr anchor="t" rtlCol="false" tIns="0" lIns="0" bIns="0" rIns="0">
              <a:spAutoFit/>
            </a:bodyPr>
            <a:lstStyle/>
            <a:p>
              <a:pPr algn="l" marL="0" indent="0" lvl="0">
                <a:lnSpc>
                  <a:spcPts val="3796"/>
                </a:lnSpc>
              </a:pPr>
              <a:r>
                <a:rPr lang="en-US" sz="3163" spc="-173">
                  <a:solidFill>
                    <a:srgbClr val="D2D6F0"/>
                  </a:solidFill>
                  <a:latin typeface="Work Sans"/>
                  <a:ea typeface="Work Sans"/>
                  <a:cs typeface="Work Sans"/>
                  <a:sym typeface="Work Sans"/>
                </a:rPr>
                <a:t>The system leverages </a:t>
              </a:r>
              <a:r>
                <a:rPr lang="en-US" b="true" sz="3163" spc="-173">
                  <a:solidFill>
                    <a:srgbClr val="D2D6F0"/>
                  </a:solidFill>
                  <a:latin typeface="Work Sans Bold"/>
                  <a:ea typeface="Work Sans Bold"/>
                  <a:cs typeface="Work Sans Bold"/>
                  <a:sym typeface="Work Sans Bold"/>
                </a:rPr>
                <a:t>pre-trained NLP (Distil-BERT) models</a:t>
              </a:r>
              <a:r>
                <a:rPr lang="en-US" sz="3163" spc="-173">
                  <a:solidFill>
                    <a:srgbClr val="D2D6F0"/>
                  </a:solidFill>
                  <a:latin typeface="Work Sans"/>
                  <a:ea typeface="Work Sans"/>
                  <a:cs typeface="Work Sans"/>
                  <a:sym typeface="Work Sans"/>
                </a:rPr>
                <a:t> to analyze user input. By examining the text for emotional cues, it predicts the user's feelings, generating a confidence score for accuracy. This approach enables the MoodMate to tailor recommendations effectively based on textual expressions.</a:t>
              </a:r>
            </a:p>
          </p:txBody>
        </p:sp>
        <p:sp>
          <p:nvSpPr>
            <p:cNvPr name="TextBox 6" id="6"/>
            <p:cNvSpPr txBox="true"/>
            <p:nvPr/>
          </p:nvSpPr>
          <p:spPr>
            <a:xfrm rot="0">
              <a:off x="0" y="142875"/>
              <a:ext cx="10223327" cy="1436108"/>
            </a:xfrm>
            <a:prstGeom prst="rect">
              <a:avLst/>
            </a:prstGeom>
          </p:spPr>
          <p:txBody>
            <a:bodyPr anchor="t" rtlCol="false" tIns="0" lIns="0" bIns="0" rIns="0">
              <a:spAutoFit/>
            </a:bodyPr>
            <a:lstStyle/>
            <a:p>
              <a:pPr algn="l" marL="0" indent="0" lvl="0">
                <a:lnSpc>
                  <a:spcPts val="7793"/>
                </a:lnSpc>
              </a:pPr>
              <a:r>
                <a:rPr lang="en-US" b="true" sz="7793" spc="-428" strike="noStrike" u="none">
                  <a:solidFill>
                    <a:srgbClr val="D2D6F0"/>
                  </a:solidFill>
                  <a:latin typeface="Work Sans Semi-Bold"/>
                  <a:ea typeface="Work Sans Semi-Bold"/>
                  <a:cs typeface="Work Sans Semi-Bold"/>
                  <a:sym typeface="Work Sans Semi-Bold"/>
                </a:rPr>
                <a:t>Text Detection</a:t>
              </a:r>
            </a:p>
          </p:txBody>
        </p:sp>
      </p:grpSp>
      <p:grpSp>
        <p:nvGrpSpPr>
          <p:cNvPr name="Group 7" id="7"/>
          <p:cNvGrpSpPr/>
          <p:nvPr/>
        </p:nvGrpSpPr>
        <p:grpSpPr>
          <a:xfrm rot="0">
            <a:off x="10312605" y="981075"/>
            <a:ext cx="6946695" cy="7471274"/>
            <a:chOff x="0" y="0"/>
            <a:chExt cx="3482081" cy="3745030"/>
          </a:xfrm>
        </p:grpSpPr>
        <p:sp>
          <p:nvSpPr>
            <p:cNvPr name="Freeform 8" id="8"/>
            <p:cNvSpPr/>
            <p:nvPr/>
          </p:nvSpPr>
          <p:spPr>
            <a:xfrm flipH="false" flipV="false" rot="0">
              <a:off x="54483" y="50038"/>
              <a:ext cx="3372988" cy="3645589"/>
            </a:xfrm>
            <a:custGeom>
              <a:avLst/>
              <a:gdLst/>
              <a:ahLst/>
              <a:cxnLst/>
              <a:rect r="r" b="b" t="t" l="l"/>
              <a:pathLst>
                <a:path h="3645589" w="3372988">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0" t="-12" r="0" b="-12"/>
              </a:stretch>
            </a:blipFill>
          </p:spPr>
        </p:sp>
        <p:sp>
          <p:nvSpPr>
            <p:cNvPr name="Freeform 9" id="9"/>
            <p:cNvSpPr/>
            <p:nvPr/>
          </p:nvSpPr>
          <p:spPr>
            <a:xfrm flipH="false" flipV="false" rot="0">
              <a:off x="0" y="0"/>
              <a:ext cx="3481954" cy="3744903"/>
            </a:xfrm>
            <a:custGeom>
              <a:avLst/>
              <a:gdLst/>
              <a:ahLst/>
              <a:cxnLst/>
              <a:rect r="r" b="b" t="t" l="l"/>
              <a:pathLst>
                <a:path h="3744903" w="3481954">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D2D6F0"/>
            </a:solid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71B4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7A6FB3"/>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D2D6F0"/>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9881936" y="1190507"/>
            <a:ext cx="7153778" cy="7905985"/>
            <a:chOff x="0" y="0"/>
            <a:chExt cx="1935901" cy="2139458"/>
          </a:xfrm>
        </p:grpSpPr>
        <p:sp>
          <p:nvSpPr>
            <p:cNvPr name="Freeform 8" id="8"/>
            <p:cNvSpPr/>
            <p:nvPr/>
          </p:nvSpPr>
          <p:spPr>
            <a:xfrm flipH="false" flipV="false" rot="0">
              <a:off x="0" y="0"/>
              <a:ext cx="1935903" cy="2139471"/>
            </a:xfrm>
            <a:custGeom>
              <a:avLst/>
              <a:gdLst/>
              <a:ahLst/>
              <a:cxnLst/>
              <a:rect r="r" b="b" t="t" l="l"/>
              <a:pathLst>
                <a:path h="2139471" w="1935903">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0" t="-130" r="0" b="-130"/>
              </a:stretch>
            </a:blipFill>
          </p:spPr>
        </p:sp>
      </p:grpSp>
      <p:grpSp>
        <p:nvGrpSpPr>
          <p:cNvPr name="Group 9" id="9"/>
          <p:cNvGrpSpPr/>
          <p:nvPr/>
        </p:nvGrpSpPr>
        <p:grpSpPr>
          <a:xfrm rot="0">
            <a:off x="1725894" y="1724249"/>
            <a:ext cx="6543967" cy="6942965"/>
            <a:chOff x="0" y="0"/>
            <a:chExt cx="8725289" cy="9257286"/>
          </a:xfrm>
        </p:grpSpPr>
        <p:sp>
          <p:nvSpPr>
            <p:cNvPr name="TextBox 10" id="10"/>
            <p:cNvSpPr txBox="true"/>
            <p:nvPr/>
          </p:nvSpPr>
          <p:spPr>
            <a:xfrm rot="0">
              <a:off x="0" y="2561167"/>
              <a:ext cx="8725289" cy="6696120"/>
            </a:xfrm>
            <a:prstGeom prst="rect">
              <a:avLst/>
            </a:prstGeom>
          </p:spPr>
          <p:txBody>
            <a:bodyPr anchor="t" rtlCol="false" tIns="0" lIns="0" bIns="0" rIns="0">
              <a:spAutoFit/>
            </a:bodyPr>
            <a:lstStyle/>
            <a:p>
              <a:pPr algn="l" marL="0" indent="0" lvl="0">
                <a:lnSpc>
                  <a:spcPts val="3652"/>
                </a:lnSpc>
              </a:pPr>
              <a:r>
                <a:rPr lang="en-US" sz="2809" spc="-154">
                  <a:solidFill>
                    <a:srgbClr val="D2D6F0"/>
                  </a:solidFill>
                  <a:latin typeface="Work Sans"/>
                  <a:ea typeface="Work Sans"/>
                  <a:cs typeface="Work Sans"/>
                  <a:sym typeface="Work Sans"/>
                </a:rPr>
                <a:t>For</a:t>
              </a:r>
              <a:r>
                <a:rPr lang="en-US" sz="2809" spc="-154">
                  <a:solidFill>
                    <a:srgbClr val="D2D6F0"/>
                  </a:solidFill>
                  <a:latin typeface="Work Sans"/>
                  <a:ea typeface="Work Sans"/>
                  <a:cs typeface="Work Sans"/>
                  <a:sym typeface="Work Sans"/>
                </a:rPr>
                <a:t> image-b</a:t>
              </a:r>
              <a:r>
                <a:rPr lang="en-US" sz="2809" spc="-154">
                  <a:solidFill>
                    <a:srgbClr val="D2D6F0"/>
                  </a:solidFill>
                  <a:latin typeface="Work Sans"/>
                  <a:ea typeface="Work Sans"/>
                  <a:cs typeface="Work Sans"/>
                  <a:sym typeface="Work Sans"/>
                </a:rPr>
                <a:t>a</a:t>
              </a:r>
              <a:r>
                <a:rPr lang="en-US" sz="2809" spc="-154">
                  <a:solidFill>
                    <a:srgbClr val="D2D6F0"/>
                  </a:solidFill>
                  <a:latin typeface="Work Sans"/>
                  <a:ea typeface="Work Sans"/>
                  <a:cs typeface="Work Sans"/>
                  <a:sym typeface="Work Sans"/>
                </a:rPr>
                <a:t>sed</a:t>
              </a:r>
              <a:r>
                <a:rPr lang="en-US" sz="2809" spc="-154">
                  <a:solidFill>
                    <a:srgbClr val="D2D6F0"/>
                  </a:solidFill>
                  <a:latin typeface="Work Sans"/>
                  <a:ea typeface="Work Sans"/>
                  <a:cs typeface="Work Sans"/>
                  <a:sym typeface="Work Sans"/>
                </a:rPr>
                <a:t> emotion </a:t>
              </a:r>
              <a:r>
                <a:rPr lang="en-US" sz="2809" spc="-154">
                  <a:solidFill>
                    <a:srgbClr val="D2D6F0"/>
                  </a:solidFill>
                  <a:latin typeface="Work Sans"/>
                  <a:ea typeface="Work Sans"/>
                  <a:cs typeface="Work Sans"/>
                  <a:sym typeface="Work Sans"/>
                </a:rPr>
                <a:t>det</a:t>
              </a:r>
              <a:r>
                <a:rPr lang="en-US" sz="2809" spc="-154">
                  <a:solidFill>
                    <a:srgbClr val="D2D6F0"/>
                  </a:solidFill>
                  <a:latin typeface="Work Sans"/>
                  <a:ea typeface="Work Sans"/>
                  <a:cs typeface="Work Sans"/>
                  <a:sym typeface="Work Sans"/>
                </a:rPr>
                <a:t>ection</a:t>
              </a:r>
              <a:r>
                <a:rPr lang="en-US" sz="2809" spc="-154">
                  <a:solidFill>
                    <a:srgbClr val="D2D6F0"/>
                  </a:solidFill>
                  <a:latin typeface="Work Sans"/>
                  <a:ea typeface="Work Sans"/>
                  <a:cs typeface="Work Sans"/>
                  <a:sym typeface="Work Sans"/>
                </a:rPr>
                <a:t>,</a:t>
              </a:r>
              <a:r>
                <a:rPr lang="en-US" sz="2809" spc="-154">
                  <a:solidFill>
                    <a:srgbClr val="D2D6F0"/>
                  </a:solidFill>
                  <a:latin typeface="Work Sans"/>
                  <a:ea typeface="Work Sans"/>
                  <a:cs typeface="Work Sans"/>
                  <a:sym typeface="Work Sans"/>
                </a:rPr>
                <a:t> </a:t>
              </a:r>
              <a:r>
                <a:rPr lang="en-US" sz="2809" spc="-154">
                  <a:solidFill>
                    <a:srgbClr val="D2D6F0"/>
                  </a:solidFill>
                  <a:latin typeface="Work Sans"/>
                  <a:ea typeface="Work Sans"/>
                  <a:cs typeface="Work Sans"/>
                  <a:sym typeface="Work Sans"/>
                </a:rPr>
                <a:t>w</a:t>
              </a:r>
              <a:r>
                <a:rPr lang="en-US" sz="2809" spc="-154">
                  <a:solidFill>
                    <a:srgbClr val="D2D6F0"/>
                  </a:solidFill>
                  <a:latin typeface="Work Sans"/>
                  <a:ea typeface="Work Sans"/>
                  <a:cs typeface="Work Sans"/>
                  <a:sym typeface="Work Sans"/>
                </a:rPr>
                <a:t>e</a:t>
              </a:r>
              <a:r>
                <a:rPr lang="en-US" sz="2809" spc="-154">
                  <a:solidFill>
                    <a:srgbClr val="D2D6F0"/>
                  </a:solidFill>
                  <a:latin typeface="Work Sans"/>
                  <a:ea typeface="Work Sans"/>
                  <a:cs typeface="Work Sans"/>
                  <a:sym typeface="Work Sans"/>
                </a:rPr>
                <a:t> uti</a:t>
              </a:r>
              <a:r>
                <a:rPr lang="en-US" sz="2809" spc="-154">
                  <a:solidFill>
                    <a:srgbClr val="D2D6F0"/>
                  </a:solidFill>
                  <a:latin typeface="Work Sans"/>
                  <a:ea typeface="Work Sans"/>
                  <a:cs typeface="Work Sans"/>
                  <a:sym typeface="Work Sans"/>
                </a:rPr>
                <a:t>l</a:t>
              </a:r>
              <a:r>
                <a:rPr lang="en-US" sz="2809" spc="-154">
                  <a:solidFill>
                    <a:srgbClr val="D2D6F0"/>
                  </a:solidFill>
                  <a:latin typeface="Work Sans"/>
                  <a:ea typeface="Work Sans"/>
                  <a:cs typeface="Work Sans"/>
                  <a:sym typeface="Work Sans"/>
                </a:rPr>
                <a:t>ize a Convolutional Neural Network (CNN) pre-trained on extensive facial emotion datasets.</a:t>
              </a:r>
            </a:p>
            <a:p>
              <a:pPr algn="l" marL="0" indent="0" lvl="0">
                <a:lnSpc>
                  <a:spcPts val="3652"/>
                </a:lnSpc>
              </a:pPr>
              <a:r>
                <a:rPr lang="en-US" sz="2809" spc="-154">
                  <a:solidFill>
                    <a:srgbClr val="D2D6F0"/>
                  </a:solidFill>
                  <a:latin typeface="Work Sans"/>
                  <a:ea typeface="Work Sans"/>
                  <a:cs typeface="Work Sans"/>
                  <a:sym typeface="Work Sans"/>
                </a:rPr>
                <a:t>Incoming images undergo crucial preprocessing steps including conversion to grayscale, resizing, and normalization. This optimized data is then fed to the CNN for precise emotion prediction and confidence scoring.</a:t>
              </a:r>
            </a:p>
            <a:p>
              <a:pPr algn="l" marL="0" indent="0" lvl="0">
                <a:lnSpc>
                  <a:spcPts val="3652"/>
                </a:lnSpc>
              </a:pPr>
            </a:p>
          </p:txBody>
        </p:sp>
        <p:sp>
          <p:nvSpPr>
            <p:cNvPr name="TextBox 11" id="11"/>
            <p:cNvSpPr txBox="true"/>
            <p:nvPr/>
          </p:nvSpPr>
          <p:spPr>
            <a:xfrm rot="0">
              <a:off x="0" y="133350"/>
              <a:ext cx="7264400" cy="2465917"/>
            </a:xfrm>
            <a:prstGeom prst="rect">
              <a:avLst/>
            </a:prstGeom>
          </p:spPr>
          <p:txBody>
            <a:bodyPr anchor="t" rtlCol="false" tIns="0" lIns="0" bIns="0" rIns="0">
              <a:spAutoFit/>
            </a:bodyPr>
            <a:lstStyle/>
            <a:p>
              <a:pPr algn="l" marL="0" indent="0" lvl="0">
                <a:lnSpc>
                  <a:spcPts val="6999"/>
                </a:lnSpc>
              </a:pPr>
              <a:r>
                <a:rPr lang="en-US" b="true" sz="6999" spc="-384">
                  <a:solidFill>
                    <a:srgbClr val="D2D6F0"/>
                  </a:solidFill>
                  <a:latin typeface="Work Sans Semi-Bold"/>
                  <a:ea typeface="Work Sans Semi-Bold"/>
                  <a:cs typeface="Work Sans Semi-Bold"/>
                  <a:sym typeface="Work Sans Semi-Bold"/>
                </a:rPr>
                <a:t>Image Detection</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71B47"/>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8324850" cy="8953500"/>
            <a:chOff x="0" y="0"/>
            <a:chExt cx="2448748" cy="2633665"/>
          </a:xfrm>
        </p:grpSpPr>
        <p:sp>
          <p:nvSpPr>
            <p:cNvPr name="Freeform 3" id="3"/>
            <p:cNvSpPr/>
            <p:nvPr/>
          </p:nvSpPr>
          <p:spPr>
            <a:xfrm flipH="false" flipV="false" rot="0">
              <a:off x="0" y="0"/>
              <a:ext cx="2448751" cy="2633665"/>
            </a:xfrm>
            <a:custGeom>
              <a:avLst/>
              <a:gdLst/>
              <a:ahLst/>
              <a:cxnLst/>
              <a:rect r="r" b="b" t="t" l="l"/>
              <a:pathLst>
                <a:path h="2633665" w="2448751">
                  <a:moveTo>
                    <a:pt x="2101792" y="0"/>
                  </a:moveTo>
                  <a:lnTo>
                    <a:pt x="148415" y="0"/>
                  </a:lnTo>
                  <a:cubicBezTo>
                    <a:pt x="66448" y="0"/>
                    <a:pt x="0" y="66448"/>
                    <a:pt x="0" y="148415"/>
                  </a:cubicBezTo>
                  <a:lnTo>
                    <a:pt x="0" y="2354273"/>
                  </a:lnTo>
                  <a:cubicBezTo>
                    <a:pt x="0" y="2390784"/>
                    <a:pt x="13458" y="2426013"/>
                    <a:pt x="37800" y="2453225"/>
                  </a:cubicBezTo>
                  <a:lnTo>
                    <a:pt x="154967" y="2584201"/>
                  </a:lnTo>
                  <a:cubicBezTo>
                    <a:pt x="183122" y="2615677"/>
                    <a:pt x="223353" y="2633666"/>
                    <a:pt x="265584" y="2633665"/>
                  </a:cubicBezTo>
                  <a:lnTo>
                    <a:pt x="2300335" y="2633665"/>
                  </a:lnTo>
                  <a:cubicBezTo>
                    <a:pt x="2339697" y="2633666"/>
                    <a:pt x="2377447" y="2618029"/>
                    <a:pt x="2405281" y="2590196"/>
                  </a:cubicBezTo>
                  <a:cubicBezTo>
                    <a:pt x="2433114" y="2562363"/>
                    <a:pt x="2448751" y="2524613"/>
                    <a:pt x="2448751" y="2485251"/>
                  </a:cubicBezTo>
                  <a:lnTo>
                    <a:pt x="2448751" y="366141"/>
                  </a:lnTo>
                  <a:cubicBezTo>
                    <a:pt x="2448751" y="329143"/>
                    <a:pt x="2434932" y="293478"/>
                    <a:pt x="2410002" y="266140"/>
                  </a:cubicBezTo>
                  <a:lnTo>
                    <a:pt x="2211459" y="48414"/>
                  </a:lnTo>
                  <a:cubicBezTo>
                    <a:pt x="2183337" y="17574"/>
                    <a:pt x="2143529" y="0"/>
                    <a:pt x="2101792" y="0"/>
                  </a:cubicBezTo>
                  <a:close/>
                </a:path>
              </a:pathLst>
            </a:custGeom>
            <a:solidFill>
              <a:srgbClr val="7A6FB3"/>
            </a:solidFill>
            <a:ln w="12700">
              <a:solidFill>
                <a:srgbClr val="000000"/>
              </a:solidFill>
            </a:ln>
          </p:spPr>
        </p:sp>
      </p:grpSp>
      <p:grpSp>
        <p:nvGrpSpPr>
          <p:cNvPr name="Group 4" id="4"/>
          <p:cNvGrpSpPr/>
          <p:nvPr/>
        </p:nvGrpSpPr>
        <p:grpSpPr>
          <a:xfrm rot="0">
            <a:off x="9296400" y="666750"/>
            <a:ext cx="8324850" cy="8953500"/>
            <a:chOff x="0" y="0"/>
            <a:chExt cx="2192553" cy="2358123"/>
          </a:xfrm>
        </p:grpSpPr>
        <p:sp>
          <p:nvSpPr>
            <p:cNvPr name="Freeform 5" id="5"/>
            <p:cNvSpPr/>
            <p:nvPr/>
          </p:nvSpPr>
          <p:spPr>
            <a:xfrm flipH="false" flipV="false" rot="0">
              <a:off x="0" y="0"/>
              <a:ext cx="2192553" cy="2358124"/>
            </a:xfrm>
            <a:custGeom>
              <a:avLst/>
              <a:gdLst/>
              <a:ahLst/>
              <a:cxnLst/>
              <a:rect r="r" b="b" t="t" l="l"/>
              <a:pathLst>
                <a:path h="2358124" w="2192553">
                  <a:moveTo>
                    <a:pt x="51149" y="0"/>
                  </a:moveTo>
                  <a:lnTo>
                    <a:pt x="2141404" y="0"/>
                  </a:lnTo>
                  <a:cubicBezTo>
                    <a:pt x="2154970" y="0"/>
                    <a:pt x="2167980" y="5389"/>
                    <a:pt x="2177572" y="14981"/>
                  </a:cubicBezTo>
                  <a:cubicBezTo>
                    <a:pt x="2187164" y="24573"/>
                    <a:pt x="2192553" y="37583"/>
                    <a:pt x="2192553" y="51149"/>
                  </a:cubicBezTo>
                  <a:lnTo>
                    <a:pt x="2192553" y="2306975"/>
                  </a:lnTo>
                  <a:cubicBezTo>
                    <a:pt x="2192553" y="2320540"/>
                    <a:pt x="2187164" y="2333550"/>
                    <a:pt x="2177572" y="2343142"/>
                  </a:cubicBezTo>
                  <a:cubicBezTo>
                    <a:pt x="2167980" y="2352735"/>
                    <a:pt x="2154970" y="2358124"/>
                    <a:pt x="2141404" y="2358124"/>
                  </a:cubicBezTo>
                  <a:lnTo>
                    <a:pt x="51149" y="2358124"/>
                  </a:lnTo>
                  <a:cubicBezTo>
                    <a:pt x="37583" y="2358124"/>
                    <a:pt x="24573" y="2352735"/>
                    <a:pt x="14981" y="2343142"/>
                  </a:cubicBezTo>
                  <a:cubicBezTo>
                    <a:pt x="5389" y="2333550"/>
                    <a:pt x="0" y="2320540"/>
                    <a:pt x="0" y="2306975"/>
                  </a:cubicBezTo>
                  <a:lnTo>
                    <a:pt x="0" y="51149"/>
                  </a:lnTo>
                  <a:cubicBezTo>
                    <a:pt x="0" y="37583"/>
                    <a:pt x="5389" y="24573"/>
                    <a:pt x="14981" y="14981"/>
                  </a:cubicBezTo>
                  <a:cubicBezTo>
                    <a:pt x="24573" y="5389"/>
                    <a:pt x="37583" y="0"/>
                    <a:pt x="51149" y="0"/>
                  </a:cubicBezTo>
                  <a:close/>
                </a:path>
              </a:pathLst>
            </a:custGeom>
            <a:solidFill>
              <a:srgbClr val="D2D6F0"/>
            </a:solidFill>
          </p:spPr>
        </p:sp>
        <p:sp>
          <p:nvSpPr>
            <p:cNvPr name="TextBox 6" id="6"/>
            <p:cNvSpPr txBox="true"/>
            <p:nvPr/>
          </p:nvSpPr>
          <p:spPr>
            <a:xfrm>
              <a:off x="0" y="-57150"/>
              <a:ext cx="2192553" cy="2415273"/>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9881936" y="1190507"/>
            <a:ext cx="7153778" cy="7905985"/>
            <a:chOff x="0" y="0"/>
            <a:chExt cx="1935901" cy="2139458"/>
          </a:xfrm>
        </p:grpSpPr>
        <p:sp>
          <p:nvSpPr>
            <p:cNvPr name="Freeform 8" id="8"/>
            <p:cNvSpPr/>
            <p:nvPr/>
          </p:nvSpPr>
          <p:spPr>
            <a:xfrm flipH="false" flipV="false" rot="0">
              <a:off x="0" y="0"/>
              <a:ext cx="1935903" cy="2139471"/>
            </a:xfrm>
            <a:custGeom>
              <a:avLst/>
              <a:gdLst/>
              <a:ahLst/>
              <a:cxnLst/>
              <a:rect r="r" b="b" t="t" l="l"/>
              <a:pathLst>
                <a:path h="2139471" w="1935903">
                  <a:moveTo>
                    <a:pt x="1448460" y="0"/>
                  </a:moveTo>
                  <a:lnTo>
                    <a:pt x="177673" y="0"/>
                  </a:lnTo>
                  <a:cubicBezTo>
                    <a:pt x="79547" y="0"/>
                    <a:pt x="0" y="79547"/>
                    <a:pt x="0" y="177673"/>
                  </a:cubicBezTo>
                  <a:lnTo>
                    <a:pt x="0" y="1961798"/>
                  </a:lnTo>
                  <a:cubicBezTo>
                    <a:pt x="0" y="2059924"/>
                    <a:pt x="79547" y="2139471"/>
                    <a:pt x="177673" y="2139471"/>
                  </a:cubicBezTo>
                  <a:lnTo>
                    <a:pt x="1758230" y="2139471"/>
                  </a:lnTo>
                  <a:cubicBezTo>
                    <a:pt x="1856356" y="2139471"/>
                    <a:pt x="1935903" y="2059924"/>
                    <a:pt x="1935903" y="1961798"/>
                  </a:cubicBezTo>
                  <a:lnTo>
                    <a:pt x="1935903" y="523958"/>
                  </a:lnTo>
                  <a:cubicBezTo>
                    <a:pt x="1935903" y="480251"/>
                    <a:pt x="1919793" y="438079"/>
                    <a:pt x="1890654" y="405503"/>
                  </a:cubicBezTo>
                  <a:lnTo>
                    <a:pt x="1580877" y="59214"/>
                  </a:lnTo>
                  <a:cubicBezTo>
                    <a:pt x="1547173" y="21536"/>
                    <a:pt x="1499013" y="0"/>
                    <a:pt x="1448460" y="0"/>
                  </a:cubicBezTo>
                  <a:close/>
                </a:path>
              </a:pathLst>
            </a:custGeom>
            <a:blipFill>
              <a:blip r:embed="rId2"/>
              <a:stretch>
                <a:fillRect l="0" t="-8189" r="0" b="-8189"/>
              </a:stretch>
            </a:blipFill>
          </p:spPr>
        </p:sp>
      </p:grpSp>
      <p:grpSp>
        <p:nvGrpSpPr>
          <p:cNvPr name="Group 9" id="9"/>
          <p:cNvGrpSpPr/>
          <p:nvPr/>
        </p:nvGrpSpPr>
        <p:grpSpPr>
          <a:xfrm rot="0">
            <a:off x="1716369" y="1724249"/>
            <a:ext cx="6543967" cy="3742565"/>
            <a:chOff x="0" y="0"/>
            <a:chExt cx="8725289" cy="4990086"/>
          </a:xfrm>
        </p:grpSpPr>
        <p:sp>
          <p:nvSpPr>
            <p:cNvPr name="TextBox 10" id="10"/>
            <p:cNvSpPr txBox="true"/>
            <p:nvPr/>
          </p:nvSpPr>
          <p:spPr>
            <a:xfrm rot="0">
              <a:off x="0" y="2561167"/>
              <a:ext cx="8725289" cy="2428920"/>
            </a:xfrm>
            <a:prstGeom prst="rect">
              <a:avLst/>
            </a:prstGeom>
          </p:spPr>
          <p:txBody>
            <a:bodyPr anchor="t" rtlCol="false" tIns="0" lIns="0" bIns="0" rIns="0">
              <a:spAutoFit/>
            </a:bodyPr>
            <a:lstStyle/>
            <a:p>
              <a:pPr algn="l" marL="606650" indent="-303325" lvl="1">
                <a:lnSpc>
                  <a:spcPts val="3652"/>
                </a:lnSpc>
                <a:buFont typeface="Arial"/>
                <a:buChar char="•"/>
              </a:pPr>
              <a:r>
                <a:rPr lang="en-US" sz="2809" spc="-154">
                  <a:solidFill>
                    <a:srgbClr val="D2D6F0"/>
                  </a:solidFill>
                  <a:latin typeface="Work Sans"/>
                  <a:ea typeface="Work Sans"/>
                  <a:cs typeface="Work Sans"/>
                  <a:sym typeface="Work Sans"/>
                </a:rPr>
                <a:t>R</a:t>
              </a:r>
              <a:r>
                <a:rPr lang="en-US" sz="2809" spc="-154">
                  <a:solidFill>
                    <a:srgbClr val="D2D6F0"/>
                  </a:solidFill>
                  <a:latin typeface="Work Sans"/>
                  <a:ea typeface="Work Sans"/>
                  <a:cs typeface="Work Sans"/>
                  <a:sym typeface="Work Sans"/>
                </a:rPr>
                <a:t>e</a:t>
              </a:r>
              <a:r>
                <a:rPr lang="en-US" sz="2809" spc="-154">
                  <a:solidFill>
                    <a:srgbClr val="D2D6F0"/>
                  </a:solidFill>
                  <a:latin typeface="Work Sans"/>
                  <a:ea typeface="Work Sans"/>
                  <a:cs typeface="Work Sans"/>
                  <a:sym typeface="Work Sans"/>
                </a:rPr>
                <a:t>al-time Face</a:t>
              </a:r>
              <a:r>
                <a:rPr lang="en-US" sz="2809" spc="-154">
                  <a:solidFill>
                    <a:srgbClr val="D2D6F0"/>
                  </a:solidFill>
                  <a:latin typeface="Work Sans"/>
                  <a:ea typeface="Work Sans"/>
                  <a:cs typeface="Work Sans"/>
                  <a:sym typeface="Work Sans"/>
                </a:rPr>
                <a:t> Capture</a:t>
              </a:r>
            </a:p>
            <a:p>
              <a:pPr algn="l" marL="0" indent="0" lvl="0">
                <a:lnSpc>
                  <a:spcPts val="3652"/>
                </a:lnSpc>
              </a:pPr>
              <a:r>
                <a:rPr lang="en-US" sz="2809" spc="-154">
                  <a:solidFill>
                    <a:srgbClr val="D2D6F0"/>
                  </a:solidFill>
                  <a:latin typeface="Work Sans"/>
                  <a:ea typeface="Work Sans"/>
                  <a:cs typeface="Work Sans"/>
                  <a:sym typeface="Work Sans"/>
                </a:rPr>
                <a:t>Capturing live facial expressions continuously.</a:t>
              </a:r>
            </a:p>
            <a:p>
              <a:pPr algn="l" marL="0" indent="0" lvl="0">
                <a:lnSpc>
                  <a:spcPts val="3652"/>
                </a:lnSpc>
              </a:pPr>
            </a:p>
          </p:txBody>
        </p:sp>
        <p:sp>
          <p:nvSpPr>
            <p:cNvPr name="TextBox 11" id="11"/>
            <p:cNvSpPr txBox="true"/>
            <p:nvPr/>
          </p:nvSpPr>
          <p:spPr>
            <a:xfrm rot="0">
              <a:off x="12700" y="133350"/>
              <a:ext cx="7264400" cy="2465917"/>
            </a:xfrm>
            <a:prstGeom prst="rect">
              <a:avLst/>
            </a:prstGeom>
          </p:spPr>
          <p:txBody>
            <a:bodyPr anchor="t" rtlCol="false" tIns="0" lIns="0" bIns="0" rIns="0">
              <a:spAutoFit/>
            </a:bodyPr>
            <a:lstStyle/>
            <a:p>
              <a:pPr algn="l" marL="0" indent="0" lvl="0">
                <a:lnSpc>
                  <a:spcPts val="6999"/>
                </a:lnSpc>
              </a:pPr>
              <a:r>
                <a:rPr lang="en-US" b="true" sz="6999" spc="-384">
                  <a:solidFill>
                    <a:srgbClr val="D2D6F0"/>
                  </a:solidFill>
                  <a:latin typeface="Work Sans Semi-Bold"/>
                  <a:ea typeface="Work Sans Semi-Bold"/>
                  <a:cs typeface="Work Sans Semi-Bold"/>
                  <a:sym typeface="Work Sans Semi-Bold"/>
                </a:rPr>
                <a:t>Web Cam Detection</a:t>
              </a:r>
            </a:p>
          </p:txBody>
        </p:sp>
      </p:grpSp>
      <p:sp>
        <p:nvSpPr>
          <p:cNvPr name="TextBox 12" id="12"/>
          <p:cNvSpPr txBox="true"/>
          <p:nvPr/>
        </p:nvSpPr>
        <p:spPr>
          <a:xfrm rot="0">
            <a:off x="1716369" y="5191125"/>
            <a:ext cx="7231635" cy="1172483"/>
          </a:xfrm>
          <a:prstGeom prst="rect">
            <a:avLst/>
          </a:prstGeom>
        </p:spPr>
        <p:txBody>
          <a:bodyPr anchor="t" rtlCol="false" tIns="0" lIns="0" bIns="0" rIns="0">
            <a:spAutoFit/>
          </a:bodyPr>
          <a:lstStyle/>
          <a:p>
            <a:pPr algn="l" marL="655417" indent="-327709" lvl="1">
              <a:lnSpc>
                <a:spcPts val="3035"/>
              </a:lnSpc>
              <a:buFont typeface="Arial"/>
              <a:buChar char="•"/>
            </a:pPr>
            <a:r>
              <a:rPr lang="en-US" sz="3035" spc="-166">
                <a:solidFill>
                  <a:srgbClr val="D2D6F0"/>
                </a:solidFill>
                <a:latin typeface="Work Sans"/>
                <a:ea typeface="Work Sans"/>
                <a:cs typeface="Work Sans"/>
                <a:sym typeface="Work Sans"/>
              </a:rPr>
              <a:t>DeepFace Analysis</a:t>
            </a:r>
          </a:p>
          <a:p>
            <a:pPr algn="l">
              <a:lnSpc>
                <a:spcPts val="3035"/>
              </a:lnSpc>
            </a:pPr>
            <a:r>
              <a:rPr lang="en-US" sz="3035" spc="-166">
                <a:solidFill>
                  <a:srgbClr val="D2D6F0"/>
                </a:solidFill>
                <a:latin typeface="Work Sans"/>
                <a:ea typeface="Work Sans"/>
                <a:cs typeface="Work Sans"/>
                <a:sym typeface="Work Sans"/>
              </a:rPr>
              <a:t>Applying the DeepFace framework for advanced facial emotion analysis.</a:t>
            </a:r>
          </a:p>
        </p:txBody>
      </p:sp>
      <p:sp>
        <p:nvSpPr>
          <p:cNvPr name="TextBox 13" id="13"/>
          <p:cNvSpPr txBox="true"/>
          <p:nvPr/>
        </p:nvSpPr>
        <p:spPr>
          <a:xfrm rot="0">
            <a:off x="1716369" y="6650219"/>
            <a:ext cx="6239868" cy="1562100"/>
          </a:xfrm>
          <a:prstGeom prst="rect">
            <a:avLst/>
          </a:prstGeom>
        </p:spPr>
        <p:txBody>
          <a:bodyPr anchor="t" rtlCol="false" tIns="0" lIns="0" bIns="0" rIns="0">
            <a:spAutoFit/>
          </a:bodyPr>
          <a:lstStyle/>
          <a:p>
            <a:pPr algn="l" marL="647700" indent="-323850" lvl="1">
              <a:lnSpc>
                <a:spcPts val="3000"/>
              </a:lnSpc>
              <a:buFont typeface="Arial"/>
              <a:buChar char="•"/>
            </a:pPr>
            <a:r>
              <a:rPr lang="en-US" sz="3000" spc="-165">
                <a:solidFill>
                  <a:srgbClr val="D2D6F0"/>
                </a:solidFill>
                <a:latin typeface="Work Sans"/>
                <a:ea typeface="Work Sans"/>
                <a:cs typeface="Work Sans"/>
                <a:sym typeface="Work Sans"/>
              </a:rPr>
              <a:t>Dominant Emotion Extraction</a:t>
            </a:r>
          </a:p>
          <a:p>
            <a:pPr algn="l">
              <a:lnSpc>
                <a:spcPts val="3000"/>
              </a:lnSpc>
            </a:pPr>
            <a:r>
              <a:rPr lang="en-US" sz="3000" spc="-165">
                <a:solidFill>
                  <a:srgbClr val="D2D6F0"/>
                </a:solidFill>
                <a:latin typeface="Work Sans"/>
                <a:ea typeface="Work Sans"/>
                <a:cs typeface="Work Sans"/>
                <a:sym typeface="Work Sans"/>
              </a:rPr>
              <a:t>Identifying and extracting the most prominent emotion for recommendation.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42316A"/>
            </a:solidFill>
            <a:ln cap="rnd" w="12700">
              <a:solidFill>
                <a:srgbClr val="000000"/>
              </a:solidFill>
              <a:prstDash val="solid"/>
              <a:round/>
            </a:ln>
          </p:spPr>
        </p:sp>
      </p:grpSp>
      <p:grpSp>
        <p:nvGrpSpPr>
          <p:cNvPr name="Group 4" id="4"/>
          <p:cNvGrpSpPr/>
          <p:nvPr/>
        </p:nvGrpSpPr>
        <p:grpSpPr>
          <a:xfrm rot="0">
            <a:off x="1294279" y="1464810"/>
            <a:ext cx="8694027" cy="5778851"/>
            <a:chOff x="0" y="0"/>
            <a:chExt cx="11592036" cy="7705135"/>
          </a:xfrm>
        </p:grpSpPr>
        <p:sp>
          <p:nvSpPr>
            <p:cNvPr name="TextBox 5" id="5"/>
            <p:cNvSpPr txBox="true"/>
            <p:nvPr/>
          </p:nvSpPr>
          <p:spPr>
            <a:xfrm rot="0">
              <a:off x="0" y="3462833"/>
              <a:ext cx="9171016" cy="4242302"/>
            </a:xfrm>
            <a:prstGeom prst="rect">
              <a:avLst/>
            </a:prstGeom>
          </p:spPr>
          <p:txBody>
            <a:bodyPr anchor="t" rtlCol="false" tIns="0" lIns="0" bIns="0" rIns="0">
              <a:spAutoFit/>
            </a:bodyPr>
            <a:lstStyle/>
            <a:p>
              <a:pPr algn="l" marL="0" indent="0" lvl="0">
                <a:lnSpc>
                  <a:spcPts val="3181"/>
                </a:lnSpc>
              </a:pPr>
              <a:r>
                <a:rPr lang="en-US" sz="2651" spc="-145">
                  <a:solidFill>
                    <a:srgbClr val="D2D6F0"/>
                  </a:solidFill>
                  <a:latin typeface="Work Sans"/>
                  <a:ea typeface="Work Sans"/>
                  <a:cs typeface="Work Sans"/>
                  <a:sym typeface="Work Sans"/>
                </a:rPr>
                <a:t>The Recommendation Engine analyzes user emotions to provide </a:t>
              </a:r>
              <a:r>
                <a:rPr lang="en-US" b="true" sz="2651" spc="-145">
                  <a:solidFill>
                    <a:srgbClr val="D2D6F0"/>
                  </a:solidFill>
                  <a:latin typeface="Work Sans Bold"/>
                  <a:ea typeface="Work Sans Bold"/>
                  <a:cs typeface="Work Sans Bold"/>
                  <a:sym typeface="Work Sans Bold"/>
                </a:rPr>
                <a:t>personalized song selections</a:t>
              </a:r>
              <a:r>
                <a:rPr lang="en-US" sz="2651" spc="-145">
                  <a:solidFill>
                    <a:srgbClr val="D2D6F0"/>
                  </a:solidFill>
                  <a:latin typeface="Work Sans"/>
                  <a:ea typeface="Work Sans"/>
                  <a:cs typeface="Work Sans"/>
                  <a:sym typeface="Work Sans"/>
                </a:rPr>
                <a:t>. By extracting text features and matching them with the mood of available songs, it generates tailored playlists, ensuring that the music resonates deeply with the user's current feelings and enhances their experience.</a:t>
              </a:r>
            </a:p>
          </p:txBody>
        </p:sp>
        <p:sp>
          <p:nvSpPr>
            <p:cNvPr name="TextBox 6" id="6"/>
            <p:cNvSpPr txBox="true"/>
            <p:nvPr/>
          </p:nvSpPr>
          <p:spPr>
            <a:xfrm rot="0">
              <a:off x="0" y="161925"/>
              <a:ext cx="11592036" cy="3083204"/>
            </a:xfrm>
            <a:prstGeom prst="rect">
              <a:avLst/>
            </a:prstGeom>
          </p:spPr>
          <p:txBody>
            <a:bodyPr anchor="t" rtlCol="false" tIns="0" lIns="0" bIns="0" rIns="0">
              <a:spAutoFit/>
            </a:bodyPr>
            <a:lstStyle/>
            <a:p>
              <a:pPr algn="l" marL="0" indent="0" lvl="0">
                <a:lnSpc>
                  <a:spcPts val="8710"/>
                </a:lnSpc>
              </a:pPr>
              <a:r>
                <a:rPr lang="en-US" b="true" sz="8710" spc="-479" strike="noStrike" u="none">
                  <a:solidFill>
                    <a:srgbClr val="D2D6F0"/>
                  </a:solidFill>
                  <a:latin typeface="Work Sans Semi-Bold"/>
                  <a:ea typeface="Work Sans Semi-Bold"/>
                  <a:cs typeface="Work Sans Semi-Bold"/>
                  <a:sym typeface="Work Sans Semi-Bold"/>
                </a:rPr>
                <a:t>Recommendation Engine</a:t>
              </a:r>
            </a:p>
          </p:txBody>
        </p:sp>
      </p:grpSp>
      <p:grpSp>
        <p:nvGrpSpPr>
          <p:cNvPr name="Group 7" id="7"/>
          <p:cNvGrpSpPr/>
          <p:nvPr/>
        </p:nvGrpSpPr>
        <p:grpSpPr>
          <a:xfrm rot="0">
            <a:off x="10312605" y="981075"/>
            <a:ext cx="6946695" cy="7471274"/>
            <a:chOff x="0" y="0"/>
            <a:chExt cx="3482081" cy="3745030"/>
          </a:xfrm>
        </p:grpSpPr>
        <p:sp>
          <p:nvSpPr>
            <p:cNvPr name="Freeform 8" id="8"/>
            <p:cNvSpPr/>
            <p:nvPr/>
          </p:nvSpPr>
          <p:spPr>
            <a:xfrm flipH="false" flipV="false" rot="0">
              <a:off x="54483" y="50038"/>
              <a:ext cx="3372988" cy="3645589"/>
            </a:xfrm>
            <a:custGeom>
              <a:avLst/>
              <a:gdLst/>
              <a:ahLst/>
              <a:cxnLst/>
              <a:rect r="r" b="b" t="t" l="l"/>
              <a:pathLst>
                <a:path h="3645589" w="3372988">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0" t="-12" r="0" b="-12"/>
              </a:stretch>
            </a:blipFill>
          </p:spPr>
        </p:sp>
        <p:sp>
          <p:nvSpPr>
            <p:cNvPr name="Freeform 9" id="9"/>
            <p:cNvSpPr/>
            <p:nvPr/>
          </p:nvSpPr>
          <p:spPr>
            <a:xfrm flipH="false" flipV="false" rot="0">
              <a:off x="0" y="0"/>
              <a:ext cx="3481954" cy="3744903"/>
            </a:xfrm>
            <a:custGeom>
              <a:avLst/>
              <a:gdLst/>
              <a:ahLst/>
              <a:cxnLst/>
              <a:rect r="r" b="b" t="t" l="l"/>
              <a:pathLst>
                <a:path h="3744903" w="3481954">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D2D6F0"/>
            </a:solid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42316A"/>
            </a:solidFill>
            <a:ln cap="rnd" w="12700">
              <a:solidFill>
                <a:srgbClr val="000000"/>
              </a:solidFill>
              <a:prstDash val="solid"/>
              <a:round/>
            </a:ln>
          </p:spPr>
        </p:sp>
      </p:grpSp>
      <p:sp>
        <p:nvSpPr>
          <p:cNvPr name="Freeform 4" id="4"/>
          <p:cNvSpPr/>
          <p:nvPr/>
        </p:nvSpPr>
        <p:spPr>
          <a:xfrm flipH="false" flipV="false" rot="0">
            <a:off x="2304208" y="1317226"/>
            <a:ext cx="14955092" cy="6542934"/>
          </a:xfrm>
          <a:custGeom>
            <a:avLst/>
            <a:gdLst/>
            <a:ahLst/>
            <a:cxnLst/>
            <a:rect r="r" b="b" t="t" l="l"/>
            <a:pathLst>
              <a:path h="6542934" w="14955092">
                <a:moveTo>
                  <a:pt x="0" y="0"/>
                </a:moveTo>
                <a:lnTo>
                  <a:pt x="14955092" y="0"/>
                </a:lnTo>
                <a:lnTo>
                  <a:pt x="14955092" y="6542935"/>
                </a:lnTo>
                <a:lnTo>
                  <a:pt x="0" y="6542935"/>
                </a:lnTo>
                <a:lnTo>
                  <a:pt x="0" y="0"/>
                </a:lnTo>
                <a:close/>
              </a:path>
            </a:pathLst>
          </a:custGeom>
          <a:blipFill>
            <a:blip r:embed="rId2"/>
            <a:stretch>
              <a:fillRect l="0" t="0" r="-287"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71B47"/>
        </a:solidFill>
      </p:bgPr>
    </p:bg>
    <p:spTree>
      <p:nvGrpSpPr>
        <p:cNvPr id="1" name=""/>
        <p:cNvGrpSpPr/>
        <p:nvPr/>
      </p:nvGrpSpPr>
      <p:grpSpPr>
        <a:xfrm>
          <a:off x="0" y="0"/>
          <a:ext cx="0" cy="0"/>
          <a:chOff x="0" y="0"/>
          <a:chExt cx="0" cy="0"/>
        </a:xfrm>
      </p:grpSpPr>
      <p:sp>
        <p:nvSpPr>
          <p:cNvPr name="Freeform 2" id="2"/>
          <p:cNvSpPr/>
          <p:nvPr/>
        </p:nvSpPr>
        <p:spPr>
          <a:xfrm flipH="false" flipV="false" rot="0">
            <a:off x="533479" y="1163760"/>
            <a:ext cx="12371476" cy="7143787"/>
          </a:xfrm>
          <a:custGeom>
            <a:avLst/>
            <a:gdLst/>
            <a:ahLst/>
            <a:cxnLst/>
            <a:rect r="r" b="b" t="t" l="l"/>
            <a:pathLst>
              <a:path h="7143787" w="12371476">
                <a:moveTo>
                  <a:pt x="0" y="0"/>
                </a:moveTo>
                <a:lnTo>
                  <a:pt x="12371476" y="0"/>
                </a:lnTo>
                <a:lnTo>
                  <a:pt x="12371476" y="7143787"/>
                </a:lnTo>
                <a:lnTo>
                  <a:pt x="0" y="7143787"/>
                </a:lnTo>
                <a:lnTo>
                  <a:pt x="0" y="0"/>
                </a:lnTo>
                <a:close/>
              </a:path>
            </a:pathLst>
          </a:custGeom>
          <a:blipFill>
            <a:blip r:embed="rId2"/>
            <a:stretch>
              <a:fillRect l="0" t="-15379" r="0" b="0"/>
            </a:stretch>
          </a:blipFill>
        </p:spPr>
      </p:sp>
      <p:sp>
        <p:nvSpPr>
          <p:cNvPr name="TextBox 3" id="3"/>
          <p:cNvSpPr txBox="true"/>
          <p:nvPr/>
        </p:nvSpPr>
        <p:spPr>
          <a:xfrm rot="0">
            <a:off x="13096457" y="2592547"/>
            <a:ext cx="4406832" cy="5715000"/>
          </a:xfrm>
          <a:prstGeom prst="rect">
            <a:avLst/>
          </a:prstGeom>
        </p:spPr>
        <p:txBody>
          <a:bodyPr anchor="t" rtlCol="false" tIns="0" lIns="0" bIns="0" rIns="0">
            <a:spAutoFit/>
          </a:bodyPr>
          <a:lstStyle/>
          <a:p>
            <a:pPr algn="l">
              <a:lnSpc>
                <a:spcPts val="4515"/>
              </a:lnSpc>
              <a:spcBef>
                <a:spcPct val="0"/>
              </a:spcBef>
            </a:pPr>
            <a:r>
              <a:rPr lang="en-US" b="true" sz="3763" spc="-206">
                <a:solidFill>
                  <a:srgbClr val="FFFFFF"/>
                </a:solidFill>
                <a:latin typeface="Work Sans Bold"/>
                <a:ea typeface="Work Sans Bold"/>
                <a:cs typeface="Work Sans Bold"/>
                <a:sym typeface="Work Sans Bold"/>
              </a:rPr>
              <a:t>Technologies Used: </a:t>
            </a:r>
          </a:p>
          <a:p>
            <a:pPr algn="l" marL="661375" indent="-330687" lvl="1">
              <a:lnSpc>
                <a:spcPts val="3676"/>
              </a:lnSpc>
              <a:buFont typeface="Arial"/>
              <a:buChar char="•"/>
            </a:pPr>
            <a:r>
              <a:rPr lang="en-US" sz="3063" spc="-168">
                <a:solidFill>
                  <a:srgbClr val="FFFFFF"/>
                </a:solidFill>
                <a:latin typeface="Work Sans"/>
                <a:ea typeface="Work Sans"/>
                <a:cs typeface="Work Sans"/>
                <a:sym typeface="Work Sans"/>
              </a:rPr>
              <a:t>Python</a:t>
            </a:r>
          </a:p>
          <a:p>
            <a:pPr algn="l" marL="661375" indent="-330687" lvl="1">
              <a:lnSpc>
                <a:spcPts val="3676"/>
              </a:lnSpc>
              <a:buFont typeface="Arial"/>
              <a:buChar char="•"/>
            </a:pPr>
            <a:r>
              <a:rPr lang="en-US" sz="3063" spc="-168">
                <a:solidFill>
                  <a:srgbClr val="FFFFFF"/>
                </a:solidFill>
                <a:latin typeface="Work Sans"/>
                <a:ea typeface="Work Sans"/>
                <a:cs typeface="Work Sans"/>
                <a:sym typeface="Work Sans"/>
              </a:rPr>
              <a:t>Streamlit</a:t>
            </a:r>
          </a:p>
          <a:p>
            <a:pPr algn="l" marL="661375" indent="-330687" lvl="1">
              <a:lnSpc>
                <a:spcPts val="3676"/>
              </a:lnSpc>
              <a:buFont typeface="Arial"/>
              <a:buChar char="•"/>
            </a:pPr>
            <a:r>
              <a:rPr lang="en-US" sz="3063" spc="-168">
                <a:solidFill>
                  <a:srgbClr val="FFFFFF"/>
                </a:solidFill>
                <a:latin typeface="Work Sans"/>
                <a:ea typeface="Work Sans"/>
                <a:cs typeface="Work Sans"/>
                <a:sym typeface="Work Sans"/>
              </a:rPr>
              <a:t>TensorFlow</a:t>
            </a:r>
          </a:p>
          <a:p>
            <a:pPr algn="l" marL="661375" indent="-330687" lvl="1">
              <a:lnSpc>
                <a:spcPts val="3676"/>
              </a:lnSpc>
              <a:buFont typeface="Arial"/>
              <a:buChar char="•"/>
            </a:pPr>
            <a:r>
              <a:rPr lang="en-US" sz="3063" spc="-168">
                <a:solidFill>
                  <a:srgbClr val="FFFFFF"/>
                </a:solidFill>
                <a:latin typeface="Work Sans"/>
                <a:ea typeface="Work Sans"/>
                <a:cs typeface="Work Sans"/>
                <a:sym typeface="Work Sans"/>
              </a:rPr>
              <a:t>Keras</a:t>
            </a:r>
          </a:p>
          <a:p>
            <a:pPr algn="l" marL="661375" indent="-330687" lvl="1">
              <a:lnSpc>
                <a:spcPts val="3676"/>
              </a:lnSpc>
              <a:buFont typeface="Arial"/>
              <a:buChar char="•"/>
            </a:pPr>
            <a:r>
              <a:rPr lang="en-US" sz="3063" spc="-168">
                <a:solidFill>
                  <a:srgbClr val="FFFFFF"/>
                </a:solidFill>
                <a:latin typeface="Work Sans"/>
                <a:ea typeface="Work Sans"/>
                <a:cs typeface="Work Sans"/>
                <a:sym typeface="Work Sans"/>
              </a:rPr>
              <a:t>PyTorch</a:t>
            </a:r>
          </a:p>
          <a:p>
            <a:pPr algn="l" marL="661375" indent="-330687" lvl="1">
              <a:lnSpc>
                <a:spcPts val="3676"/>
              </a:lnSpc>
              <a:buFont typeface="Arial"/>
              <a:buChar char="•"/>
            </a:pPr>
            <a:r>
              <a:rPr lang="en-US" sz="3063" spc="-168">
                <a:solidFill>
                  <a:srgbClr val="FFFFFF"/>
                </a:solidFill>
                <a:latin typeface="Work Sans"/>
                <a:ea typeface="Work Sans"/>
                <a:cs typeface="Work Sans"/>
                <a:sym typeface="Work Sans"/>
              </a:rPr>
              <a:t>DistilBERT</a:t>
            </a:r>
          </a:p>
          <a:p>
            <a:pPr algn="l" marL="661375" indent="-330687" lvl="1">
              <a:lnSpc>
                <a:spcPts val="3676"/>
              </a:lnSpc>
              <a:buFont typeface="Arial"/>
              <a:buChar char="•"/>
            </a:pPr>
            <a:r>
              <a:rPr lang="en-US" sz="3063" spc="-168">
                <a:solidFill>
                  <a:srgbClr val="FFFFFF"/>
                </a:solidFill>
                <a:latin typeface="Work Sans"/>
                <a:ea typeface="Work Sans"/>
                <a:cs typeface="Work Sans"/>
                <a:sym typeface="Work Sans"/>
              </a:rPr>
              <a:t>DeepFace</a:t>
            </a:r>
          </a:p>
          <a:p>
            <a:pPr algn="l" marL="661375" indent="-330687" lvl="1">
              <a:lnSpc>
                <a:spcPts val="3676"/>
              </a:lnSpc>
              <a:buFont typeface="Arial"/>
              <a:buChar char="•"/>
            </a:pPr>
            <a:r>
              <a:rPr lang="en-US" sz="3063" spc="-168">
                <a:solidFill>
                  <a:srgbClr val="FFFFFF"/>
                </a:solidFill>
                <a:latin typeface="Work Sans"/>
                <a:ea typeface="Work Sans"/>
                <a:cs typeface="Work Sans"/>
                <a:sym typeface="Work Sans"/>
              </a:rPr>
              <a:t>OpenCV </a:t>
            </a:r>
          </a:p>
          <a:p>
            <a:pPr algn="l" marL="661375" indent="-330687" lvl="1">
              <a:lnSpc>
                <a:spcPts val="3676"/>
              </a:lnSpc>
              <a:buFont typeface="Arial"/>
              <a:buChar char="•"/>
            </a:pPr>
            <a:r>
              <a:rPr lang="en-US" sz="3063" spc="-168">
                <a:solidFill>
                  <a:srgbClr val="FFFFFF"/>
                </a:solidFill>
                <a:latin typeface="Work Sans"/>
                <a:ea typeface="Work Sans"/>
                <a:cs typeface="Work Sans"/>
                <a:sym typeface="Work Sans"/>
              </a:rPr>
              <a:t>TF-IDF</a:t>
            </a:r>
          </a:p>
          <a:p>
            <a:pPr algn="l" marL="661375" indent="-330687" lvl="1">
              <a:lnSpc>
                <a:spcPts val="3676"/>
              </a:lnSpc>
              <a:buFont typeface="Arial"/>
              <a:buChar char="•"/>
            </a:pPr>
            <a:r>
              <a:rPr lang="en-US" sz="3063" spc="-168">
                <a:solidFill>
                  <a:srgbClr val="FFFFFF"/>
                </a:solidFill>
                <a:latin typeface="Work Sans"/>
                <a:ea typeface="Work Sans"/>
                <a:cs typeface="Work Sans"/>
                <a:sym typeface="Work Sans"/>
              </a:rPr>
              <a:t>Cosine Similarity</a:t>
            </a:r>
          </a:p>
          <a:p>
            <a:pPr algn="l" marL="661375" indent="-330687" lvl="1">
              <a:lnSpc>
                <a:spcPts val="3676"/>
              </a:lnSpc>
              <a:buFont typeface="Arial"/>
              <a:buChar char="•"/>
            </a:pPr>
            <a:r>
              <a:rPr lang="en-US" sz="3063" spc="-168">
                <a:solidFill>
                  <a:srgbClr val="FFFFFF"/>
                </a:solidFill>
                <a:latin typeface="Work Sans"/>
                <a:ea typeface="Work Sans"/>
                <a:cs typeface="Work Sans"/>
                <a:sym typeface="Work Sans"/>
              </a:rPr>
              <a:t>SQLite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3657600"/>
            <a:ext cx="8324850" cy="2828925"/>
            <a:chOff x="0" y="0"/>
            <a:chExt cx="2192553" cy="745067"/>
          </a:xfrm>
        </p:grpSpPr>
        <p:sp>
          <p:nvSpPr>
            <p:cNvPr name="Freeform 3" id="3"/>
            <p:cNvSpPr/>
            <p:nvPr/>
          </p:nvSpPr>
          <p:spPr>
            <a:xfrm flipH="false" flipV="false" rot="0">
              <a:off x="0" y="0"/>
              <a:ext cx="2192553" cy="745067"/>
            </a:xfrm>
            <a:custGeom>
              <a:avLst/>
              <a:gdLst/>
              <a:ahLst/>
              <a:cxnLst/>
              <a:rect r="r" b="b" t="t" l="l"/>
              <a:pathLst>
                <a:path h="745067" w="2192553">
                  <a:moveTo>
                    <a:pt x="37199" y="0"/>
                  </a:moveTo>
                  <a:lnTo>
                    <a:pt x="2155354" y="0"/>
                  </a:lnTo>
                  <a:cubicBezTo>
                    <a:pt x="2165220" y="0"/>
                    <a:pt x="2174682" y="3919"/>
                    <a:pt x="2181658" y="10895"/>
                  </a:cubicBezTo>
                  <a:cubicBezTo>
                    <a:pt x="2188634" y="17872"/>
                    <a:pt x="2192553" y="27333"/>
                    <a:pt x="2192553" y="37199"/>
                  </a:cubicBezTo>
                  <a:lnTo>
                    <a:pt x="2192553" y="707868"/>
                  </a:lnTo>
                  <a:cubicBezTo>
                    <a:pt x="2192553" y="717733"/>
                    <a:pt x="2188634" y="727195"/>
                    <a:pt x="2181658" y="734171"/>
                  </a:cubicBezTo>
                  <a:cubicBezTo>
                    <a:pt x="2174682" y="741147"/>
                    <a:pt x="2165220" y="745067"/>
                    <a:pt x="2155354" y="745067"/>
                  </a:cubicBezTo>
                  <a:lnTo>
                    <a:pt x="37199" y="745067"/>
                  </a:lnTo>
                  <a:cubicBezTo>
                    <a:pt x="27333" y="745067"/>
                    <a:pt x="17872" y="741147"/>
                    <a:pt x="10895" y="734171"/>
                  </a:cubicBezTo>
                  <a:cubicBezTo>
                    <a:pt x="3919" y="727195"/>
                    <a:pt x="0" y="717733"/>
                    <a:pt x="0" y="707868"/>
                  </a:cubicBezTo>
                  <a:lnTo>
                    <a:pt x="0" y="37199"/>
                  </a:lnTo>
                  <a:cubicBezTo>
                    <a:pt x="0" y="27333"/>
                    <a:pt x="3919" y="17872"/>
                    <a:pt x="10895" y="10895"/>
                  </a:cubicBezTo>
                  <a:cubicBezTo>
                    <a:pt x="17872" y="3919"/>
                    <a:pt x="27333" y="0"/>
                    <a:pt x="37199" y="0"/>
                  </a:cubicBezTo>
                  <a:close/>
                </a:path>
              </a:pathLst>
            </a:custGeom>
            <a:solidFill>
              <a:srgbClr val="42316A"/>
            </a:solidFill>
          </p:spPr>
        </p:sp>
        <p:sp>
          <p:nvSpPr>
            <p:cNvPr name="TextBox 4" id="4"/>
            <p:cNvSpPr txBox="true"/>
            <p:nvPr/>
          </p:nvSpPr>
          <p:spPr>
            <a:xfrm>
              <a:off x="0" y="-57150"/>
              <a:ext cx="2192553" cy="802217"/>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666750" y="6791325"/>
            <a:ext cx="8324850" cy="2828925"/>
            <a:chOff x="0" y="0"/>
            <a:chExt cx="2192553" cy="745067"/>
          </a:xfrm>
        </p:grpSpPr>
        <p:sp>
          <p:nvSpPr>
            <p:cNvPr name="Freeform 6" id="6"/>
            <p:cNvSpPr/>
            <p:nvPr/>
          </p:nvSpPr>
          <p:spPr>
            <a:xfrm flipH="false" flipV="false" rot="0">
              <a:off x="0" y="0"/>
              <a:ext cx="2192553" cy="745067"/>
            </a:xfrm>
            <a:custGeom>
              <a:avLst/>
              <a:gdLst/>
              <a:ahLst/>
              <a:cxnLst/>
              <a:rect r="r" b="b" t="t" l="l"/>
              <a:pathLst>
                <a:path h="745067" w="2192553">
                  <a:moveTo>
                    <a:pt x="37199" y="0"/>
                  </a:moveTo>
                  <a:lnTo>
                    <a:pt x="2155354" y="0"/>
                  </a:lnTo>
                  <a:cubicBezTo>
                    <a:pt x="2165220" y="0"/>
                    <a:pt x="2174682" y="3919"/>
                    <a:pt x="2181658" y="10895"/>
                  </a:cubicBezTo>
                  <a:cubicBezTo>
                    <a:pt x="2188634" y="17872"/>
                    <a:pt x="2192553" y="27333"/>
                    <a:pt x="2192553" y="37199"/>
                  </a:cubicBezTo>
                  <a:lnTo>
                    <a:pt x="2192553" y="707868"/>
                  </a:lnTo>
                  <a:cubicBezTo>
                    <a:pt x="2192553" y="717733"/>
                    <a:pt x="2188634" y="727195"/>
                    <a:pt x="2181658" y="734171"/>
                  </a:cubicBezTo>
                  <a:cubicBezTo>
                    <a:pt x="2174682" y="741147"/>
                    <a:pt x="2165220" y="745067"/>
                    <a:pt x="2155354" y="745067"/>
                  </a:cubicBezTo>
                  <a:lnTo>
                    <a:pt x="37199" y="745067"/>
                  </a:lnTo>
                  <a:cubicBezTo>
                    <a:pt x="27333" y="745067"/>
                    <a:pt x="17872" y="741147"/>
                    <a:pt x="10895" y="734171"/>
                  </a:cubicBezTo>
                  <a:cubicBezTo>
                    <a:pt x="3919" y="727195"/>
                    <a:pt x="0" y="717733"/>
                    <a:pt x="0" y="707868"/>
                  </a:cubicBezTo>
                  <a:lnTo>
                    <a:pt x="0" y="37199"/>
                  </a:lnTo>
                  <a:cubicBezTo>
                    <a:pt x="0" y="27333"/>
                    <a:pt x="3919" y="17872"/>
                    <a:pt x="10895" y="10895"/>
                  </a:cubicBezTo>
                  <a:cubicBezTo>
                    <a:pt x="17872" y="3919"/>
                    <a:pt x="27333" y="0"/>
                    <a:pt x="37199" y="0"/>
                  </a:cubicBezTo>
                  <a:close/>
                </a:path>
              </a:pathLst>
            </a:custGeom>
            <a:solidFill>
              <a:srgbClr val="42316A"/>
            </a:solidFill>
          </p:spPr>
        </p:sp>
        <p:sp>
          <p:nvSpPr>
            <p:cNvPr name="TextBox 7" id="7"/>
            <p:cNvSpPr txBox="true"/>
            <p:nvPr/>
          </p:nvSpPr>
          <p:spPr>
            <a:xfrm>
              <a:off x="0" y="-57150"/>
              <a:ext cx="2192553" cy="802217"/>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9296400" y="3657600"/>
            <a:ext cx="8334375" cy="2828925"/>
            <a:chOff x="0" y="0"/>
            <a:chExt cx="2195062" cy="745067"/>
          </a:xfrm>
        </p:grpSpPr>
        <p:sp>
          <p:nvSpPr>
            <p:cNvPr name="Freeform 9" id="9"/>
            <p:cNvSpPr/>
            <p:nvPr/>
          </p:nvSpPr>
          <p:spPr>
            <a:xfrm flipH="false" flipV="false" rot="0">
              <a:off x="0" y="0"/>
              <a:ext cx="2195062" cy="745067"/>
            </a:xfrm>
            <a:custGeom>
              <a:avLst/>
              <a:gdLst/>
              <a:ahLst/>
              <a:cxnLst/>
              <a:rect r="r" b="b" t="t" l="l"/>
              <a:pathLst>
                <a:path h="745067" w="2195062">
                  <a:moveTo>
                    <a:pt x="37157" y="0"/>
                  </a:moveTo>
                  <a:lnTo>
                    <a:pt x="2157905" y="0"/>
                  </a:lnTo>
                  <a:cubicBezTo>
                    <a:pt x="2178426" y="0"/>
                    <a:pt x="2195062" y="16636"/>
                    <a:pt x="2195062" y="37157"/>
                  </a:cubicBezTo>
                  <a:lnTo>
                    <a:pt x="2195062" y="707910"/>
                  </a:lnTo>
                  <a:cubicBezTo>
                    <a:pt x="2195062" y="728431"/>
                    <a:pt x="2178426" y="745067"/>
                    <a:pt x="2157905" y="745067"/>
                  </a:cubicBezTo>
                  <a:lnTo>
                    <a:pt x="37157" y="745067"/>
                  </a:lnTo>
                  <a:cubicBezTo>
                    <a:pt x="16636" y="745067"/>
                    <a:pt x="0" y="728431"/>
                    <a:pt x="0" y="707910"/>
                  </a:cubicBezTo>
                  <a:lnTo>
                    <a:pt x="0" y="37157"/>
                  </a:lnTo>
                  <a:cubicBezTo>
                    <a:pt x="0" y="16636"/>
                    <a:pt x="16636" y="0"/>
                    <a:pt x="37157" y="0"/>
                  </a:cubicBezTo>
                  <a:close/>
                </a:path>
              </a:pathLst>
            </a:custGeom>
            <a:solidFill>
              <a:srgbClr val="42316A"/>
            </a:solidFill>
          </p:spPr>
        </p:sp>
        <p:sp>
          <p:nvSpPr>
            <p:cNvPr name="TextBox 10" id="10"/>
            <p:cNvSpPr txBox="true"/>
            <p:nvPr/>
          </p:nvSpPr>
          <p:spPr>
            <a:xfrm>
              <a:off x="0" y="-57150"/>
              <a:ext cx="2195062" cy="802217"/>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9296400" y="6791325"/>
            <a:ext cx="8334375" cy="2828925"/>
            <a:chOff x="0" y="0"/>
            <a:chExt cx="2195062" cy="745067"/>
          </a:xfrm>
        </p:grpSpPr>
        <p:sp>
          <p:nvSpPr>
            <p:cNvPr name="Freeform 12" id="12"/>
            <p:cNvSpPr/>
            <p:nvPr/>
          </p:nvSpPr>
          <p:spPr>
            <a:xfrm flipH="false" flipV="false" rot="0">
              <a:off x="0" y="0"/>
              <a:ext cx="2195062" cy="745067"/>
            </a:xfrm>
            <a:custGeom>
              <a:avLst/>
              <a:gdLst/>
              <a:ahLst/>
              <a:cxnLst/>
              <a:rect r="r" b="b" t="t" l="l"/>
              <a:pathLst>
                <a:path h="745067" w="2195062">
                  <a:moveTo>
                    <a:pt x="37157" y="0"/>
                  </a:moveTo>
                  <a:lnTo>
                    <a:pt x="2157905" y="0"/>
                  </a:lnTo>
                  <a:cubicBezTo>
                    <a:pt x="2178426" y="0"/>
                    <a:pt x="2195062" y="16636"/>
                    <a:pt x="2195062" y="37157"/>
                  </a:cubicBezTo>
                  <a:lnTo>
                    <a:pt x="2195062" y="707910"/>
                  </a:lnTo>
                  <a:cubicBezTo>
                    <a:pt x="2195062" y="728431"/>
                    <a:pt x="2178426" y="745067"/>
                    <a:pt x="2157905" y="745067"/>
                  </a:cubicBezTo>
                  <a:lnTo>
                    <a:pt x="37157" y="745067"/>
                  </a:lnTo>
                  <a:cubicBezTo>
                    <a:pt x="16636" y="745067"/>
                    <a:pt x="0" y="728431"/>
                    <a:pt x="0" y="707910"/>
                  </a:cubicBezTo>
                  <a:lnTo>
                    <a:pt x="0" y="37157"/>
                  </a:lnTo>
                  <a:cubicBezTo>
                    <a:pt x="0" y="16636"/>
                    <a:pt x="16636" y="0"/>
                    <a:pt x="37157" y="0"/>
                  </a:cubicBezTo>
                  <a:close/>
                </a:path>
              </a:pathLst>
            </a:custGeom>
            <a:solidFill>
              <a:srgbClr val="42316A"/>
            </a:solidFill>
          </p:spPr>
        </p:sp>
        <p:sp>
          <p:nvSpPr>
            <p:cNvPr name="TextBox 13" id="13"/>
            <p:cNvSpPr txBox="true"/>
            <p:nvPr/>
          </p:nvSpPr>
          <p:spPr>
            <a:xfrm>
              <a:off x="0" y="-57150"/>
              <a:ext cx="2195062" cy="802217"/>
            </a:xfrm>
            <a:prstGeom prst="rect">
              <a:avLst/>
            </a:prstGeom>
          </p:spPr>
          <p:txBody>
            <a:bodyPr anchor="ctr" rtlCol="false" tIns="50800" lIns="50800" bIns="50800" rIns="50800"/>
            <a:lstStyle/>
            <a:p>
              <a:pPr algn="ctr">
                <a:lnSpc>
                  <a:spcPts val="3359"/>
                </a:lnSpc>
              </a:pPr>
            </a:p>
          </p:txBody>
        </p:sp>
      </p:grpSp>
      <p:grpSp>
        <p:nvGrpSpPr>
          <p:cNvPr name="Group 14" id="14"/>
          <p:cNvGrpSpPr/>
          <p:nvPr/>
        </p:nvGrpSpPr>
        <p:grpSpPr>
          <a:xfrm rot="0">
            <a:off x="666750" y="666750"/>
            <a:ext cx="16954500" cy="2686050"/>
            <a:chOff x="0" y="0"/>
            <a:chExt cx="4987154" cy="790100"/>
          </a:xfrm>
        </p:grpSpPr>
        <p:sp>
          <p:nvSpPr>
            <p:cNvPr name="Freeform 15" id="15"/>
            <p:cNvSpPr/>
            <p:nvPr/>
          </p:nvSpPr>
          <p:spPr>
            <a:xfrm flipH="false" flipV="false" rot="0">
              <a:off x="0" y="0"/>
              <a:ext cx="4987156" cy="790100"/>
            </a:xfrm>
            <a:custGeom>
              <a:avLst/>
              <a:gdLst/>
              <a:ahLst/>
              <a:cxnLst/>
              <a:rect r="r" b="b" t="t" l="l"/>
              <a:pathLst>
                <a:path h="790100" w="4987156">
                  <a:moveTo>
                    <a:pt x="4640197" y="0"/>
                  </a:moveTo>
                  <a:lnTo>
                    <a:pt x="148415" y="0"/>
                  </a:lnTo>
                  <a:cubicBezTo>
                    <a:pt x="66448" y="0"/>
                    <a:pt x="0" y="66448"/>
                    <a:pt x="0" y="148415"/>
                  </a:cubicBezTo>
                  <a:lnTo>
                    <a:pt x="0" y="510707"/>
                  </a:lnTo>
                  <a:cubicBezTo>
                    <a:pt x="0" y="547218"/>
                    <a:pt x="13458" y="582448"/>
                    <a:pt x="37800" y="609659"/>
                  </a:cubicBezTo>
                  <a:lnTo>
                    <a:pt x="154967" y="740636"/>
                  </a:lnTo>
                  <a:cubicBezTo>
                    <a:pt x="183122" y="772111"/>
                    <a:pt x="223353" y="790101"/>
                    <a:pt x="265584" y="790100"/>
                  </a:cubicBezTo>
                  <a:lnTo>
                    <a:pt x="4838740" y="790100"/>
                  </a:lnTo>
                  <a:cubicBezTo>
                    <a:pt x="4878102" y="790100"/>
                    <a:pt x="4915853" y="774464"/>
                    <a:pt x="4943686" y="746630"/>
                  </a:cubicBezTo>
                  <a:cubicBezTo>
                    <a:pt x="4971519" y="718797"/>
                    <a:pt x="4987156" y="681047"/>
                    <a:pt x="4987156" y="641685"/>
                  </a:cubicBezTo>
                  <a:lnTo>
                    <a:pt x="4987156" y="366141"/>
                  </a:lnTo>
                  <a:cubicBezTo>
                    <a:pt x="4987156" y="329143"/>
                    <a:pt x="4973337" y="293478"/>
                    <a:pt x="4948407" y="266140"/>
                  </a:cubicBezTo>
                  <a:lnTo>
                    <a:pt x="4749864" y="48414"/>
                  </a:lnTo>
                  <a:cubicBezTo>
                    <a:pt x="4721742" y="17574"/>
                    <a:pt x="4681934" y="0"/>
                    <a:pt x="4640197" y="0"/>
                  </a:cubicBezTo>
                  <a:close/>
                </a:path>
              </a:pathLst>
            </a:custGeom>
            <a:solidFill>
              <a:srgbClr val="7A6FB3"/>
            </a:solidFill>
            <a:ln w="12700">
              <a:solidFill>
                <a:srgbClr val="000000"/>
              </a:solidFill>
            </a:ln>
          </p:spPr>
        </p:sp>
      </p:grpSp>
      <p:grpSp>
        <p:nvGrpSpPr>
          <p:cNvPr name="Group 16" id="16"/>
          <p:cNvGrpSpPr/>
          <p:nvPr/>
        </p:nvGrpSpPr>
        <p:grpSpPr>
          <a:xfrm rot="0">
            <a:off x="2105025" y="4248150"/>
            <a:ext cx="6141142" cy="1671743"/>
            <a:chOff x="0" y="0"/>
            <a:chExt cx="8188190" cy="2228990"/>
          </a:xfrm>
        </p:grpSpPr>
        <p:sp>
          <p:nvSpPr>
            <p:cNvPr name="TextBox 17" id="17"/>
            <p:cNvSpPr txBox="true"/>
            <p:nvPr/>
          </p:nvSpPr>
          <p:spPr>
            <a:xfrm rot="0">
              <a:off x="0" y="-19050"/>
              <a:ext cx="8188190" cy="1162050"/>
            </a:xfrm>
            <a:prstGeom prst="rect">
              <a:avLst/>
            </a:prstGeom>
          </p:spPr>
          <p:txBody>
            <a:bodyPr anchor="t" rtlCol="false" tIns="0" lIns="0" bIns="0" rIns="0">
              <a:spAutoFit/>
            </a:bodyPr>
            <a:lstStyle/>
            <a:p>
              <a:pPr algn="l" marL="0" indent="0" lvl="0">
                <a:lnSpc>
                  <a:spcPts val="3442"/>
                </a:lnSpc>
                <a:spcBef>
                  <a:spcPct val="0"/>
                </a:spcBef>
              </a:pPr>
              <a:r>
                <a:rPr lang="en-US" b="true" sz="2868" spc="-157" strike="noStrike" u="none">
                  <a:solidFill>
                    <a:srgbClr val="D2D6F0"/>
                  </a:solidFill>
                  <a:latin typeface="Work Sans Bold"/>
                  <a:ea typeface="Work Sans Bold"/>
                  <a:cs typeface="Work Sans Bold"/>
                  <a:sym typeface="Work Sans Bold"/>
                </a:rPr>
                <a:t>Customized user experiences enhance engagement and satisfaction</a:t>
              </a:r>
            </a:p>
          </p:txBody>
        </p:sp>
        <p:sp>
          <p:nvSpPr>
            <p:cNvPr name="TextBox 18" id="18"/>
            <p:cNvSpPr txBox="true"/>
            <p:nvPr/>
          </p:nvSpPr>
          <p:spPr>
            <a:xfrm rot="0">
              <a:off x="0" y="1381265"/>
              <a:ext cx="8188190" cy="847725"/>
            </a:xfrm>
            <a:prstGeom prst="rect">
              <a:avLst/>
            </a:prstGeom>
          </p:spPr>
          <p:txBody>
            <a:bodyPr anchor="t" rtlCol="false" tIns="0" lIns="0" bIns="0" rIns="0">
              <a:spAutoFit/>
            </a:bodyPr>
            <a:lstStyle/>
            <a:p>
              <a:pPr algn="l" marL="0" indent="0" lvl="0">
                <a:lnSpc>
                  <a:spcPts val="2520"/>
                </a:lnSpc>
              </a:pPr>
              <a:r>
                <a:rPr lang="en-US" sz="2100" spc="-115">
                  <a:solidFill>
                    <a:srgbClr val="D2D6F0"/>
                  </a:solidFill>
                  <a:latin typeface="Work Sans"/>
                  <a:ea typeface="Work Sans"/>
                  <a:cs typeface="Work Sans"/>
                  <a:sym typeface="Work Sans"/>
                </a:rPr>
                <a:t>Users receive tailored music choices for their moods.</a:t>
              </a:r>
            </a:p>
          </p:txBody>
        </p:sp>
      </p:grpSp>
      <p:grpSp>
        <p:nvGrpSpPr>
          <p:cNvPr name="Group 19" id="19"/>
          <p:cNvGrpSpPr/>
          <p:nvPr/>
        </p:nvGrpSpPr>
        <p:grpSpPr>
          <a:xfrm rot="0">
            <a:off x="2105025" y="7381875"/>
            <a:ext cx="6141142" cy="1671743"/>
            <a:chOff x="0" y="0"/>
            <a:chExt cx="8188190" cy="2228990"/>
          </a:xfrm>
        </p:grpSpPr>
        <p:sp>
          <p:nvSpPr>
            <p:cNvPr name="TextBox 20" id="20"/>
            <p:cNvSpPr txBox="true"/>
            <p:nvPr/>
          </p:nvSpPr>
          <p:spPr>
            <a:xfrm rot="0">
              <a:off x="0" y="-19050"/>
              <a:ext cx="8188190" cy="1162050"/>
            </a:xfrm>
            <a:prstGeom prst="rect">
              <a:avLst/>
            </a:prstGeom>
          </p:spPr>
          <p:txBody>
            <a:bodyPr anchor="t" rtlCol="false" tIns="0" lIns="0" bIns="0" rIns="0">
              <a:spAutoFit/>
            </a:bodyPr>
            <a:lstStyle/>
            <a:p>
              <a:pPr algn="l" marL="0" indent="0" lvl="0">
                <a:lnSpc>
                  <a:spcPts val="3442"/>
                </a:lnSpc>
                <a:spcBef>
                  <a:spcPct val="0"/>
                </a:spcBef>
              </a:pPr>
              <a:r>
                <a:rPr lang="en-US" b="true" sz="2868" spc="-157" strike="noStrike" u="none">
                  <a:solidFill>
                    <a:srgbClr val="D2D6F0"/>
                  </a:solidFill>
                  <a:latin typeface="Work Sans Bold"/>
                  <a:ea typeface="Work Sans Bold"/>
                  <a:cs typeface="Work Sans Bold"/>
                  <a:sym typeface="Work Sans Bold"/>
                </a:rPr>
                <a:t>Instant recommendations provide seamless listening experiences</a:t>
              </a:r>
            </a:p>
          </p:txBody>
        </p:sp>
        <p:sp>
          <p:nvSpPr>
            <p:cNvPr name="TextBox 21" id="21"/>
            <p:cNvSpPr txBox="true"/>
            <p:nvPr/>
          </p:nvSpPr>
          <p:spPr>
            <a:xfrm rot="0">
              <a:off x="0" y="1381265"/>
              <a:ext cx="8188190" cy="847725"/>
            </a:xfrm>
            <a:prstGeom prst="rect">
              <a:avLst/>
            </a:prstGeom>
          </p:spPr>
          <p:txBody>
            <a:bodyPr anchor="t" rtlCol="false" tIns="0" lIns="0" bIns="0" rIns="0">
              <a:spAutoFit/>
            </a:bodyPr>
            <a:lstStyle/>
            <a:p>
              <a:pPr algn="l" marL="0" indent="0" lvl="0">
                <a:lnSpc>
                  <a:spcPts val="2520"/>
                </a:lnSpc>
              </a:pPr>
              <a:r>
                <a:rPr lang="en-US" sz="2100" spc="-115">
                  <a:solidFill>
                    <a:srgbClr val="D2D6F0"/>
                  </a:solidFill>
                  <a:latin typeface="Work Sans"/>
                  <a:ea typeface="Work Sans"/>
                  <a:cs typeface="Work Sans"/>
                  <a:sym typeface="Work Sans"/>
                </a:rPr>
                <a:t>Music is suggested based on real-time emotional analysis.</a:t>
              </a:r>
            </a:p>
          </p:txBody>
        </p:sp>
      </p:grpSp>
      <p:grpSp>
        <p:nvGrpSpPr>
          <p:cNvPr name="Group 22" id="22"/>
          <p:cNvGrpSpPr/>
          <p:nvPr/>
        </p:nvGrpSpPr>
        <p:grpSpPr>
          <a:xfrm rot="0">
            <a:off x="10734675" y="4248150"/>
            <a:ext cx="6216102" cy="1671743"/>
            <a:chOff x="0" y="0"/>
            <a:chExt cx="8288136" cy="2228990"/>
          </a:xfrm>
        </p:grpSpPr>
        <p:sp>
          <p:nvSpPr>
            <p:cNvPr name="TextBox 23" id="23"/>
            <p:cNvSpPr txBox="true"/>
            <p:nvPr/>
          </p:nvSpPr>
          <p:spPr>
            <a:xfrm rot="0">
              <a:off x="0" y="-19050"/>
              <a:ext cx="8288136" cy="1162050"/>
            </a:xfrm>
            <a:prstGeom prst="rect">
              <a:avLst/>
            </a:prstGeom>
          </p:spPr>
          <p:txBody>
            <a:bodyPr anchor="t" rtlCol="false" tIns="0" lIns="0" bIns="0" rIns="0">
              <a:spAutoFit/>
            </a:bodyPr>
            <a:lstStyle/>
            <a:p>
              <a:pPr algn="l" marL="0" indent="0" lvl="0">
                <a:lnSpc>
                  <a:spcPts val="3442"/>
                </a:lnSpc>
                <a:spcBef>
                  <a:spcPct val="0"/>
                </a:spcBef>
              </a:pPr>
              <a:r>
                <a:rPr lang="en-US" b="true" sz="2868" spc="-157" strike="noStrike" u="none">
                  <a:solidFill>
                    <a:srgbClr val="D2D6F0"/>
                  </a:solidFill>
                  <a:latin typeface="Work Sans Bold"/>
                  <a:ea typeface="Work Sans Bold"/>
                  <a:cs typeface="Work Sans Bold"/>
                  <a:sym typeface="Work Sans Bold"/>
                </a:rPr>
                <a:t>Multiple input methods ensure accessibility for everyone</a:t>
              </a:r>
            </a:p>
          </p:txBody>
        </p:sp>
        <p:sp>
          <p:nvSpPr>
            <p:cNvPr name="TextBox 24" id="24"/>
            <p:cNvSpPr txBox="true"/>
            <p:nvPr/>
          </p:nvSpPr>
          <p:spPr>
            <a:xfrm rot="0">
              <a:off x="0" y="1381265"/>
              <a:ext cx="8288136" cy="847725"/>
            </a:xfrm>
            <a:prstGeom prst="rect">
              <a:avLst/>
            </a:prstGeom>
          </p:spPr>
          <p:txBody>
            <a:bodyPr anchor="t" rtlCol="false" tIns="0" lIns="0" bIns="0" rIns="0">
              <a:spAutoFit/>
            </a:bodyPr>
            <a:lstStyle/>
            <a:p>
              <a:pPr algn="l" marL="0" indent="0" lvl="0">
                <a:lnSpc>
                  <a:spcPts val="2520"/>
                </a:lnSpc>
              </a:pPr>
              <a:r>
                <a:rPr lang="en-US" sz="2100" spc="-115">
                  <a:solidFill>
                    <a:srgbClr val="D2D6F0"/>
                  </a:solidFill>
                  <a:latin typeface="Work Sans"/>
                  <a:ea typeface="Work Sans"/>
                  <a:cs typeface="Work Sans"/>
                  <a:sym typeface="Work Sans"/>
                </a:rPr>
                <a:t>Users can choose from text, image, or webcam input.</a:t>
              </a:r>
            </a:p>
          </p:txBody>
        </p:sp>
      </p:grpSp>
      <p:grpSp>
        <p:nvGrpSpPr>
          <p:cNvPr name="Group 25" id="25"/>
          <p:cNvGrpSpPr/>
          <p:nvPr/>
        </p:nvGrpSpPr>
        <p:grpSpPr>
          <a:xfrm rot="0">
            <a:off x="10734675" y="7381875"/>
            <a:ext cx="6216102" cy="1671743"/>
            <a:chOff x="0" y="0"/>
            <a:chExt cx="8288136" cy="2228990"/>
          </a:xfrm>
        </p:grpSpPr>
        <p:sp>
          <p:nvSpPr>
            <p:cNvPr name="TextBox 26" id="26"/>
            <p:cNvSpPr txBox="true"/>
            <p:nvPr/>
          </p:nvSpPr>
          <p:spPr>
            <a:xfrm rot="0">
              <a:off x="0" y="-19050"/>
              <a:ext cx="8288136" cy="1162050"/>
            </a:xfrm>
            <a:prstGeom prst="rect">
              <a:avLst/>
            </a:prstGeom>
          </p:spPr>
          <p:txBody>
            <a:bodyPr anchor="t" rtlCol="false" tIns="0" lIns="0" bIns="0" rIns="0">
              <a:spAutoFit/>
            </a:bodyPr>
            <a:lstStyle/>
            <a:p>
              <a:pPr algn="l" marL="0" indent="0" lvl="0">
                <a:lnSpc>
                  <a:spcPts val="3442"/>
                </a:lnSpc>
                <a:spcBef>
                  <a:spcPct val="0"/>
                </a:spcBef>
              </a:pPr>
              <a:r>
                <a:rPr lang="en-US" b="true" sz="2868" spc="-157" strike="noStrike" u="none">
                  <a:solidFill>
                    <a:srgbClr val="D2D6F0"/>
                  </a:solidFill>
                  <a:latin typeface="Work Sans Bold"/>
                  <a:ea typeface="Work Sans Bold"/>
                  <a:cs typeface="Work Sans Bold"/>
                  <a:sym typeface="Work Sans Bold"/>
                </a:rPr>
                <a:t>Intuitive interface makes navigation easy for all users</a:t>
              </a:r>
            </a:p>
          </p:txBody>
        </p:sp>
        <p:sp>
          <p:nvSpPr>
            <p:cNvPr name="TextBox 27" id="27"/>
            <p:cNvSpPr txBox="true"/>
            <p:nvPr/>
          </p:nvSpPr>
          <p:spPr>
            <a:xfrm rot="0">
              <a:off x="0" y="1381265"/>
              <a:ext cx="8288136" cy="847725"/>
            </a:xfrm>
            <a:prstGeom prst="rect">
              <a:avLst/>
            </a:prstGeom>
          </p:spPr>
          <p:txBody>
            <a:bodyPr anchor="t" rtlCol="false" tIns="0" lIns="0" bIns="0" rIns="0">
              <a:spAutoFit/>
            </a:bodyPr>
            <a:lstStyle/>
            <a:p>
              <a:pPr algn="l" marL="0" indent="0" lvl="0">
                <a:lnSpc>
                  <a:spcPts val="2520"/>
                </a:lnSpc>
              </a:pPr>
              <a:r>
                <a:rPr lang="en-US" sz="2100" spc="-115">
                  <a:solidFill>
                    <a:srgbClr val="D2D6F0"/>
                  </a:solidFill>
                  <a:latin typeface="Work Sans"/>
                  <a:ea typeface="Work Sans"/>
                  <a:cs typeface="Work Sans"/>
                  <a:sym typeface="Work Sans"/>
                </a:rPr>
                <a:t>Clear design ensures a user-friendly interaction for everyone.</a:t>
              </a:r>
            </a:p>
          </p:txBody>
        </p:sp>
      </p:grpSp>
      <p:sp>
        <p:nvSpPr>
          <p:cNvPr name="TextBox 28" id="28"/>
          <p:cNvSpPr txBox="true"/>
          <p:nvPr/>
        </p:nvSpPr>
        <p:spPr>
          <a:xfrm rot="0">
            <a:off x="2105025" y="1641475"/>
            <a:ext cx="14077950" cy="898525"/>
          </a:xfrm>
          <a:prstGeom prst="rect">
            <a:avLst/>
          </a:prstGeom>
        </p:spPr>
        <p:txBody>
          <a:bodyPr anchor="t" rtlCol="false" tIns="0" lIns="0" bIns="0" rIns="0">
            <a:spAutoFit/>
          </a:bodyPr>
          <a:lstStyle/>
          <a:p>
            <a:pPr algn="l" marL="0" indent="0" lvl="0">
              <a:lnSpc>
                <a:spcPts val="6649"/>
              </a:lnSpc>
              <a:spcBef>
                <a:spcPct val="0"/>
              </a:spcBef>
            </a:pPr>
            <a:r>
              <a:rPr lang="en-US" b="true" sz="6999" spc="-384" strike="noStrike" u="none">
                <a:solidFill>
                  <a:srgbClr val="D2D6F0"/>
                </a:solidFill>
                <a:latin typeface="Work Sans Semi-Bold"/>
                <a:ea typeface="Work Sans Semi-Bold"/>
                <a:cs typeface="Work Sans Semi-Bold"/>
                <a:sym typeface="Work Sans Semi-Bold"/>
              </a:rPr>
              <a:t>Advantages</a:t>
            </a:r>
          </a:p>
        </p:txBody>
      </p:sp>
      <p:sp>
        <p:nvSpPr>
          <p:cNvPr name="Freeform 29" id="29"/>
          <p:cNvSpPr/>
          <p:nvPr/>
        </p:nvSpPr>
        <p:spPr>
          <a:xfrm flipH="false" flipV="false" rot="0">
            <a:off x="1319620" y="4248150"/>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0" id="30"/>
          <p:cNvSpPr/>
          <p:nvPr/>
        </p:nvSpPr>
        <p:spPr>
          <a:xfrm flipH="false" flipV="false" rot="0">
            <a:off x="9969341" y="4248150"/>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1" id="31"/>
          <p:cNvSpPr/>
          <p:nvPr/>
        </p:nvSpPr>
        <p:spPr>
          <a:xfrm flipH="false" flipV="false" rot="0">
            <a:off x="1319620" y="7381875"/>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2" id="32"/>
          <p:cNvSpPr/>
          <p:nvPr/>
        </p:nvSpPr>
        <p:spPr>
          <a:xfrm flipH="false" flipV="false" rot="0">
            <a:off x="9969341" y="7381875"/>
            <a:ext cx="460534" cy="460534"/>
          </a:xfrm>
          <a:custGeom>
            <a:avLst/>
            <a:gdLst/>
            <a:ahLst/>
            <a:cxnLst/>
            <a:rect r="r" b="b" t="t" l="l"/>
            <a:pathLst>
              <a:path h="460534" w="460534">
                <a:moveTo>
                  <a:pt x="0" y="0"/>
                </a:moveTo>
                <a:lnTo>
                  <a:pt x="460534" y="0"/>
                </a:lnTo>
                <a:lnTo>
                  <a:pt x="460534" y="460534"/>
                </a:lnTo>
                <a:lnTo>
                  <a:pt x="0" y="4605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A2342"/>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3299803" cy="1742593"/>
          </a:xfrm>
        </p:grpSpPr>
        <p:sp>
          <p:nvSpPr>
            <p:cNvPr name="Freeform 3" id="3"/>
            <p:cNvSpPr/>
            <p:nvPr/>
          </p:nvSpPr>
          <p:spPr>
            <a:xfrm flipH="false" flipV="false" rot="0">
              <a:off x="0" y="0"/>
              <a:ext cx="3299803" cy="1742587"/>
            </a:xfrm>
            <a:custGeom>
              <a:avLst/>
              <a:gdLst/>
              <a:ahLst/>
              <a:cxnLst/>
              <a:rect r="r" b="b" t="t" l="l"/>
              <a:pathLst>
                <a:path h="1742587" w="3299803">
                  <a:moveTo>
                    <a:pt x="965120" y="1606277"/>
                  </a:moveTo>
                  <a:cubicBezTo>
                    <a:pt x="983327" y="1585924"/>
                    <a:pt x="1009342" y="1574291"/>
                    <a:pt x="1036650" y="1574291"/>
                  </a:cubicBezTo>
                  <a:lnTo>
                    <a:pt x="3213538" y="1574626"/>
                  </a:lnTo>
                  <a:cubicBezTo>
                    <a:pt x="3236413" y="1574639"/>
                    <a:pt x="3258355" y="1565561"/>
                    <a:pt x="3274534" y="1549390"/>
                  </a:cubicBezTo>
                  <a:cubicBezTo>
                    <a:pt x="3290713" y="1533220"/>
                    <a:pt x="3299803" y="1511283"/>
                    <a:pt x="3299803" y="1488408"/>
                  </a:cubicBezTo>
                  <a:lnTo>
                    <a:pt x="3299803" y="86219"/>
                  </a:lnTo>
                  <a:cubicBezTo>
                    <a:pt x="3299803" y="63352"/>
                    <a:pt x="3290719" y="41422"/>
                    <a:pt x="3274550" y="25253"/>
                  </a:cubicBezTo>
                  <a:cubicBezTo>
                    <a:pt x="3258381" y="9084"/>
                    <a:pt x="3236451" y="0"/>
                    <a:pt x="3213584" y="0"/>
                  </a:cubicBezTo>
                  <a:lnTo>
                    <a:pt x="303022" y="0"/>
                  </a:lnTo>
                  <a:cubicBezTo>
                    <a:pt x="278489" y="-1"/>
                    <a:pt x="255117" y="10450"/>
                    <a:pt x="238760" y="28735"/>
                  </a:cubicBezTo>
                  <a:lnTo>
                    <a:pt x="21960" y="271092"/>
                  </a:lnTo>
                  <a:cubicBezTo>
                    <a:pt x="7818" y="286900"/>
                    <a:pt x="0" y="307366"/>
                    <a:pt x="0" y="328576"/>
                  </a:cubicBezTo>
                  <a:lnTo>
                    <a:pt x="0" y="1656375"/>
                  </a:lnTo>
                  <a:cubicBezTo>
                    <a:pt x="4" y="1703990"/>
                    <a:pt x="38604" y="1742587"/>
                    <a:pt x="86219" y="1742587"/>
                  </a:cubicBezTo>
                  <a:lnTo>
                    <a:pt x="804624" y="1742587"/>
                  </a:lnTo>
                  <a:cubicBezTo>
                    <a:pt x="829157" y="1742588"/>
                    <a:pt x="852529" y="1732137"/>
                    <a:pt x="868886" y="1713853"/>
                  </a:cubicBezTo>
                  <a:lnTo>
                    <a:pt x="965120" y="1606277"/>
                  </a:lnTo>
                  <a:close/>
                </a:path>
              </a:pathLst>
            </a:custGeom>
            <a:solidFill>
              <a:srgbClr val="42316A"/>
            </a:solidFill>
            <a:ln cap="rnd" w="12700">
              <a:solidFill>
                <a:srgbClr val="000000"/>
              </a:solidFill>
              <a:prstDash val="solid"/>
              <a:round/>
            </a:ln>
          </p:spPr>
        </p:sp>
      </p:grpSp>
      <p:grpSp>
        <p:nvGrpSpPr>
          <p:cNvPr name="Group 4" id="4"/>
          <p:cNvGrpSpPr/>
          <p:nvPr/>
        </p:nvGrpSpPr>
        <p:grpSpPr>
          <a:xfrm rot="0">
            <a:off x="2105025" y="1562100"/>
            <a:ext cx="6886575" cy="3713217"/>
            <a:chOff x="0" y="0"/>
            <a:chExt cx="9182100" cy="4950956"/>
          </a:xfrm>
        </p:grpSpPr>
        <p:sp>
          <p:nvSpPr>
            <p:cNvPr name="TextBox 5" id="5"/>
            <p:cNvSpPr txBox="true"/>
            <p:nvPr/>
          </p:nvSpPr>
          <p:spPr>
            <a:xfrm rot="0">
              <a:off x="0" y="1588631"/>
              <a:ext cx="7264400" cy="3362325"/>
            </a:xfrm>
            <a:prstGeom prst="rect">
              <a:avLst/>
            </a:prstGeom>
          </p:spPr>
          <p:txBody>
            <a:bodyPr anchor="t" rtlCol="false" tIns="0" lIns="0" bIns="0" rIns="0">
              <a:spAutoFit/>
            </a:bodyPr>
            <a:lstStyle/>
            <a:p>
              <a:pPr algn="l" marL="0" indent="0" lvl="0">
                <a:lnSpc>
                  <a:spcPts val="2520"/>
                </a:lnSpc>
              </a:pPr>
              <a:r>
                <a:rPr lang="en-US" sz="2100" spc="-115">
                  <a:solidFill>
                    <a:srgbClr val="D2D6F0"/>
                  </a:solidFill>
                  <a:latin typeface="Work Sans"/>
                  <a:ea typeface="Work Sans"/>
                  <a:cs typeface="Work Sans"/>
                  <a:sym typeface="Work Sans"/>
                </a:rPr>
                <a:t>The </a:t>
              </a:r>
              <a:r>
                <a:rPr lang="en-US" b="true" sz="2100" spc="-115">
                  <a:solidFill>
                    <a:srgbClr val="D2D6F0"/>
                  </a:solidFill>
                  <a:latin typeface="Work Sans Bold"/>
                  <a:ea typeface="Work Sans Bold"/>
                  <a:cs typeface="Work Sans Bold"/>
                  <a:sym typeface="Work Sans Bold"/>
                </a:rPr>
                <a:t>MoodMate system</a:t>
              </a:r>
              <a:r>
                <a:rPr lang="en-US" sz="2100" spc="-115">
                  <a:solidFill>
                    <a:srgbClr val="D2D6F0"/>
                  </a:solidFill>
                  <a:latin typeface="Work Sans"/>
                  <a:ea typeface="Work Sans"/>
                  <a:cs typeface="Work Sans"/>
                  <a:sym typeface="Work Sans"/>
                </a:rPr>
                <a:t> enhances user experiences by intelligently adapting to emotional states. Future enhancements may include voice emotion detection, more personalized learning algorithms, playlist generation, and a mobile app version, ensuring a broader reach and improved interaction for users worldwide.</a:t>
              </a:r>
            </a:p>
          </p:txBody>
        </p:sp>
        <p:sp>
          <p:nvSpPr>
            <p:cNvPr name="TextBox 6" id="6"/>
            <p:cNvSpPr txBox="true"/>
            <p:nvPr/>
          </p:nvSpPr>
          <p:spPr>
            <a:xfrm rot="0">
              <a:off x="0" y="133350"/>
              <a:ext cx="9182100" cy="1284817"/>
            </a:xfrm>
            <a:prstGeom prst="rect">
              <a:avLst/>
            </a:prstGeom>
          </p:spPr>
          <p:txBody>
            <a:bodyPr anchor="t" rtlCol="false" tIns="0" lIns="0" bIns="0" rIns="0">
              <a:spAutoFit/>
            </a:bodyPr>
            <a:lstStyle/>
            <a:p>
              <a:pPr algn="l" marL="0" indent="0" lvl="0">
                <a:lnSpc>
                  <a:spcPts val="6999"/>
                </a:lnSpc>
              </a:pPr>
              <a:r>
                <a:rPr lang="en-US" b="true" sz="6999" spc="-384" strike="noStrike" u="none">
                  <a:solidFill>
                    <a:srgbClr val="D2D6F0"/>
                  </a:solidFill>
                  <a:latin typeface="Work Sans Semi-Bold"/>
                  <a:ea typeface="Work Sans Semi-Bold"/>
                  <a:cs typeface="Work Sans Semi-Bold"/>
                  <a:sym typeface="Work Sans Semi-Bold"/>
                </a:rPr>
                <a:t>Conclusion</a:t>
              </a:r>
            </a:p>
          </p:txBody>
        </p:sp>
      </p:grpSp>
      <p:grpSp>
        <p:nvGrpSpPr>
          <p:cNvPr name="Group 7" id="7"/>
          <p:cNvGrpSpPr/>
          <p:nvPr/>
        </p:nvGrpSpPr>
        <p:grpSpPr>
          <a:xfrm rot="0">
            <a:off x="10312605" y="981075"/>
            <a:ext cx="6946695" cy="7471274"/>
            <a:chOff x="0" y="0"/>
            <a:chExt cx="3482081" cy="3745030"/>
          </a:xfrm>
        </p:grpSpPr>
        <p:sp>
          <p:nvSpPr>
            <p:cNvPr name="Freeform 8" id="8"/>
            <p:cNvSpPr/>
            <p:nvPr/>
          </p:nvSpPr>
          <p:spPr>
            <a:xfrm flipH="false" flipV="false" rot="0">
              <a:off x="54483" y="50038"/>
              <a:ext cx="3372988" cy="3645589"/>
            </a:xfrm>
            <a:custGeom>
              <a:avLst/>
              <a:gdLst/>
              <a:ahLst/>
              <a:cxnLst/>
              <a:rect r="r" b="b" t="t" l="l"/>
              <a:pathLst>
                <a:path h="3645589" w="3372988">
                  <a:moveTo>
                    <a:pt x="3285358" y="3645589"/>
                  </a:moveTo>
                  <a:lnTo>
                    <a:pt x="87757" y="3645589"/>
                  </a:lnTo>
                  <a:cubicBezTo>
                    <a:pt x="39370" y="3645589"/>
                    <a:pt x="0" y="3606346"/>
                    <a:pt x="0" y="3557832"/>
                  </a:cubicBezTo>
                  <a:lnTo>
                    <a:pt x="0" y="87757"/>
                  </a:lnTo>
                  <a:cubicBezTo>
                    <a:pt x="0" y="39370"/>
                    <a:pt x="39243" y="0"/>
                    <a:pt x="87757" y="0"/>
                  </a:cubicBezTo>
                  <a:lnTo>
                    <a:pt x="3285231" y="0"/>
                  </a:lnTo>
                  <a:cubicBezTo>
                    <a:pt x="3333618" y="0"/>
                    <a:pt x="3372988" y="39243"/>
                    <a:pt x="3372988" y="87757"/>
                  </a:cubicBezTo>
                  <a:lnTo>
                    <a:pt x="3372988" y="3557832"/>
                  </a:lnTo>
                  <a:cubicBezTo>
                    <a:pt x="3372988" y="3606219"/>
                    <a:pt x="3333745" y="3645589"/>
                    <a:pt x="3285231" y="3645589"/>
                  </a:cubicBezTo>
                  <a:close/>
                </a:path>
              </a:pathLst>
            </a:custGeom>
            <a:blipFill>
              <a:blip r:embed="rId2"/>
              <a:stretch>
                <a:fillRect l="0" t="-12" r="0" b="-12"/>
              </a:stretch>
            </a:blipFill>
          </p:spPr>
        </p:sp>
        <p:sp>
          <p:nvSpPr>
            <p:cNvPr name="Freeform 9" id="9"/>
            <p:cNvSpPr/>
            <p:nvPr/>
          </p:nvSpPr>
          <p:spPr>
            <a:xfrm flipH="false" flipV="false" rot="0">
              <a:off x="0" y="0"/>
              <a:ext cx="3481954" cy="3744903"/>
            </a:xfrm>
            <a:custGeom>
              <a:avLst/>
              <a:gdLst/>
              <a:ahLst/>
              <a:cxnLst/>
              <a:rect r="r" b="b" t="t" l="l"/>
              <a:pathLst>
                <a:path h="3744903" w="3481954">
                  <a:moveTo>
                    <a:pt x="0" y="91567"/>
                  </a:moveTo>
                  <a:lnTo>
                    <a:pt x="0" y="3653336"/>
                  </a:lnTo>
                  <a:cubicBezTo>
                    <a:pt x="0" y="3703882"/>
                    <a:pt x="41021" y="3744903"/>
                    <a:pt x="91567" y="3744903"/>
                  </a:cubicBezTo>
                  <a:lnTo>
                    <a:pt x="3390387" y="3744903"/>
                  </a:lnTo>
                  <a:cubicBezTo>
                    <a:pt x="3440933" y="3744903"/>
                    <a:pt x="3481954" y="3703882"/>
                    <a:pt x="3481954" y="3653336"/>
                  </a:cubicBezTo>
                  <a:lnTo>
                    <a:pt x="3481954" y="91567"/>
                  </a:lnTo>
                  <a:cubicBezTo>
                    <a:pt x="3481954" y="41021"/>
                    <a:pt x="3440933" y="0"/>
                    <a:pt x="3390387" y="0"/>
                  </a:cubicBezTo>
                  <a:lnTo>
                    <a:pt x="91567" y="0"/>
                  </a:lnTo>
                  <a:cubicBezTo>
                    <a:pt x="41021" y="0"/>
                    <a:pt x="0" y="41021"/>
                    <a:pt x="0" y="91567"/>
                  </a:cubicBezTo>
                  <a:close/>
                  <a:moveTo>
                    <a:pt x="2640198" y="331724"/>
                  </a:moveTo>
                  <a:lnTo>
                    <a:pt x="3299328" y="331724"/>
                  </a:lnTo>
                  <a:cubicBezTo>
                    <a:pt x="3349874" y="331724"/>
                    <a:pt x="3390895" y="372745"/>
                    <a:pt x="3390895" y="423291"/>
                  </a:cubicBezTo>
                  <a:lnTo>
                    <a:pt x="3390895" y="3562277"/>
                  </a:lnTo>
                  <a:cubicBezTo>
                    <a:pt x="3390895" y="3612823"/>
                    <a:pt x="3349874" y="3653844"/>
                    <a:pt x="3299328" y="3653844"/>
                  </a:cubicBezTo>
                  <a:lnTo>
                    <a:pt x="182753" y="3653844"/>
                  </a:lnTo>
                  <a:cubicBezTo>
                    <a:pt x="132207" y="3653844"/>
                    <a:pt x="91186" y="3612823"/>
                    <a:pt x="91186" y="3562277"/>
                  </a:cubicBezTo>
                  <a:lnTo>
                    <a:pt x="91186" y="182753"/>
                  </a:lnTo>
                  <a:cubicBezTo>
                    <a:pt x="91186" y="132207"/>
                    <a:pt x="132207" y="91186"/>
                    <a:pt x="182753" y="91186"/>
                  </a:cubicBezTo>
                  <a:lnTo>
                    <a:pt x="2343145" y="91186"/>
                  </a:lnTo>
                  <a:cubicBezTo>
                    <a:pt x="2369180" y="91186"/>
                    <a:pt x="2394072" y="102235"/>
                    <a:pt x="2411471" y="121666"/>
                  </a:cubicBezTo>
                  <a:lnTo>
                    <a:pt x="2572126" y="301244"/>
                  </a:lnTo>
                  <a:cubicBezTo>
                    <a:pt x="2589525" y="320675"/>
                    <a:pt x="2614290" y="331724"/>
                    <a:pt x="2640452" y="331724"/>
                  </a:cubicBezTo>
                  <a:lnTo>
                    <a:pt x="2640198" y="331724"/>
                  </a:lnTo>
                  <a:close/>
                </a:path>
              </a:pathLst>
            </a:custGeom>
            <a:solidFill>
              <a:srgbClr val="D2D6F0"/>
            </a:solid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271B47"/>
        </a:solidFill>
      </p:bgPr>
    </p:bg>
    <p:spTree>
      <p:nvGrpSpPr>
        <p:cNvPr id="1" name=""/>
        <p:cNvGrpSpPr/>
        <p:nvPr/>
      </p:nvGrpSpPr>
      <p:grpSpPr>
        <a:xfrm>
          <a:off x="0" y="0"/>
          <a:ext cx="0" cy="0"/>
          <a:chOff x="0" y="0"/>
          <a:chExt cx="0" cy="0"/>
        </a:xfrm>
      </p:grpSpPr>
      <p:grpSp>
        <p:nvGrpSpPr>
          <p:cNvPr name="Group 2" id="2"/>
          <p:cNvGrpSpPr/>
          <p:nvPr/>
        </p:nvGrpSpPr>
        <p:grpSpPr>
          <a:xfrm rot="0">
            <a:off x="10734675" y="666750"/>
            <a:ext cx="6886575" cy="8953500"/>
            <a:chOff x="0" y="0"/>
            <a:chExt cx="1200275" cy="1560523"/>
          </a:xfrm>
        </p:grpSpPr>
        <p:sp>
          <p:nvSpPr>
            <p:cNvPr name="Freeform 3" id="3"/>
            <p:cNvSpPr/>
            <p:nvPr/>
          </p:nvSpPr>
          <p:spPr>
            <a:xfrm flipH="false" flipV="false" rot="0">
              <a:off x="0" y="0"/>
              <a:ext cx="1200275" cy="1560523"/>
            </a:xfrm>
            <a:custGeom>
              <a:avLst/>
              <a:gdLst/>
              <a:ahLst/>
              <a:cxnLst/>
              <a:rect r="r" b="b" t="t" l="l"/>
              <a:pathLst>
                <a:path h="1560523" w="1200275">
                  <a:moveTo>
                    <a:pt x="44968" y="0"/>
                  </a:moveTo>
                  <a:lnTo>
                    <a:pt x="1155306" y="0"/>
                  </a:lnTo>
                  <a:cubicBezTo>
                    <a:pt x="1167233" y="0"/>
                    <a:pt x="1178670" y="4738"/>
                    <a:pt x="1187104" y="13171"/>
                  </a:cubicBezTo>
                  <a:cubicBezTo>
                    <a:pt x="1195537" y="21604"/>
                    <a:pt x="1200275" y="33042"/>
                    <a:pt x="1200275" y="44968"/>
                  </a:cubicBezTo>
                  <a:lnTo>
                    <a:pt x="1200275" y="1515555"/>
                  </a:lnTo>
                  <a:cubicBezTo>
                    <a:pt x="1200275" y="1527481"/>
                    <a:pt x="1195537" y="1538919"/>
                    <a:pt x="1187104" y="1547352"/>
                  </a:cubicBezTo>
                  <a:cubicBezTo>
                    <a:pt x="1178670" y="1555785"/>
                    <a:pt x="1167233" y="1560523"/>
                    <a:pt x="1155306" y="1560523"/>
                  </a:cubicBezTo>
                  <a:lnTo>
                    <a:pt x="44968" y="1560523"/>
                  </a:lnTo>
                  <a:cubicBezTo>
                    <a:pt x="33042" y="1560523"/>
                    <a:pt x="21604" y="1555785"/>
                    <a:pt x="13171" y="1547352"/>
                  </a:cubicBezTo>
                  <a:cubicBezTo>
                    <a:pt x="4738" y="1538919"/>
                    <a:pt x="0" y="1527481"/>
                    <a:pt x="0" y="1515555"/>
                  </a:cubicBezTo>
                  <a:lnTo>
                    <a:pt x="0" y="44968"/>
                  </a:lnTo>
                  <a:cubicBezTo>
                    <a:pt x="0" y="33042"/>
                    <a:pt x="4738" y="21604"/>
                    <a:pt x="13171" y="13171"/>
                  </a:cubicBezTo>
                  <a:cubicBezTo>
                    <a:pt x="21604" y="4738"/>
                    <a:pt x="33042" y="0"/>
                    <a:pt x="44968" y="0"/>
                  </a:cubicBezTo>
                  <a:close/>
                </a:path>
              </a:pathLst>
            </a:custGeom>
            <a:blipFill>
              <a:blip r:embed="rId2"/>
              <a:stretch>
                <a:fillRect l="0" t="-271" r="0" b="-271"/>
              </a:stretch>
            </a:blipFill>
            <a:ln w="19050" cap="rnd">
              <a:solidFill>
                <a:srgbClr val="432766"/>
              </a:solidFill>
              <a:prstDash val="solid"/>
              <a:round/>
            </a:ln>
          </p:spPr>
        </p:sp>
      </p:grpSp>
      <p:sp>
        <p:nvSpPr>
          <p:cNvPr name="TextBox 4" id="4"/>
          <p:cNvSpPr txBox="true"/>
          <p:nvPr/>
        </p:nvSpPr>
        <p:spPr>
          <a:xfrm rot="0">
            <a:off x="1738328" y="3872719"/>
            <a:ext cx="8270304" cy="1822088"/>
          </a:xfrm>
          <a:prstGeom prst="rect">
            <a:avLst/>
          </a:prstGeom>
        </p:spPr>
        <p:txBody>
          <a:bodyPr anchor="t" rtlCol="false" tIns="0" lIns="0" bIns="0" rIns="0">
            <a:spAutoFit/>
          </a:bodyPr>
          <a:lstStyle/>
          <a:p>
            <a:pPr algn="ctr">
              <a:lnSpc>
                <a:spcPts val="13621"/>
              </a:lnSpc>
              <a:spcBef>
                <a:spcPct val="0"/>
              </a:spcBef>
            </a:pPr>
            <a:r>
              <a:rPr lang="en-US" b="true" sz="13621" spc="-749">
                <a:solidFill>
                  <a:srgbClr val="FFFFFF"/>
                </a:solidFill>
                <a:latin typeface="Work Sans Semi-Bold"/>
                <a:ea typeface="Work Sans Semi-Bold"/>
                <a:cs typeface="Work Sans Semi-Bold"/>
                <a:sym typeface="Work Sans Semi-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MoodMate</dc:description>
  <dc:identifier>DAG-8hg3Jig</dc:identifier>
  <dcterms:modified xsi:type="dcterms:W3CDTF">2011-08-01T06:04:30Z</dcterms:modified>
  <cp:revision>1</cp:revision>
  <dc:title>Presentation - MoodMate</dc:title>
</cp:coreProperties>
</file>