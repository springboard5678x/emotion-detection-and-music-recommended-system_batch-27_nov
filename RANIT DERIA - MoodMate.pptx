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Bebas Neue Cyrillic" panose="020B0604020202020204" charset="0"/>
      <p:regular r:id="rId18"/>
    </p:embeddedFont>
    <p:embeddedFont>
      <p:font typeface="Gotham" panose="020B0604020202020204" charset="0"/>
      <p:regular r:id="rId19"/>
    </p:embeddedFont>
    <p:embeddedFont>
      <p:font typeface="Gotham Bold" panose="020B0604020202020204" charset="0"/>
      <p:regular r:id="rId20"/>
    </p:embeddedFont>
    <p:embeddedFont>
      <p:font typeface="Gotham Bold Italics" panose="020B0604020202020204" charset="0"/>
      <p:regular r:id="rId21"/>
    </p:embeddedFont>
    <p:embeddedFont>
      <p:font typeface="Gotham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sv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hyperlink" Target="https://github.com/RanitDERIA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hyperlink" Target="https://www.ranitderia.tech" TargetMode="External"/><Relationship Id="rId2" Type="http://schemas.openxmlformats.org/officeDocument/2006/relationships/image" Target="../media/image4.png"/><Relationship Id="rId16" Type="http://schemas.openxmlformats.org/officeDocument/2006/relationships/hyperlink" Target="mailto:bytebardderia@gmail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1.png"/><Relationship Id="rId15" Type="http://schemas.openxmlformats.org/officeDocument/2006/relationships/hyperlink" Target="https://x.com/DeriaRanit" TargetMode="External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hyperlink" Target="https://www.linkedin.com/in/ranit-deria-91686425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6820" y="1028700"/>
            <a:ext cx="923055" cy="923055"/>
          </a:xfrm>
          <a:custGeom>
            <a:avLst/>
            <a:gdLst/>
            <a:ahLst/>
            <a:cxnLst/>
            <a:rect l="l" t="t" r="r" b="b"/>
            <a:pathLst>
              <a:path w="923055" h="923055">
                <a:moveTo>
                  <a:pt x="0" y="0"/>
                </a:moveTo>
                <a:lnTo>
                  <a:pt x="923055" y="0"/>
                </a:lnTo>
                <a:lnTo>
                  <a:pt x="923055" y="923055"/>
                </a:lnTo>
                <a:lnTo>
                  <a:pt x="0" y="923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00199" y="2770904"/>
            <a:ext cx="4810587" cy="4753769"/>
          </a:xfrm>
          <a:custGeom>
            <a:avLst/>
            <a:gdLst/>
            <a:ahLst/>
            <a:cxnLst/>
            <a:rect l="l" t="t" r="r" b="b"/>
            <a:pathLst>
              <a:path w="4810587" h="4753769">
                <a:moveTo>
                  <a:pt x="0" y="0"/>
                </a:moveTo>
                <a:lnTo>
                  <a:pt x="4810587" y="0"/>
                </a:lnTo>
                <a:lnTo>
                  <a:pt x="4810587" y="4753769"/>
                </a:lnTo>
                <a:lnTo>
                  <a:pt x="0" y="4753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00868" y="3516959"/>
            <a:ext cx="4358432" cy="4007714"/>
          </a:xfrm>
          <a:custGeom>
            <a:avLst/>
            <a:gdLst/>
            <a:ahLst/>
            <a:cxnLst/>
            <a:rect l="l" t="t" r="r" b="b"/>
            <a:pathLst>
              <a:path w="4358432" h="4007714">
                <a:moveTo>
                  <a:pt x="0" y="0"/>
                </a:moveTo>
                <a:lnTo>
                  <a:pt x="4358432" y="0"/>
                </a:lnTo>
                <a:lnTo>
                  <a:pt x="4358432" y="4007714"/>
                </a:lnTo>
                <a:lnTo>
                  <a:pt x="0" y="4007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93" t="-10826" b="-1546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6820" y="3887295"/>
            <a:ext cx="6598431" cy="1260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99"/>
              </a:lnSpc>
            </a:pPr>
            <a:r>
              <a:rPr lang="en-US" sz="9499" spc="474">
                <a:solidFill>
                  <a:srgbClr val="F35554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PROJECT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895903"/>
            <a:ext cx="8115300" cy="330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 i="1">
                <a:solidFill>
                  <a:srgbClr val="11245C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Presented By: RANIT DERIA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7760" y="4919350"/>
            <a:ext cx="6598431" cy="166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10"/>
              </a:lnSpc>
            </a:pPr>
            <a:r>
              <a:rPr lang="en-US" sz="12410" spc="620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MOODMATE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23878" y="1143259"/>
            <a:ext cx="7120122" cy="330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500" b="1" spc="112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MOODMATE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23878" y="1578374"/>
            <a:ext cx="7120122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i="1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Don't just listen. Feel the music.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2 of 16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-2013793" y="4493432"/>
            <a:ext cx="73024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TABLE OF CONTENTS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797441" y="1446913"/>
            <a:ext cx="809806" cy="80980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35011" y="1438622"/>
            <a:ext cx="809806" cy="80980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97441" y="2483055"/>
            <a:ext cx="809806" cy="80980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35011" y="2474764"/>
            <a:ext cx="809806" cy="80980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97441" y="3519197"/>
            <a:ext cx="809806" cy="80980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35011" y="3510906"/>
            <a:ext cx="809806" cy="809806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797441" y="4555339"/>
            <a:ext cx="809806" cy="80980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35011" y="4547048"/>
            <a:ext cx="809806" cy="80980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797441" y="5591480"/>
            <a:ext cx="809806" cy="80980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735011" y="5583190"/>
            <a:ext cx="809806" cy="809806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797441" y="6627622"/>
            <a:ext cx="809806" cy="809806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735011" y="6619332"/>
            <a:ext cx="809806" cy="809806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795969" y="7660419"/>
            <a:ext cx="809806" cy="809806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733539" y="7652129"/>
            <a:ext cx="809806" cy="809806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2895307" y="1786880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832877" y="1778589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895307" y="2822141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832877" y="2813851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95307" y="3857403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832877" y="3849112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895307" y="4892665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06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832877" y="4884374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895307" y="5927926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07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832877" y="5919636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14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895307" y="6963188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08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832877" y="6954897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15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893835" y="7995985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09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831404" y="7987694"/>
            <a:ext cx="611130" cy="34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sz="322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16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90974" y="1780736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PROJECT OVERVIEW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913694" y="1724362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TRAINING &amp; EVALUATION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790974" y="2824405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DATASET ARCHITECTURE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913694" y="2768032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RESULTS COMPARISON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790974" y="3868075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METHODOLOGY &amp; PIPELINE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913694" y="3811701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SYSTEM INTEGRATION (UI)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790974" y="4911744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EXPLORATORY DATA ANALYSIS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913694" y="4855370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CHALLENGES &amp; SOLUTIONS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790974" y="5955414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DATA PREPROCESSING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913694" y="5899040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FUTURE SCOPE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790974" y="6999083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FEATURE EXTRACTION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913694" y="6942709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CONCLUSION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790974" y="8042752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MODEL ARCHITECTURE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913694" y="7986379"/>
            <a:ext cx="5571089" cy="29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1" spc="99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THANK YOU</a:t>
            </a:r>
          </a:p>
        </p:txBody>
      </p:sp>
      <p:sp>
        <p:nvSpPr>
          <p:cNvPr id="78" name="Freeform 78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92286" y="2109093"/>
            <a:ext cx="6343871" cy="5662973"/>
          </a:xfrm>
          <a:custGeom>
            <a:avLst/>
            <a:gdLst/>
            <a:ahLst/>
            <a:cxnLst/>
            <a:rect l="l" t="t" r="r" b="b"/>
            <a:pathLst>
              <a:path w="6343871" h="5662973">
                <a:moveTo>
                  <a:pt x="0" y="0"/>
                </a:moveTo>
                <a:lnTo>
                  <a:pt x="6343871" y="0"/>
                </a:lnTo>
                <a:lnTo>
                  <a:pt x="6343871" y="5662973"/>
                </a:lnTo>
                <a:lnTo>
                  <a:pt x="0" y="56629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9094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3 of 16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-2024032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PORJECT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1570792"/>
            <a:ext cx="8115300" cy="669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Objective: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To architect a Full-Stack application that automatically detects a user's emotional state via computer vision and curates a personalized music playlist in real-time.</a:t>
            </a:r>
          </a:p>
          <a:p>
            <a:pPr algn="l">
              <a:lnSpc>
                <a:spcPts val="3359"/>
              </a:lnSpc>
            </a:pPr>
            <a:endParaRPr lang="en-US" sz="2400" spc="108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359"/>
              </a:lnSpc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The Problem &amp; Solution: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Traditional music apps require manual inputs, such as searching for "sad songs". MoodMate digitizes intuition, using facial micro-expressions to automate the music discovery process.</a:t>
            </a:r>
          </a:p>
          <a:p>
            <a:pPr algn="l">
              <a:lnSpc>
                <a:spcPts val="3359"/>
              </a:lnSpc>
            </a:pPr>
            <a:endParaRPr lang="en-US" sz="2400" spc="108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359"/>
              </a:lnSpc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Key Outcomes: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Real-Time Inference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Dynamic Mapping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Cinematic UX</a:t>
            </a:r>
          </a:p>
          <a:p>
            <a:pPr algn="l">
              <a:lnSpc>
                <a:spcPts val="3359"/>
              </a:lnSpc>
            </a:pPr>
            <a:endParaRPr lang="en-US" sz="2400" spc="108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2881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463646" y="2335659"/>
            <a:ext cx="13729427" cy="3797376"/>
            <a:chOff x="0" y="0"/>
            <a:chExt cx="3615981" cy="10001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15981" cy="1000132"/>
            </a:xfrm>
            <a:custGeom>
              <a:avLst/>
              <a:gdLst/>
              <a:ahLst/>
              <a:cxnLst/>
              <a:rect l="l" t="t" r="r" b="b"/>
              <a:pathLst>
                <a:path w="3615981" h="1000132">
                  <a:moveTo>
                    <a:pt x="28759" y="0"/>
                  </a:moveTo>
                  <a:lnTo>
                    <a:pt x="3587223" y="0"/>
                  </a:lnTo>
                  <a:cubicBezTo>
                    <a:pt x="3594850" y="0"/>
                    <a:pt x="3602164" y="3030"/>
                    <a:pt x="3607558" y="8423"/>
                  </a:cubicBezTo>
                  <a:cubicBezTo>
                    <a:pt x="3612951" y="13816"/>
                    <a:pt x="3615981" y="21131"/>
                    <a:pt x="3615981" y="28759"/>
                  </a:cubicBezTo>
                  <a:lnTo>
                    <a:pt x="3615981" y="971373"/>
                  </a:lnTo>
                  <a:cubicBezTo>
                    <a:pt x="3615981" y="979001"/>
                    <a:pt x="3612951" y="986316"/>
                    <a:pt x="3607558" y="991709"/>
                  </a:cubicBezTo>
                  <a:cubicBezTo>
                    <a:pt x="3602164" y="997102"/>
                    <a:pt x="3594850" y="1000132"/>
                    <a:pt x="3587223" y="1000132"/>
                  </a:cubicBezTo>
                  <a:lnTo>
                    <a:pt x="28759" y="1000132"/>
                  </a:lnTo>
                  <a:cubicBezTo>
                    <a:pt x="12876" y="1000132"/>
                    <a:pt x="0" y="987256"/>
                    <a:pt x="0" y="971373"/>
                  </a:cubicBezTo>
                  <a:lnTo>
                    <a:pt x="0" y="28759"/>
                  </a:lnTo>
                  <a:cubicBezTo>
                    <a:pt x="0" y="21131"/>
                    <a:pt x="3030" y="13816"/>
                    <a:pt x="8423" y="8423"/>
                  </a:cubicBezTo>
                  <a:cubicBezTo>
                    <a:pt x="13816" y="3030"/>
                    <a:pt x="21131" y="0"/>
                    <a:pt x="28759" y="0"/>
                  </a:cubicBezTo>
                  <a:close/>
                </a:path>
              </a:pathLst>
            </a:custGeom>
            <a:solidFill>
              <a:srgbClr val="11245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3615981" cy="962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4 of 16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-2024032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DATASET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20994" y="2527200"/>
            <a:ext cx="5761028" cy="375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spc="10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Vision Data: FER-2013</a:t>
            </a:r>
          </a:p>
          <a:p>
            <a:pPr algn="l">
              <a:lnSpc>
                <a:spcPts val="3359"/>
              </a:lnSpc>
            </a:pPr>
            <a:endParaRPr lang="en-US" sz="2400" b="1" spc="108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1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Structure: 48 x 48 pixel grayscale images.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1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Size: ~35,887 labeled images.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1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Classes: 7 Emotions (Angry, Disgust, Fear, Happy, Sad, Surprise, Neutral).</a:t>
            </a:r>
          </a:p>
          <a:p>
            <a:pPr algn="l">
              <a:lnSpc>
                <a:spcPts val="3359"/>
              </a:lnSpc>
            </a:pPr>
            <a:endParaRPr lang="en-US" sz="2400" spc="108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82006" y="1845021"/>
            <a:ext cx="7643765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 b="1" spc="99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MoodMate leverages a Dual-Dataset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58346" y="2527200"/>
            <a:ext cx="5761028" cy="3339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 spc="10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Audio Data: Spotify Tracks Dataset</a:t>
            </a:r>
          </a:p>
          <a:p>
            <a:pPr algn="ctr">
              <a:lnSpc>
                <a:spcPts val="3359"/>
              </a:lnSpc>
            </a:pPr>
            <a:endParaRPr lang="en-US" sz="2400" b="1" spc="108">
              <a:solidFill>
                <a:srgbClr val="FFFFFF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1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Size: ~30,000 tracks.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spc="1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Key Features: Valence (Musical Positivity), Energy, Danceability.</a:t>
            </a:r>
          </a:p>
          <a:p>
            <a:pPr algn="l">
              <a:lnSpc>
                <a:spcPts val="3359"/>
              </a:lnSpc>
            </a:pPr>
            <a:endParaRPr lang="en-US" sz="2400" spc="108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AutoShape 15"/>
          <p:cNvSpPr/>
          <p:nvPr/>
        </p:nvSpPr>
        <p:spPr>
          <a:xfrm flipH="1">
            <a:off x="8984839" y="3351202"/>
            <a:ext cx="19050" cy="1744080"/>
          </a:xfrm>
          <a:prstGeom prst="line">
            <a:avLst/>
          </a:prstGeom>
          <a:ln w="38100" cap="rnd">
            <a:solidFill>
              <a:srgbClr val="FFFFFF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2463646" y="6379868"/>
            <a:ext cx="13729427" cy="2082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10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REASON FOR CHOOSING: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Standardization:</a:t>
            </a:r>
            <a:r>
              <a:rPr lang="en-US" sz="2400" spc="10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Industry benchmark for lightweight CNN models.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Psychological Mapping:</a:t>
            </a:r>
            <a:r>
              <a:rPr lang="en-US" sz="2400" spc="10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scientifically maps human emotions to musical theory (Russell’s Circumplex Model).</a:t>
            </a:r>
          </a:p>
          <a:p>
            <a:pPr algn="l">
              <a:lnSpc>
                <a:spcPts val="3359"/>
              </a:lnSpc>
            </a:pPr>
            <a:endParaRPr lang="en-US" sz="2400" spc="108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775112" y="1415628"/>
            <a:ext cx="8785046" cy="640492"/>
            <a:chOff x="0" y="0"/>
            <a:chExt cx="3281245" cy="2392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81245" cy="239226"/>
            </a:xfrm>
            <a:custGeom>
              <a:avLst/>
              <a:gdLst/>
              <a:ahLst/>
              <a:cxnLst/>
              <a:rect l="l" t="t" r="r" b="b"/>
              <a:pathLst>
                <a:path w="3281245" h="239226">
                  <a:moveTo>
                    <a:pt x="3078045" y="0"/>
                  </a:moveTo>
                  <a:cubicBezTo>
                    <a:pt x="3190270" y="0"/>
                    <a:pt x="3281245" y="53553"/>
                    <a:pt x="3281245" y="119613"/>
                  </a:cubicBezTo>
                  <a:cubicBezTo>
                    <a:pt x="3281245" y="185673"/>
                    <a:pt x="3190270" y="239226"/>
                    <a:pt x="3078045" y="239226"/>
                  </a:cubicBezTo>
                  <a:lnTo>
                    <a:pt x="203200" y="239226"/>
                  </a:lnTo>
                  <a:cubicBezTo>
                    <a:pt x="90976" y="239226"/>
                    <a:pt x="0" y="185673"/>
                    <a:pt x="0" y="119613"/>
                  </a:cubicBezTo>
                  <a:cubicBezTo>
                    <a:pt x="0" y="535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3281245" cy="191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36102" y="1496863"/>
            <a:ext cx="478020" cy="47802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788179" y="3220692"/>
            <a:ext cx="8785046" cy="640492"/>
            <a:chOff x="0" y="0"/>
            <a:chExt cx="3281245" cy="2392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81245" cy="239226"/>
            </a:xfrm>
            <a:custGeom>
              <a:avLst/>
              <a:gdLst/>
              <a:ahLst/>
              <a:cxnLst/>
              <a:rect l="l" t="t" r="r" b="b"/>
              <a:pathLst>
                <a:path w="3281245" h="239226">
                  <a:moveTo>
                    <a:pt x="3078045" y="0"/>
                  </a:moveTo>
                  <a:cubicBezTo>
                    <a:pt x="3190270" y="0"/>
                    <a:pt x="3281245" y="53553"/>
                    <a:pt x="3281245" y="119613"/>
                  </a:cubicBezTo>
                  <a:cubicBezTo>
                    <a:pt x="3281245" y="185673"/>
                    <a:pt x="3190270" y="239226"/>
                    <a:pt x="3078045" y="239226"/>
                  </a:cubicBezTo>
                  <a:lnTo>
                    <a:pt x="203200" y="239226"/>
                  </a:lnTo>
                  <a:cubicBezTo>
                    <a:pt x="90976" y="239226"/>
                    <a:pt x="0" y="185673"/>
                    <a:pt x="0" y="119613"/>
                  </a:cubicBezTo>
                  <a:cubicBezTo>
                    <a:pt x="0" y="535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1245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47625"/>
              <a:ext cx="3281245" cy="191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9169" y="3301927"/>
            <a:ext cx="478020" cy="47802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775112" y="5027122"/>
            <a:ext cx="8785046" cy="640492"/>
            <a:chOff x="0" y="0"/>
            <a:chExt cx="3281245" cy="2392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81245" cy="239226"/>
            </a:xfrm>
            <a:custGeom>
              <a:avLst/>
              <a:gdLst/>
              <a:ahLst/>
              <a:cxnLst/>
              <a:rect l="l" t="t" r="r" b="b"/>
              <a:pathLst>
                <a:path w="3281245" h="239226">
                  <a:moveTo>
                    <a:pt x="3078045" y="0"/>
                  </a:moveTo>
                  <a:cubicBezTo>
                    <a:pt x="3190270" y="0"/>
                    <a:pt x="3281245" y="53553"/>
                    <a:pt x="3281245" y="119613"/>
                  </a:cubicBezTo>
                  <a:cubicBezTo>
                    <a:pt x="3281245" y="185673"/>
                    <a:pt x="3190270" y="239226"/>
                    <a:pt x="3078045" y="239226"/>
                  </a:cubicBezTo>
                  <a:lnTo>
                    <a:pt x="203200" y="239226"/>
                  </a:lnTo>
                  <a:cubicBezTo>
                    <a:pt x="90976" y="239226"/>
                    <a:pt x="0" y="185673"/>
                    <a:pt x="0" y="119613"/>
                  </a:cubicBezTo>
                  <a:cubicBezTo>
                    <a:pt x="0" y="535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47625"/>
              <a:ext cx="3281245" cy="191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36102" y="5108358"/>
            <a:ext cx="478020" cy="47802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01246" y="6832186"/>
            <a:ext cx="8785046" cy="640492"/>
            <a:chOff x="0" y="0"/>
            <a:chExt cx="3281245" cy="23922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281245" cy="239226"/>
            </a:xfrm>
            <a:custGeom>
              <a:avLst/>
              <a:gdLst/>
              <a:ahLst/>
              <a:cxnLst/>
              <a:rect l="l" t="t" r="r" b="b"/>
              <a:pathLst>
                <a:path w="3281245" h="239226">
                  <a:moveTo>
                    <a:pt x="3078045" y="0"/>
                  </a:moveTo>
                  <a:cubicBezTo>
                    <a:pt x="3190270" y="0"/>
                    <a:pt x="3281245" y="53553"/>
                    <a:pt x="3281245" y="119613"/>
                  </a:cubicBezTo>
                  <a:cubicBezTo>
                    <a:pt x="3281245" y="185673"/>
                    <a:pt x="3190270" y="239226"/>
                    <a:pt x="3078045" y="239226"/>
                  </a:cubicBezTo>
                  <a:lnTo>
                    <a:pt x="203200" y="239226"/>
                  </a:lnTo>
                  <a:cubicBezTo>
                    <a:pt x="90976" y="239226"/>
                    <a:pt x="0" y="185673"/>
                    <a:pt x="0" y="119613"/>
                  </a:cubicBezTo>
                  <a:cubicBezTo>
                    <a:pt x="0" y="5355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1245C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47625"/>
              <a:ext cx="3281245" cy="191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562236" y="6913421"/>
            <a:ext cx="478020" cy="47802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828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2860390" y="949345"/>
            <a:ext cx="3372987" cy="7563080"/>
          </a:xfrm>
          <a:custGeom>
            <a:avLst/>
            <a:gdLst/>
            <a:ahLst/>
            <a:cxnLst/>
            <a:rect l="l" t="t" r="r" b="b"/>
            <a:pathLst>
              <a:path w="3372987" h="7563080">
                <a:moveTo>
                  <a:pt x="0" y="0"/>
                </a:moveTo>
                <a:lnTo>
                  <a:pt x="3372987" y="0"/>
                </a:lnTo>
                <a:lnTo>
                  <a:pt x="3372987" y="7563080"/>
                </a:lnTo>
                <a:lnTo>
                  <a:pt x="0" y="7563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249" t="-7438" r="-37205" b="-1602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5 of 16</a:t>
            </a:r>
          </a:p>
        </p:txBody>
      </p:sp>
      <p:sp>
        <p:nvSpPr>
          <p:cNvPr id="31" name="TextBox 31"/>
          <p:cNvSpPr txBox="1"/>
          <p:nvPr/>
        </p:nvSpPr>
        <p:spPr>
          <a:xfrm rot="-5400000">
            <a:off x="-2024032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METHODOLOGY &amp; PIPELINE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6328" y="1565860"/>
            <a:ext cx="7456205" cy="38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STEP 1: IMAGE CAPTURE (FRONTEND)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23035" y="1640453"/>
            <a:ext cx="504155" cy="27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2"/>
              </a:lnSpc>
            </a:pPr>
            <a:r>
              <a:rPr lang="en-US" sz="24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40256" y="2197628"/>
            <a:ext cx="7456205" cy="63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4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Next.js captures live video frame → Base64 string.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99395" y="3370924"/>
            <a:ext cx="7456205" cy="38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STEP 2: PREPROCESSING API (BACKEND)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36102" y="3445517"/>
            <a:ext cx="504155" cy="27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2"/>
              </a:lnSpc>
            </a:pPr>
            <a:r>
              <a:rPr lang="en-US" sz="24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40256" y="4004058"/>
            <a:ext cx="7456205" cy="63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4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Flask receives data → Grayscale →  Resize (48 x 48).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6328" y="5177354"/>
            <a:ext cx="7456205" cy="38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STEP 3: CNN INFERENCE (AI MODEL)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23035" y="5251947"/>
            <a:ext cx="504155" cy="27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2"/>
              </a:lnSpc>
            </a:pPr>
            <a:r>
              <a:rPr lang="en-US" sz="24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040256" y="5809122"/>
            <a:ext cx="7456205" cy="63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4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VGG-style model predicts label (e.g., "Happy").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12462" y="6982418"/>
            <a:ext cx="7456205" cy="1090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STEP 4: MUSIC MAPPING (LOGIC)</a:t>
            </a:r>
          </a:p>
          <a:p>
            <a:pPr marL="604519" lvl="1" indent="-302260" algn="l">
              <a:lnSpc>
                <a:spcPts val="2799"/>
              </a:lnSpc>
              <a:buFont typeface="Arial"/>
              <a:buChar char="•"/>
            </a:pPr>
            <a:endParaRPr lang="en-US" sz="2799">
              <a:solidFill>
                <a:srgbClr val="FFFFFF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  <a:p>
            <a:pPr algn="l">
              <a:lnSpc>
                <a:spcPts val="2799"/>
              </a:lnSpc>
            </a:pPr>
            <a:endParaRPr lang="en-US" sz="2799">
              <a:solidFill>
                <a:srgbClr val="FFFFFF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7549169" y="7057011"/>
            <a:ext cx="504155" cy="27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2"/>
              </a:lnSpc>
            </a:pPr>
            <a:r>
              <a:rPr lang="en-US" sz="24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53323" y="7615552"/>
            <a:ext cx="7456205" cy="632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4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Pandas engine filters in-memory CSV (e.g., Happy = High Energy + High Valence).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698787" y="3901527"/>
            <a:ext cx="9317822" cy="4356082"/>
          </a:xfrm>
          <a:custGeom>
            <a:avLst/>
            <a:gdLst/>
            <a:ahLst/>
            <a:cxnLst/>
            <a:rect l="l" t="t" r="r" b="b"/>
            <a:pathLst>
              <a:path w="9317822" h="4356082">
                <a:moveTo>
                  <a:pt x="0" y="0"/>
                </a:moveTo>
                <a:lnTo>
                  <a:pt x="9317823" y="0"/>
                </a:lnTo>
                <a:lnTo>
                  <a:pt x="9317823" y="4356082"/>
                </a:lnTo>
                <a:lnTo>
                  <a:pt x="0" y="4356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6 of 16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-2090063" y="4512916"/>
            <a:ext cx="7302400" cy="85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300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EXPLORATORY DATA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09259" y="1756576"/>
            <a:ext cx="14750041" cy="2144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 spc="121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VISUALIZATION &amp; KEY INSIGHTS:</a:t>
            </a:r>
          </a:p>
          <a:p>
            <a:pPr algn="l">
              <a:lnSpc>
                <a:spcPts val="3359"/>
              </a:lnSpc>
            </a:pPr>
            <a:endParaRPr lang="en-US" sz="2699" b="1" spc="121">
              <a:solidFill>
                <a:srgbClr val="292828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Class Imbalance: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"Happy" is dominant (~25%), "Disgust" is rare (~1.5%).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Impact: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Necessitated Data Augmentation (rotation/zoom) to prevent bias.</a:t>
            </a:r>
          </a:p>
          <a:p>
            <a:pPr algn="l">
              <a:lnSpc>
                <a:spcPts val="3359"/>
              </a:lnSpc>
            </a:pPr>
            <a:endParaRPr lang="en-US" sz="2400" spc="108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18874" y="3585622"/>
            <a:ext cx="5179913" cy="525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algn="l">
              <a:lnSpc>
                <a:spcPts val="3919"/>
              </a:lnSpc>
            </a:pPr>
            <a:r>
              <a:rPr lang="en-US" sz="2799" b="1" spc="125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DATA COUNTS:</a:t>
            </a:r>
          </a:p>
          <a:p>
            <a:pPr algn="l">
              <a:lnSpc>
                <a:spcPts val="3919"/>
              </a:lnSpc>
            </a:pPr>
            <a:endParaRPr lang="en-US" sz="2799" b="1" spc="125">
              <a:solidFill>
                <a:srgbClr val="292828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Happy: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~8,900 images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Neutral: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~6,000 images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Disgust: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~550 images (The Engineering Challenge)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Angry: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~5,000 images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Fear: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~5,200 images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Sad: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~6,100 images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Surprise: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~4,000 images</a:t>
            </a:r>
          </a:p>
          <a:p>
            <a:pPr algn="l">
              <a:lnSpc>
                <a:spcPts val="3359"/>
              </a:lnSpc>
            </a:pPr>
            <a:endParaRPr lang="en-US" sz="2400" spc="108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2881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7 of 16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-2024032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DATA PREPROCESSING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370592" y="2238994"/>
            <a:ext cx="4561929" cy="5298426"/>
            <a:chOff x="0" y="0"/>
            <a:chExt cx="1235036" cy="1434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11245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1235036" cy="1396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55618" y="2238994"/>
            <a:ext cx="4561929" cy="5298426"/>
            <a:chOff x="0" y="0"/>
            <a:chExt cx="1235036" cy="14344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1235036" cy="1396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43641" y="2238994"/>
            <a:ext cx="4561929" cy="5298426"/>
            <a:chOff x="0" y="0"/>
            <a:chExt cx="1235036" cy="14344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11245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235036" cy="1396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481631" y="2343740"/>
            <a:ext cx="4561929" cy="5298426"/>
            <a:chOff x="0" y="0"/>
            <a:chExt cx="1235036" cy="143442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1235036" cy="1396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661574" y="2774466"/>
            <a:ext cx="4160643" cy="539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GRAYSCALE CONVERSION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466657" y="2343740"/>
            <a:ext cx="4561929" cy="5298426"/>
            <a:chOff x="0" y="0"/>
            <a:chExt cx="1235036" cy="143442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38100"/>
              <a:ext cx="1235036" cy="1396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667300" y="2774466"/>
            <a:ext cx="4160643" cy="539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NORMALIZATION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454680" y="2343740"/>
            <a:ext cx="4561929" cy="5298426"/>
            <a:chOff x="0" y="0"/>
            <a:chExt cx="1235036" cy="143442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35036" cy="1434426"/>
            </a:xfrm>
            <a:custGeom>
              <a:avLst/>
              <a:gdLst/>
              <a:ahLst/>
              <a:cxnLst/>
              <a:rect l="l" t="t" r="r" b="b"/>
              <a:pathLst>
                <a:path w="1235036" h="1434426">
                  <a:moveTo>
                    <a:pt x="86551" y="0"/>
                  </a:moveTo>
                  <a:lnTo>
                    <a:pt x="1148486" y="0"/>
                  </a:lnTo>
                  <a:cubicBezTo>
                    <a:pt x="1196286" y="0"/>
                    <a:pt x="1235036" y="38750"/>
                    <a:pt x="1235036" y="86551"/>
                  </a:cubicBezTo>
                  <a:lnTo>
                    <a:pt x="1235036" y="1347875"/>
                  </a:lnTo>
                  <a:cubicBezTo>
                    <a:pt x="1235036" y="1395676"/>
                    <a:pt x="1196286" y="1434426"/>
                    <a:pt x="1148486" y="1434426"/>
                  </a:cubicBezTo>
                  <a:lnTo>
                    <a:pt x="86551" y="1434426"/>
                  </a:lnTo>
                  <a:cubicBezTo>
                    <a:pt x="63596" y="1434426"/>
                    <a:pt x="41581" y="1425307"/>
                    <a:pt x="25350" y="1409076"/>
                  </a:cubicBezTo>
                  <a:cubicBezTo>
                    <a:pt x="9119" y="1392844"/>
                    <a:pt x="0" y="1370830"/>
                    <a:pt x="0" y="1347875"/>
                  </a:cubicBezTo>
                  <a:lnTo>
                    <a:pt x="0" y="86551"/>
                  </a:lnTo>
                  <a:cubicBezTo>
                    <a:pt x="0" y="63596"/>
                    <a:pt x="9119" y="41581"/>
                    <a:pt x="25350" y="25350"/>
                  </a:cubicBezTo>
                  <a:cubicBezTo>
                    <a:pt x="41581" y="9119"/>
                    <a:pt x="63596" y="0"/>
                    <a:pt x="865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38100"/>
              <a:ext cx="1235036" cy="1396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647711" y="2774466"/>
            <a:ext cx="4160643" cy="539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ONE-HOT ENCODING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34955" y="3747888"/>
            <a:ext cx="3901538" cy="273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spc="116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Reduces noise (lighting/skin tone). Forces model to learn structural features (mouth curve, eyebrows).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45057" y="3976468"/>
            <a:ext cx="3805129" cy="227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spc="116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Pixel values 0-255 scaled to 0-1. Accelerates gradient descent convergence.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51989" y="3747888"/>
            <a:ext cx="3945233" cy="364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spc="116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Converted categorical labels into probability vectors for Softmax.</a:t>
            </a: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spc="116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Example: Happy →  [0, 0, 0, 1, 0, 0, 0]</a:t>
            </a:r>
          </a:p>
          <a:p>
            <a:pPr algn="just">
              <a:lnSpc>
                <a:spcPts val="3639"/>
              </a:lnSpc>
            </a:pPr>
            <a:endParaRPr lang="en-US" sz="2599" spc="116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205410" y="1289380"/>
            <a:ext cx="1863278" cy="2671759"/>
          </a:xfrm>
          <a:custGeom>
            <a:avLst/>
            <a:gdLst/>
            <a:ahLst/>
            <a:cxnLst/>
            <a:rect l="l" t="t" r="r" b="b"/>
            <a:pathLst>
              <a:path w="1863278" h="2671759">
                <a:moveTo>
                  <a:pt x="0" y="0"/>
                </a:moveTo>
                <a:lnTo>
                  <a:pt x="1863278" y="0"/>
                </a:lnTo>
                <a:lnTo>
                  <a:pt x="1863278" y="2671759"/>
                </a:lnTo>
                <a:lnTo>
                  <a:pt x="0" y="2671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953" r="-357145" b="-5106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11308" y="4304039"/>
            <a:ext cx="5877510" cy="3385533"/>
          </a:xfrm>
          <a:custGeom>
            <a:avLst/>
            <a:gdLst/>
            <a:ahLst/>
            <a:cxnLst/>
            <a:rect l="l" t="t" r="r" b="b"/>
            <a:pathLst>
              <a:path w="5877510" h="3385533">
                <a:moveTo>
                  <a:pt x="0" y="0"/>
                </a:moveTo>
                <a:lnTo>
                  <a:pt x="5877509" y="0"/>
                </a:lnTo>
                <a:lnTo>
                  <a:pt x="5877509" y="3385533"/>
                </a:lnTo>
                <a:lnTo>
                  <a:pt x="0" y="33855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936" r="-4141" b="-1921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58267" y="7750914"/>
            <a:ext cx="8449572" cy="529386"/>
          </a:xfrm>
          <a:custGeom>
            <a:avLst/>
            <a:gdLst/>
            <a:ahLst/>
            <a:cxnLst/>
            <a:rect l="l" t="t" r="r" b="b"/>
            <a:pathLst>
              <a:path w="8449572" h="529386">
                <a:moveTo>
                  <a:pt x="0" y="0"/>
                </a:moveTo>
                <a:lnTo>
                  <a:pt x="8449573" y="0"/>
                </a:lnTo>
                <a:lnTo>
                  <a:pt x="8449573" y="529386"/>
                </a:lnTo>
                <a:lnTo>
                  <a:pt x="0" y="529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" t="-649399" r="-2881" b="-13025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949307" y="4116297"/>
            <a:ext cx="375484" cy="37548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C397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203200" y="38100"/>
              <a:ext cx="4064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8 of 16</a:t>
            </a:r>
          </a:p>
        </p:txBody>
      </p:sp>
      <p:sp>
        <p:nvSpPr>
          <p:cNvPr id="13" name="TextBox 13"/>
          <p:cNvSpPr txBox="1"/>
          <p:nvPr/>
        </p:nvSpPr>
        <p:spPr>
          <a:xfrm rot="-5400000">
            <a:off x="-2024032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FEATURE EXTRACTION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07840" y="1991641"/>
            <a:ext cx="6166079" cy="628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6" lvl="1" indent="-259083" algn="l">
              <a:lnSpc>
                <a:spcPts val="3840"/>
              </a:lnSpc>
              <a:buAutoNum type="arabicPeriod"/>
            </a:pPr>
            <a:r>
              <a:rPr lang="en-US" sz="2400" b="1" i="1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SPATIAL HIERARCHY:</a:t>
            </a:r>
          </a:p>
          <a:p>
            <a:pPr marL="1036333" lvl="2" indent="-345444" algn="l">
              <a:lnSpc>
                <a:spcPts val="3840"/>
              </a:lnSpc>
              <a:buFont typeface="Arial"/>
              <a:buChar char="⚬"/>
            </a:pPr>
            <a:r>
              <a:rPr lang="en-US" sz="2400" b="1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Early Layers: </a:t>
            </a:r>
            <a:r>
              <a:rPr lang="en-US" sz="240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Detect simple edges/lines.</a:t>
            </a:r>
          </a:p>
          <a:p>
            <a:pPr marL="1036333" lvl="2" indent="-345444" algn="l">
              <a:lnSpc>
                <a:spcPts val="3840"/>
              </a:lnSpc>
              <a:buFont typeface="Arial"/>
              <a:buChar char="⚬"/>
            </a:pPr>
            <a:r>
              <a:rPr lang="en-US" sz="2400" b="1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Deep Layers:</a:t>
            </a:r>
            <a:r>
              <a:rPr lang="en-US" sz="240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Detect complex shapes (open mouth, furrowed brow).</a:t>
            </a:r>
          </a:p>
          <a:p>
            <a:pPr marL="518166" lvl="1" indent="-259083" algn="l">
              <a:lnSpc>
                <a:spcPts val="3840"/>
              </a:lnSpc>
              <a:buAutoNum type="arabicPeriod"/>
            </a:pPr>
            <a:r>
              <a:rPr lang="en-US" sz="2400" b="1" i="1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MAX POOLING:</a:t>
            </a:r>
          </a:p>
          <a:p>
            <a:pPr marL="1036333" lvl="2" indent="-345444" algn="l">
              <a:lnSpc>
                <a:spcPts val="3840"/>
              </a:lnSpc>
              <a:buFont typeface="Arial"/>
              <a:buChar char="⚬"/>
            </a:pPr>
            <a:r>
              <a:rPr lang="en-US" sz="240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Reduces spatial dimensions: 48 x 48 → 24 x 24 → 12 x 12.</a:t>
            </a:r>
          </a:p>
          <a:p>
            <a:pPr marL="1036333" lvl="2" indent="-345444" algn="l">
              <a:lnSpc>
                <a:spcPts val="3840"/>
              </a:lnSpc>
              <a:buFont typeface="Arial"/>
              <a:buChar char="⚬"/>
            </a:pPr>
            <a:r>
              <a:rPr lang="en-US" sz="240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Retains "dominant" features while reducing computational cost.</a:t>
            </a:r>
          </a:p>
          <a:p>
            <a:pPr algn="l">
              <a:lnSpc>
                <a:spcPts val="3840"/>
              </a:lnSpc>
            </a:pPr>
            <a:endParaRPr lang="en-US" sz="2400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932224" y="1965444"/>
            <a:ext cx="10327076" cy="4519233"/>
          </a:xfrm>
          <a:custGeom>
            <a:avLst/>
            <a:gdLst/>
            <a:ahLst/>
            <a:cxnLst/>
            <a:rect l="l" t="t" r="r" b="b"/>
            <a:pathLst>
              <a:path w="10327076" h="4519233">
                <a:moveTo>
                  <a:pt x="0" y="0"/>
                </a:moveTo>
                <a:lnTo>
                  <a:pt x="10327076" y="0"/>
                </a:lnTo>
                <a:lnTo>
                  <a:pt x="10327076" y="4519233"/>
                </a:lnTo>
                <a:lnTo>
                  <a:pt x="0" y="4519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7" t="-11975" r="-249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9 of 16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-2028793" y="4470698"/>
            <a:ext cx="7302400" cy="93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MODEL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23948" y="1232230"/>
            <a:ext cx="4557527" cy="46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4"/>
              </a:lnSpc>
            </a:pPr>
            <a:r>
              <a:rPr lang="en-US" sz="2724" b="1" spc="122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CUSTOM VGG-STYLE CNN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53548" y="1698744"/>
            <a:ext cx="4478677" cy="537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5616"/>
              </a:lnSpc>
              <a:buFont typeface="Arial"/>
              <a:buChar char="•"/>
            </a:pPr>
            <a:r>
              <a:rPr lang="en-US" sz="2400" b="1" i="1" spc="108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Input Layer: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(48, 48, 1).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b="1" i="1" spc="108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Conv2D Blocks: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4 sequential blocks containing: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i="1" spc="108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Conv2D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(Feature Map)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i="1" spc="108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BatchNormalization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(Stability)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i="1" spc="108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MaxPooling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(Reduction)</a:t>
            </a: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i="1" spc="108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Dropout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(Regularization)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07164" y="7180513"/>
            <a:ext cx="13391095" cy="150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Dense Layer: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512 Neurons (Fully Connected).</a:t>
            </a:r>
          </a:p>
          <a:p>
            <a:pPr marL="518160" lvl="1" indent="-259080" algn="l">
              <a:lnSpc>
                <a:spcPts val="4079"/>
              </a:lnSpc>
              <a:buFont typeface="Arial"/>
              <a:buChar char="•"/>
            </a:pPr>
            <a:r>
              <a:rPr lang="en-US" sz="2400" b="1" spc="108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Output: </a:t>
            </a:r>
            <a:r>
              <a:rPr lang="en-US" sz="2400" spc="108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Softmax Activation (7 Probability Neurons).</a:t>
            </a:r>
          </a:p>
          <a:p>
            <a:pPr algn="l">
              <a:lnSpc>
                <a:spcPts val="4079"/>
              </a:lnSpc>
            </a:pPr>
            <a:endParaRPr lang="en-US" sz="2400" spc="108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07707" y="1186400"/>
            <a:ext cx="6939217" cy="5179951"/>
          </a:xfrm>
          <a:prstGeom prst="roundRect">
            <a:avLst>
              <a:gd name="adj" fmla="val 6392"/>
            </a:avLst>
          </a:prstGeom>
          <a:blipFill>
            <a:blip r:embed="rId4"/>
            <a:stretch>
              <a:fillRect l="-59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383847" y="3448660"/>
            <a:ext cx="6381625" cy="4981721"/>
          </a:xfrm>
          <a:prstGeom prst="roundRect">
            <a:avLst>
              <a:gd name="adj" fmla="val 4339"/>
            </a:avLst>
          </a:prstGeom>
          <a:blipFill>
            <a:blip r:embed="rId5"/>
            <a:stretch>
              <a:fillRect t="-325" b="-32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10 of 16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-2028793" y="4470698"/>
            <a:ext cx="7302400" cy="93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TRAINING &amp; EVALUATION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83847" y="1213180"/>
            <a:ext cx="6381625" cy="181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TRAINING STRATEGY: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Split: 80% Training / 20% Validation.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Optimizer: Adam (Adaptive Learning Rate).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85784" y="6531336"/>
            <a:ext cx="7583064" cy="191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Callbacks: EarlyStopping (Overfitting prevention).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Metrics: Smooth convergence curve indicating stable learning; latency optimized to &lt;200 ms.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MOODAMATE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889520" y="1186167"/>
            <a:ext cx="9369780" cy="5107228"/>
            <a:chOff x="0" y="0"/>
            <a:chExt cx="2467761" cy="13451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7761" cy="1345113"/>
            </a:xfrm>
            <a:custGeom>
              <a:avLst/>
              <a:gdLst/>
              <a:ahLst/>
              <a:cxnLst/>
              <a:rect l="l" t="t" r="r" b="b"/>
              <a:pathLst>
                <a:path w="2467761" h="1345113">
                  <a:moveTo>
                    <a:pt x="42140" y="0"/>
                  </a:moveTo>
                  <a:lnTo>
                    <a:pt x="2425622" y="0"/>
                  </a:lnTo>
                  <a:cubicBezTo>
                    <a:pt x="2448895" y="0"/>
                    <a:pt x="2467761" y="18867"/>
                    <a:pt x="2467761" y="42140"/>
                  </a:cubicBezTo>
                  <a:lnTo>
                    <a:pt x="2467761" y="1302974"/>
                  </a:lnTo>
                  <a:cubicBezTo>
                    <a:pt x="2467761" y="1326247"/>
                    <a:pt x="2448895" y="1345113"/>
                    <a:pt x="2425622" y="1345113"/>
                  </a:cubicBezTo>
                  <a:lnTo>
                    <a:pt x="42140" y="1345113"/>
                  </a:lnTo>
                  <a:cubicBezTo>
                    <a:pt x="18867" y="1345113"/>
                    <a:pt x="0" y="1326247"/>
                    <a:pt x="0" y="1302974"/>
                  </a:cubicBezTo>
                  <a:lnTo>
                    <a:pt x="0" y="42140"/>
                  </a:lnTo>
                  <a:cubicBezTo>
                    <a:pt x="0" y="18867"/>
                    <a:pt x="18867" y="0"/>
                    <a:pt x="42140" y="0"/>
                  </a:cubicBez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2467761" cy="1316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657673" y="1541500"/>
            <a:ext cx="8297735" cy="4396561"/>
          </a:xfrm>
          <a:custGeom>
            <a:avLst/>
            <a:gdLst/>
            <a:ahLst/>
            <a:cxnLst/>
            <a:rect l="l" t="t" r="r" b="b"/>
            <a:pathLst>
              <a:path w="8297735" h="4396561">
                <a:moveTo>
                  <a:pt x="0" y="0"/>
                </a:moveTo>
                <a:lnTo>
                  <a:pt x="8297735" y="0"/>
                </a:lnTo>
                <a:lnTo>
                  <a:pt x="8297735" y="4396561"/>
                </a:lnTo>
                <a:lnTo>
                  <a:pt x="0" y="43965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614237" y="1189376"/>
            <a:ext cx="6191573" cy="5107228"/>
            <a:chOff x="0" y="0"/>
            <a:chExt cx="1630702" cy="13451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30702" cy="1345113"/>
            </a:xfrm>
            <a:custGeom>
              <a:avLst/>
              <a:gdLst/>
              <a:ahLst/>
              <a:cxnLst/>
              <a:rect l="l" t="t" r="r" b="b"/>
              <a:pathLst>
                <a:path w="1630702" h="1345113">
                  <a:moveTo>
                    <a:pt x="63770" y="0"/>
                  </a:moveTo>
                  <a:lnTo>
                    <a:pt x="1566932" y="0"/>
                  </a:lnTo>
                  <a:cubicBezTo>
                    <a:pt x="1583845" y="0"/>
                    <a:pt x="1600065" y="6719"/>
                    <a:pt x="1612025" y="18678"/>
                  </a:cubicBezTo>
                  <a:cubicBezTo>
                    <a:pt x="1623984" y="30637"/>
                    <a:pt x="1630702" y="46857"/>
                    <a:pt x="1630702" y="63770"/>
                  </a:cubicBezTo>
                  <a:lnTo>
                    <a:pt x="1630702" y="1281343"/>
                  </a:lnTo>
                  <a:cubicBezTo>
                    <a:pt x="1630702" y="1298256"/>
                    <a:pt x="1623984" y="1314476"/>
                    <a:pt x="1612025" y="1326436"/>
                  </a:cubicBezTo>
                  <a:cubicBezTo>
                    <a:pt x="1600065" y="1338395"/>
                    <a:pt x="1583845" y="1345113"/>
                    <a:pt x="1566932" y="1345113"/>
                  </a:cubicBezTo>
                  <a:lnTo>
                    <a:pt x="63770" y="1345113"/>
                  </a:lnTo>
                  <a:cubicBezTo>
                    <a:pt x="46857" y="1345113"/>
                    <a:pt x="30637" y="1338395"/>
                    <a:pt x="18678" y="1326436"/>
                  </a:cubicBezTo>
                  <a:cubicBezTo>
                    <a:pt x="6719" y="1314476"/>
                    <a:pt x="0" y="1298256"/>
                    <a:pt x="0" y="1281343"/>
                  </a:cubicBezTo>
                  <a:lnTo>
                    <a:pt x="0" y="63770"/>
                  </a:lnTo>
                  <a:cubicBezTo>
                    <a:pt x="0" y="46857"/>
                    <a:pt x="6719" y="30637"/>
                    <a:pt x="18678" y="18678"/>
                  </a:cubicBezTo>
                  <a:cubicBezTo>
                    <a:pt x="30637" y="6719"/>
                    <a:pt x="46857" y="0"/>
                    <a:pt x="63770" y="0"/>
                  </a:cubicBezTo>
                  <a:close/>
                </a:path>
              </a:pathLst>
            </a:custGeom>
            <a:solidFill>
              <a:srgbClr val="282A2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1630702" cy="1316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762375" y="1289380"/>
            <a:ext cx="5895298" cy="4900802"/>
          </a:xfrm>
          <a:prstGeom prst="roundRect">
            <a:avLst>
              <a:gd name="adj" fmla="val 3300"/>
            </a:avLst>
          </a:prstGeom>
          <a:blipFill>
            <a:blip r:embed="rId6"/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13" name="TextBox 13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11 of 16</a:t>
            </a:r>
          </a:p>
        </p:txBody>
      </p:sp>
      <p:sp>
        <p:nvSpPr>
          <p:cNvPr id="15" name="TextBox 15"/>
          <p:cNvSpPr txBox="1"/>
          <p:nvPr/>
        </p:nvSpPr>
        <p:spPr>
          <a:xfrm rot="-5400000">
            <a:off x="-2028793" y="4470698"/>
            <a:ext cx="7302400" cy="93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7000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RESULTS COMPARISON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62375" y="6456882"/>
            <a:ext cx="14254234" cy="181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KEY FINDINGS: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i="1">
                <a:solidFill>
                  <a:srgbClr val="000000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High Performance:</a:t>
            </a: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"Happy" and "Surprise" classes achieved F1-Scores &gt;0.80.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i="1">
                <a:solidFill>
                  <a:srgbClr val="000000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Confusion Corridors:</a:t>
            </a:r>
            <a:r>
              <a:rPr lang="en-US" sz="24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Slight model confusion between "Fear" and "Surprise" attributable to similar geometric facial features (widened eyes/open mouth).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051176" y="1613983"/>
            <a:ext cx="2965434" cy="1930459"/>
            <a:chOff x="0" y="0"/>
            <a:chExt cx="1737573" cy="11311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26107" y="0"/>
                  </a:moveTo>
                  <a:lnTo>
                    <a:pt x="1711466" y="0"/>
                  </a:lnTo>
                  <a:cubicBezTo>
                    <a:pt x="1718390" y="0"/>
                    <a:pt x="1725031" y="2751"/>
                    <a:pt x="1729927" y="7647"/>
                  </a:cubicBezTo>
                  <a:cubicBezTo>
                    <a:pt x="1734823" y="12543"/>
                    <a:pt x="1737573" y="19183"/>
                    <a:pt x="1737573" y="26107"/>
                  </a:cubicBezTo>
                  <a:lnTo>
                    <a:pt x="1737573" y="1105030"/>
                  </a:lnTo>
                  <a:cubicBezTo>
                    <a:pt x="1737573" y="1111954"/>
                    <a:pt x="1734823" y="1118595"/>
                    <a:pt x="1729927" y="1123491"/>
                  </a:cubicBezTo>
                  <a:cubicBezTo>
                    <a:pt x="1725031" y="1128387"/>
                    <a:pt x="1718390" y="1131138"/>
                    <a:pt x="1711466" y="1131138"/>
                  </a:cubicBezTo>
                  <a:lnTo>
                    <a:pt x="26107" y="1131138"/>
                  </a:lnTo>
                  <a:cubicBezTo>
                    <a:pt x="19183" y="1131138"/>
                    <a:pt x="12543" y="1128387"/>
                    <a:pt x="7647" y="1123491"/>
                  </a:cubicBezTo>
                  <a:cubicBezTo>
                    <a:pt x="2751" y="1118595"/>
                    <a:pt x="0" y="1111954"/>
                    <a:pt x="0" y="1105030"/>
                  </a:cubicBezTo>
                  <a:lnTo>
                    <a:pt x="0" y="26107"/>
                  </a:lnTo>
                  <a:cubicBezTo>
                    <a:pt x="0" y="19183"/>
                    <a:pt x="2751" y="12543"/>
                    <a:pt x="7647" y="7647"/>
                  </a:cubicBezTo>
                  <a:cubicBezTo>
                    <a:pt x="12543" y="2751"/>
                    <a:pt x="19183" y="0"/>
                    <a:pt x="26107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37573" cy="11311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051176" y="4047029"/>
            <a:ext cx="2965434" cy="1930459"/>
            <a:chOff x="0" y="0"/>
            <a:chExt cx="1737573" cy="11311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26107" y="0"/>
                  </a:moveTo>
                  <a:lnTo>
                    <a:pt x="1711466" y="0"/>
                  </a:lnTo>
                  <a:cubicBezTo>
                    <a:pt x="1718390" y="0"/>
                    <a:pt x="1725031" y="2751"/>
                    <a:pt x="1729927" y="7647"/>
                  </a:cubicBezTo>
                  <a:cubicBezTo>
                    <a:pt x="1734823" y="12543"/>
                    <a:pt x="1737573" y="19183"/>
                    <a:pt x="1737573" y="26107"/>
                  </a:cubicBezTo>
                  <a:lnTo>
                    <a:pt x="1737573" y="1105030"/>
                  </a:lnTo>
                  <a:cubicBezTo>
                    <a:pt x="1737573" y="1111954"/>
                    <a:pt x="1734823" y="1118595"/>
                    <a:pt x="1729927" y="1123491"/>
                  </a:cubicBezTo>
                  <a:cubicBezTo>
                    <a:pt x="1725031" y="1128387"/>
                    <a:pt x="1718390" y="1131138"/>
                    <a:pt x="1711466" y="1131138"/>
                  </a:cubicBezTo>
                  <a:lnTo>
                    <a:pt x="26107" y="1131138"/>
                  </a:lnTo>
                  <a:cubicBezTo>
                    <a:pt x="19183" y="1131138"/>
                    <a:pt x="12543" y="1128387"/>
                    <a:pt x="7647" y="1123491"/>
                  </a:cubicBezTo>
                  <a:cubicBezTo>
                    <a:pt x="2751" y="1118595"/>
                    <a:pt x="0" y="1111954"/>
                    <a:pt x="0" y="1105030"/>
                  </a:cubicBezTo>
                  <a:lnTo>
                    <a:pt x="0" y="26107"/>
                  </a:lnTo>
                  <a:cubicBezTo>
                    <a:pt x="0" y="19183"/>
                    <a:pt x="2751" y="12543"/>
                    <a:pt x="7647" y="7647"/>
                  </a:cubicBezTo>
                  <a:cubicBezTo>
                    <a:pt x="12543" y="2751"/>
                    <a:pt x="19183" y="0"/>
                    <a:pt x="26107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737573" cy="11311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051176" y="6517386"/>
            <a:ext cx="2965434" cy="1930459"/>
            <a:chOff x="0" y="0"/>
            <a:chExt cx="1737573" cy="11311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26107" y="0"/>
                  </a:moveTo>
                  <a:lnTo>
                    <a:pt x="1711466" y="0"/>
                  </a:lnTo>
                  <a:cubicBezTo>
                    <a:pt x="1718390" y="0"/>
                    <a:pt x="1725031" y="2751"/>
                    <a:pt x="1729927" y="7647"/>
                  </a:cubicBezTo>
                  <a:cubicBezTo>
                    <a:pt x="1734823" y="12543"/>
                    <a:pt x="1737573" y="19183"/>
                    <a:pt x="1737573" y="26107"/>
                  </a:cubicBezTo>
                  <a:lnTo>
                    <a:pt x="1737573" y="1105030"/>
                  </a:lnTo>
                  <a:cubicBezTo>
                    <a:pt x="1737573" y="1111954"/>
                    <a:pt x="1734823" y="1118595"/>
                    <a:pt x="1729927" y="1123491"/>
                  </a:cubicBezTo>
                  <a:cubicBezTo>
                    <a:pt x="1725031" y="1128387"/>
                    <a:pt x="1718390" y="1131138"/>
                    <a:pt x="1711466" y="1131138"/>
                  </a:cubicBezTo>
                  <a:lnTo>
                    <a:pt x="26107" y="1131138"/>
                  </a:lnTo>
                  <a:cubicBezTo>
                    <a:pt x="19183" y="1131138"/>
                    <a:pt x="12543" y="1128387"/>
                    <a:pt x="7647" y="1123491"/>
                  </a:cubicBezTo>
                  <a:cubicBezTo>
                    <a:pt x="2751" y="1118595"/>
                    <a:pt x="0" y="1111954"/>
                    <a:pt x="0" y="1105030"/>
                  </a:cubicBezTo>
                  <a:lnTo>
                    <a:pt x="0" y="26107"/>
                  </a:lnTo>
                  <a:cubicBezTo>
                    <a:pt x="0" y="19183"/>
                    <a:pt x="2751" y="12543"/>
                    <a:pt x="7647" y="7647"/>
                  </a:cubicBezTo>
                  <a:cubicBezTo>
                    <a:pt x="12543" y="2751"/>
                    <a:pt x="19183" y="0"/>
                    <a:pt x="26107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737573" cy="11311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184495" y="3697631"/>
            <a:ext cx="698796" cy="69879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184495" y="1264585"/>
            <a:ext cx="698796" cy="69879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184495" y="6167987"/>
            <a:ext cx="698796" cy="69879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325746" y="6309239"/>
            <a:ext cx="416293" cy="416293"/>
          </a:xfrm>
          <a:custGeom>
            <a:avLst/>
            <a:gdLst/>
            <a:ahLst/>
            <a:cxnLst/>
            <a:rect l="l" t="t" r="r" b="b"/>
            <a:pathLst>
              <a:path w="416293" h="416293">
                <a:moveTo>
                  <a:pt x="0" y="0"/>
                </a:moveTo>
                <a:lnTo>
                  <a:pt x="416293" y="0"/>
                </a:lnTo>
                <a:lnTo>
                  <a:pt x="416293" y="416293"/>
                </a:lnTo>
                <a:lnTo>
                  <a:pt x="0" y="4162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324880" y="1404971"/>
            <a:ext cx="418025" cy="418025"/>
          </a:xfrm>
          <a:custGeom>
            <a:avLst/>
            <a:gdLst/>
            <a:ahLst/>
            <a:cxnLst/>
            <a:rect l="l" t="t" r="r" b="b"/>
            <a:pathLst>
              <a:path w="418025" h="418025">
                <a:moveTo>
                  <a:pt x="0" y="0"/>
                </a:moveTo>
                <a:lnTo>
                  <a:pt x="418025" y="0"/>
                </a:lnTo>
                <a:lnTo>
                  <a:pt x="418025" y="418024"/>
                </a:lnTo>
                <a:lnTo>
                  <a:pt x="0" y="418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318037" y="3831173"/>
            <a:ext cx="431712" cy="431712"/>
          </a:xfrm>
          <a:custGeom>
            <a:avLst/>
            <a:gdLst/>
            <a:ahLst/>
            <a:cxnLst/>
            <a:rect l="l" t="t" r="r" b="b"/>
            <a:pathLst>
              <a:path w="431712" h="431712">
                <a:moveTo>
                  <a:pt x="0" y="0"/>
                </a:moveTo>
                <a:lnTo>
                  <a:pt x="431712" y="0"/>
                </a:lnTo>
                <a:lnTo>
                  <a:pt x="431712" y="431712"/>
                </a:lnTo>
                <a:lnTo>
                  <a:pt x="0" y="431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851328" y="1613983"/>
            <a:ext cx="12424175" cy="7351990"/>
          </a:xfrm>
          <a:custGeom>
            <a:avLst/>
            <a:gdLst/>
            <a:ahLst/>
            <a:cxnLst/>
            <a:rect l="l" t="t" r="r" b="b"/>
            <a:pathLst>
              <a:path w="12424175" h="7351990">
                <a:moveTo>
                  <a:pt x="0" y="0"/>
                </a:moveTo>
                <a:lnTo>
                  <a:pt x="12424175" y="0"/>
                </a:lnTo>
                <a:lnTo>
                  <a:pt x="12424175" y="7351990"/>
                </a:lnTo>
                <a:lnTo>
                  <a:pt x="0" y="73519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03" t="-25493" r="-603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12 of 16</a:t>
            </a:r>
          </a:p>
        </p:txBody>
      </p:sp>
      <p:sp>
        <p:nvSpPr>
          <p:cNvPr id="28" name="TextBox 28"/>
          <p:cNvSpPr txBox="1"/>
          <p:nvPr/>
        </p:nvSpPr>
        <p:spPr>
          <a:xfrm rot="-5400000">
            <a:off x="-2024032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SYSTEM INTEGRATION (UI)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75503" y="2027622"/>
            <a:ext cx="2426171" cy="1390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86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Frontend: </a:t>
            </a:r>
            <a:r>
              <a:rPr lang="en-US" sz="186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Next.js (React Framework) for server-side rendering and swift state management.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320807" y="4598770"/>
            <a:ext cx="2426171" cy="1114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86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Backend:</a:t>
            </a:r>
            <a:r>
              <a:rPr lang="en-US" sz="186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Flask (Python) serving the serialized Keras model via REST API.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206745" y="6905294"/>
            <a:ext cx="2654296" cy="1390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86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Aesthetic:</a:t>
            </a:r>
            <a:r>
              <a:rPr lang="en-US" sz="186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"Glassmorphism" UI with “Neobrutalism” theme to match the cinematic vision.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 rot="-5400000">
            <a:off x="-2024032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CHALLENGES &amp; SOLUTIONS</a:t>
            </a:r>
          </a:p>
        </p:txBody>
      </p:sp>
      <p:sp>
        <p:nvSpPr>
          <p:cNvPr id="5" name="AutoShape 5"/>
          <p:cNvSpPr/>
          <p:nvPr/>
        </p:nvSpPr>
        <p:spPr>
          <a:xfrm>
            <a:off x="-298357" y="1981869"/>
            <a:ext cx="20061513" cy="0"/>
          </a:xfrm>
          <a:prstGeom prst="line">
            <a:avLst/>
          </a:prstGeom>
          <a:ln w="28575" cap="flat">
            <a:solidFill>
              <a:srgbClr val="F3555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3762540" y="1712859"/>
            <a:ext cx="1133192" cy="566596"/>
            <a:chOff x="0" y="0"/>
            <a:chExt cx="81280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77800" y="38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78658" y="1712859"/>
            <a:ext cx="1133192" cy="566596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77800" y="38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11394775" y="1698571"/>
            <a:ext cx="1133192" cy="566596"/>
            <a:chOff x="0" y="0"/>
            <a:chExt cx="8128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77800" y="38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14925565" y="1712859"/>
            <a:ext cx="1133192" cy="566596"/>
            <a:chOff x="0" y="0"/>
            <a:chExt cx="8128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77800" y="38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7056155" y="2594426"/>
            <a:ext cx="6166046" cy="2549074"/>
          </a:xfrm>
          <a:custGeom>
            <a:avLst/>
            <a:gdLst/>
            <a:ahLst/>
            <a:cxnLst/>
            <a:rect l="l" t="t" r="r" b="b"/>
            <a:pathLst>
              <a:path w="6166046" h="2549074">
                <a:moveTo>
                  <a:pt x="0" y="0"/>
                </a:moveTo>
                <a:lnTo>
                  <a:pt x="6166046" y="0"/>
                </a:lnTo>
                <a:lnTo>
                  <a:pt x="6166046" y="2549074"/>
                </a:lnTo>
                <a:lnTo>
                  <a:pt x="0" y="25490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53" t="-69522" r="-7672" b="-28069"/>
            </a:stretch>
          </a:blipFill>
        </p:spPr>
      </p:sp>
      <p:sp>
        <p:nvSpPr>
          <p:cNvPr id="19" name="AutoShape 19"/>
          <p:cNvSpPr/>
          <p:nvPr/>
        </p:nvSpPr>
        <p:spPr>
          <a:xfrm flipH="1">
            <a:off x="8312924" y="5371400"/>
            <a:ext cx="3652508" cy="0"/>
          </a:xfrm>
          <a:prstGeom prst="line">
            <a:avLst/>
          </a:prstGeom>
          <a:ln w="38100" cap="rnd">
            <a:solidFill>
              <a:srgbClr val="000000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7142981" y="5906644"/>
            <a:ext cx="5992393" cy="2429620"/>
          </a:xfrm>
          <a:custGeom>
            <a:avLst/>
            <a:gdLst/>
            <a:ahLst/>
            <a:cxnLst/>
            <a:rect l="l" t="t" r="r" b="b"/>
            <a:pathLst>
              <a:path w="5992393" h="2429620">
                <a:moveTo>
                  <a:pt x="0" y="0"/>
                </a:moveTo>
                <a:lnTo>
                  <a:pt x="5992393" y="0"/>
                </a:lnTo>
                <a:lnTo>
                  <a:pt x="5992393" y="2429621"/>
                </a:lnTo>
                <a:lnTo>
                  <a:pt x="0" y="2429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78" t="-54113" r="-5998" b="-4744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13 of 16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20587" y="2992189"/>
            <a:ext cx="3250982" cy="105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3999" b="1">
                <a:solidFill>
                  <a:srgbClr val="11245C"/>
                </a:solidFill>
                <a:latin typeface="Gotham Bold"/>
                <a:ea typeface="Gotham Bold"/>
                <a:cs typeface="Gotham Bold"/>
                <a:sym typeface="Gotham Bold"/>
              </a:rPr>
              <a:t>The "Ghost" Latency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96218" y="4468056"/>
            <a:ext cx="3265836" cy="389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7" lvl="1" indent="-215899" algn="l">
              <a:lnSpc>
                <a:spcPts val="3119"/>
              </a:lnSpc>
              <a:buFont typeface="Arial"/>
              <a:buChar char="•"/>
            </a:pPr>
            <a:r>
              <a:rPr lang="en-US" sz="1999" b="1" i="1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Issue:</a:t>
            </a:r>
            <a:r>
              <a:rPr lang="en-US" sz="1999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3-second delay caused by reloading the Keras model on every API request.</a:t>
            </a:r>
          </a:p>
          <a:p>
            <a:pPr marL="431797" lvl="1" indent="-215899" algn="l">
              <a:lnSpc>
                <a:spcPts val="3119"/>
              </a:lnSpc>
              <a:buFont typeface="Arial"/>
              <a:buChar char="•"/>
            </a:pPr>
            <a:r>
              <a:rPr lang="en-US" sz="1999" b="1" i="1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Fix:</a:t>
            </a:r>
            <a:r>
              <a:rPr lang="en-US" sz="1999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Implemented Global Model Loading, initializing the model once at startup for instant inference.</a:t>
            </a:r>
          </a:p>
          <a:p>
            <a:pPr algn="l">
              <a:lnSpc>
                <a:spcPts val="3119"/>
              </a:lnSpc>
            </a:pPr>
            <a:endParaRPr lang="en-US" sz="1999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008318" y="2721858"/>
            <a:ext cx="3250982" cy="105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3999" b="1">
                <a:solidFill>
                  <a:srgbClr val="11245C"/>
                </a:solidFill>
                <a:latin typeface="Gotham Bold"/>
                <a:ea typeface="Gotham Bold"/>
                <a:cs typeface="Gotham Bold"/>
                <a:sym typeface="Gotham Bold"/>
              </a:rPr>
              <a:t>Data Imbalance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59243" y="4160729"/>
            <a:ext cx="3265836" cy="3499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7" lvl="1" indent="-215899" algn="l">
              <a:lnSpc>
                <a:spcPts val="3119"/>
              </a:lnSpc>
              <a:buFont typeface="Arial"/>
              <a:buChar char="•"/>
            </a:pPr>
            <a:r>
              <a:rPr lang="en-US" sz="1999" b="1" i="1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Issue:</a:t>
            </a:r>
            <a:r>
              <a:rPr lang="en-US" sz="1999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Model failure to detect "Disgust" due to lack of training data.</a:t>
            </a:r>
          </a:p>
          <a:p>
            <a:pPr marL="431797" lvl="1" indent="-215899" algn="l">
              <a:lnSpc>
                <a:spcPts val="3119"/>
              </a:lnSpc>
              <a:buFont typeface="Arial"/>
              <a:buChar char="•"/>
            </a:pPr>
            <a:r>
              <a:rPr lang="en-US" sz="1999" b="1" i="1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Fix:</a:t>
            </a:r>
            <a:r>
              <a:rPr lang="en-US" sz="1999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Applied heavy Data Augmentation and Class Weighting during training.</a:t>
            </a:r>
          </a:p>
          <a:p>
            <a:pPr algn="l">
              <a:lnSpc>
                <a:spcPts val="3119"/>
              </a:lnSpc>
            </a:pPr>
            <a:endParaRPr lang="en-US" sz="1999">
              <a:solidFill>
                <a:srgbClr val="292828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4" name="Freeform 4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14 of 16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373604" y="2573104"/>
            <a:ext cx="1306762" cy="1306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2566" y="0"/>
                  </a:moveTo>
                  <a:lnTo>
                    <a:pt x="700234" y="0"/>
                  </a:lnTo>
                  <a:cubicBezTo>
                    <a:pt x="762403" y="0"/>
                    <a:pt x="812800" y="50397"/>
                    <a:pt x="812800" y="112566"/>
                  </a:cubicBezTo>
                  <a:lnTo>
                    <a:pt x="812800" y="700234"/>
                  </a:lnTo>
                  <a:cubicBezTo>
                    <a:pt x="812800" y="762403"/>
                    <a:pt x="762403" y="812800"/>
                    <a:pt x="700234" y="812800"/>
                  </a:cubicBezTo>
                  <a:lnTo>
                    <a:pt x="112566" y="812800"/>
                  </a:lnTo>
                  <a:cubicBezTo>
                    <a:pt x="50397" y="812800"/>
                    <a:pt x="0" y="762403"/>
                    <a:pt x="0" y="700234"/>
                  </a:cubicBezTo>
                  <a:lnTo>
                    <a:pt x="0" y="112566"/>
                  </a:lnTo>
                  <a:cubicBezTo>
                    <a:pt x="0" y="50397"/>
                    <a:pt x="50397" y="0"/>
                    <a:pt x="112566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50"/>
                </a:lnSpc>
              </a:pPr>
              <a:r>
                <a:rPr lang="en-US" sz="5000" b="1" spc="355">
                  <a:solidFill>
                    <a:srgbClr val="FDF8F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54444" y="2573104"/>
            <a:ext cx="1306762" cy="1306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2566" y="0"/>
                  </a:moveTo>
                  <a:lnTo>
                    <a:pt x="700234" y="0"/>
                  </a:lnTo>
                  <a:cubicBezTo>
                    <a:pt x="762403" y="0"/>
                    <a:pt x="812800" y="50397"/>
                    <a:pt x="812800" y="112566"/>
                  </a:cubicBezTo>
                  <a:lnTo>
                    <a:pt x="812800" y="700234"/>
                  </a:lnTo>
                  <a:cubicBezTo>
                    <a:pt x="812800" y="762403"/>
                    <a:pt x="762403" y="812800"/>
                    <a:pt x="700234" y="812800"/>
                  </a:cubicBezTo>
                  <a:lnTo>
                    <a:pt x="112566" y="812800"/>
                  </a:lnTo>
                  <a:cubicBezTo>
                    <a:pt x="50397" y="812800"/>
                    <a:pt x="0" y="762403"/>
                    <a:pt x="0" y="700234"/>
                  </a:cubicBezTo>
                  <a:lnTo>
                    <a:pt x="0" y="112566"/>
                  </a:lnTo>
                  <a:cubicBezTo>
                    <a:pt x="0" y="50397"/>
                    <a:pt x="50397" y="0"/>
                    <a:pt x="112566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50"/>
                </a:lnSpc>
              </a:pPr>
              <a:r>
                <a:rPr lang="en-US" sz="5000" b="1" spc="355">
                  <a:solidFill>
                    <a:srgbClr val="FDF8F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34957" y="2573104"/>
            <a:ext cx="1306762" cy="130676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2566" y="0"/>
                  </a:moveTo>
                  <a:lnTo>
                    <a:pt x="700234" y="0"/>
                  </a:lnTo>
                  <a:cubicBezTo>
                    <a:pt x="762403" y="0"/>
                    <a:pt x="812800" y="50397"/>
                    <a:pt x="812800" y="112566"/>
                  </a:cubicBezTo>
                  <a:lnTo>
                    <a:pt x="812800" y="700234"/>
                  </a:lnTo>
                  <a:cubicBezTo>
                    <a:pt x="812800" y="762403"/>
                    <a:pt x="762403" y="812800"/>
                    <a:pt x="700234" y="812800"/>
                  </a:cubicBezTo>
                  <a:lnTo>
                    <a:pt x="112566" y="812800"/>
                  </a:lnTo>
                  <a:cubicBezTo>
                    <a:pt x="50397" y="812800"/>
                    <a:pt x="0" y="762403"/>
                    <a:pt x="0" y="700234"/>
                  </a:cubicBezTo>
                  <a:lnTo>
                    <a:pt x="0" y="112566"/>
                  </a:lnTo>
                  <a:cubicBezTo>
                    <a:pt x="0" y="50397"/>
                    <a:pt x="50397" y="0"/>
                    <a:pt x="112566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50"/>
                </a:lnSpc>
              </a:pPr>
              <a:r>
                <a:rPr lang="en-US" sz="5000" b="1" spc="355">
                  <a:solidFill>
                    <a:srgbClr val="FDF8F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03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88625" y="3648304"/>
            <a:ext cx="19065250" cy="4282174"/>
            <a:chOff x="0" y="0"/>
            <a:chExt cx="5021300" cy="11278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021300" cy="1127815"/>
            </a:xfrm>
            <a:custGeom>
              <a:avLst/>
              <a:gdLst/>
              <a:ahLst/>
              <a:cxnLst/>
              <a:rect l="l" t="t" r="r" b="b"/>
              <a:pathLst>
                <a:path w="5021300" h="1127815">
                  <a:moveTo>
                    <a:pt x="8121" y="0"/>
                  </a:moveTo>
                  <a:lnTo>
                    <a:pt x="5013179" y="0"/>
                  </a:lnTo>
                  <a:cubicBezTo>
                    <a:pt x="5015333" y="0"/>
                    <a:pt x="5017399" y="856"/>
                    <a:pt x="5018922" y="2379"/>
                  </a:cubicBezTo>
                  <a:cubicBezTo>
                    <a:pt x="5020445" y="3902"/>
                    <a:pt x="5021300" y="5968"/>
                    <a:pt x="5021300" y="8121"/>
                  </a:cubicBezTo>
                  <a:lnTo>
                    <a:pt x="5021300" y="1119694"/>
                  </a:lnTo>
                  <a:cubicBezTo>
                    <a:pt x="5021300" y="1121848"/>
                    <a:pt x="5020445" y="1123914"/>
                    <a:pt x="5018922" y="1125437"/>
                  </a:cubicBezTo>
                  <a:cubicBezTo>
                    <a:pt x="5017399" y="1126960"/>
                    <a:pt x="5015333" y="1127815"/>
                    <a:pt x="5013179" y="1127815"/>
                  </a:cubicBezTo>
                  <a:lnTo>
                    <a:pt x="8121" y="1127815"/>
                  </a:lnTo>
                  <a:cubicBezTo>
                    <a:pt x="5968" y="1127815"/>
                    <a:pt x="3902" y="1126960"/>
                    <a:pt x="2379" y="1125437"/>
                  </a:cubicBezTo>
                  <a:cubicBezTo>
                    <a:pt x="856" y="1123914"/>
                    <a:pt x="0" y="1121848"/>
                    <a:pt x="0" y="1119694"/>
                  </a:cubicBezTo>
                  <a:lnTo>
                    <a:pt x="0" y="8121"/>
                  </a:lnTo>
                  <a:cubicBezTo>
                    <a:pt x="0" y="5968"/>
                    <a:pt x="856" y="3902"/>
                    <a:pt x="2379" y="2379"/>
                  </a:cubicBezTo>
                  <a:cubicBezTo>
                    <a:pt x="3902" y="856"/>
                    <a:pt x="5968" y="0"/>
                    <a:pt x="8121" y="0"/>
                  </a:cubicBezTo>
                  <a:close/>
                </a:path>
              </a:pathLst>
            </a:custGeom>
            <a:solidFill>
              <a:srgbClr val="DFE6E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5021300" cy="1089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 rot="-5400000">
            <a:off x="-2013808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FUTURE SCOPE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87471" y="3898186"/>
            <a:ext cx="3479028" cy="3184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b="1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Sonic Aura</a:t>
            </a:r>
          </a:p>
          <a:p>
            <a:pPr algn="ctr">
              <a:lnSpc>
                <a:spcPts val="3600"/>
              </a:lnSpc>
            </a:pPr>
            <a:endParaRPr lang="en-US" sz="2400" b="1">
              <a:solidFill>
                <a:srgbClr val="292828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3600"/>
              </a:lnSpc>
            </a:pPr>
            <a:r>
              <a:rPr lang="en-US" sz="240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Implementation of Three.js to generate 3D particle fields reacting to emotion confidence levels.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50711" y="3898186"/>
            <a:ext cx="4386578" cy="370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400" b="1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Community Vibe</a:t>
            </a:r>
          </a:p>
          <a:p>
            <a:pPr algn="ctr">
              <a:lnSpc>
                <a:spcPts val="3696"/>
              </a:lnSpc>
            </a:pPr>
            <a:endParaRPr lang="en-US" sz="2400" b="1">
              <a:solidFill>
                <a:srgbClr val="292828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3696"/>
              </a:lnSpc>
            </a:pPr>
            <a:r>
              <a:rPr lang="en-US" sz="240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Users can collaborative emotion-tagging features on platforms to share multifaceted playlists that transition between different moods and emotional states.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483815" y="3898186"/>
            <a:ext cx="3809046" cy="323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sz="2400" b="1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LLM Context</a:t>
            </a:r>
          </a:p>
          <a:p>
            <a:pPr algn="ctr">
              <a:lnSpc>
                <a:spcPts val="3696"/>
              </a:lnSpc>
            </a:pPr>
            <a:endParaRPr lang="en-US" sz="2400" b="1">
              <a:solidFill>
                <a:srgbClr val="292828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3696"/>
              </a:lnSpc>
            </a:pPr>
            <a:r>
              <a:rPr lang="en-US" sz="240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Integration of Llama-3 to generate cinematic "Scenario" descriptions that match the detected mood.</a:t>
            </a:r>
          </a:p>
        </p:txBody>
      </p:sp>
      <p:sp>
        <p:nvSpPr>
          <p:cNvPr id="22" name="Freeform 22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349008" y="2555418"/>
            <a:ext cx="4086623" cy="1498876"/>
            <a:chOff x="0" y="0"/>
            <a:chExt cx="1168072" cy="4284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68072" cy="428421"/>
            </a:xfrm>
            <a:custGeom>
              <a:avLst/>
              <a:gdLst/>
              <a:ahLst/>
              <a:cxnLst/>
              <a:rect l="l" t="t" r="r" b="b"/>
              <a:pathLst>
                <a:path w="1168072" h="428421">
                  <a:moveTo>
                    <a:pt x="18945" y="0"/>
                  </a:moveTo>
                  <a:lnTo>
                    <a:pt x="1149128" y="0"/>
                  </a:lnTo>
                  <a:cubicBezTo>
                    <a:pt x="1154152" y="0"/>
                    <a:pt x="1158971" y="1996"/>
                    <a:pt x="1162524" y="5549"/>
                  </a:cubicBezTo>
                  <a:cubicBezTo>
                    <a:pt x="1166076" y="9102"/>
                    <a:pt x="1168072" y="13920"/>
                    <a:pt x="1168072" y="18945"/>
                  </a:cubicBezTo>
                  <a:lnTo>
                    <a:pt x="1168072" y="409477"/>
                  </a:lnTo>
                  <a:cubicBezTo>
                    <a:pt x="1168072" y="414501"/>
                    <a:pt x="1166076" y="419320"/>
                    <a:pt x="1162524" y="422872"/>
                  </a:cubicBezTo>
                  <a:cubicBezTo>
                    <a:pt x="1158971" y="426425"/>
                    <a:pt x="1154152" y="428421"/>
                    <a:pt x="1149128" y="428421"/>
                  </a:cubicBezTo>
                  <a:lnTo>
                    <a:pt x="18945" y="428421"/>
                  </a:lnTo>
                  <a:cubicBezTo>
                    <a:pt x="13920" y="428421"/>
                    <a:pt x="9102" y="426425"/>
                    <a:pt x="5549" y="422872"/>
                  </a:cubicBezTo>
                  <a:cubicBezTo>
                    <a:pt x="1996" y="419320"/>
                    <a:pt x="0" y="414501"/>
                    <a:pt x="0" y="409477"/>
                  </a:cubicBezTo>
                  <a:lnTo>
                    <a:pt x="0" y="18945"/>
                  </a:lnTo>
                  <a:cubicBezTo>
                    <a:pt x="0" y="13920"/>
                    <a:pt x="1996" y="9102"/>
                    <a:pt x="5549" y="5549"/>
                  </a:cubicBezTo>
                  <a:cubicBezTo>
                    <a:pt x="9102" y="1996"/>
                    <a:pt x="13920" y="0"/>
                    <a:pt x="18945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68072" cy="466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3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6692315" y="2147763"/>
            <a:ext cx="10566985" cy="5991475"/>
          </a:xfrm>
          <a:prstGeom prst="roundRect">
            <a:avLst>
              <a:gd name="adj" fmla="val 5729"/>
            </a:avLst>
          </a:prstGeom>
          <a:blipFill>
            <a:blip r:embed="rId4"/>
            <a:stretch>
              <a:fillRect/>
            </a:stretch>
          </a:blipFill>
          <a:ln w="114300" cap="rnd">
            <a:solidFill>
              <a:srgbClr val="FFFFFF"/>
            </a:solidFill>
            <a:prstDash val="solid"/>
            <a:round/>
          </a:ln>
        </p:spPr>
      </p:sp>
      <p:grpSp>
        <p:nvGrpSpPr>
          <p:cNvPr id="8" name="Group 8"/>
          <p:cNvGrpSpPr/>
          <p:nvPr/>
        </p:nvGrpSpPr>
        <p:grpSpPr>
          <a:xfrm>
            <a:off x="2349008" y="4394062"/>
            <a:ext cx="4086623" cy="1498876"/>
            <a:chOff x="0" y="0"/>
            <a:chExt cx="1168072" cy="4284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8072" cy="428421"/>
            </a:xfrm>
            <a:custGeom>
              <a:avLst/>
              <a:gdLst/>
              <a:ahLst/>
              <a:cxnLst/>
              <a:rect l="l" t="t" r="r" b="b"/>
              <a:pathLst>
                <a:path w="1168072" h="428421">
                  <a:moveTo>
                    <a:pt x="18945" y="0"/>
                  </a:moveTo>
                  <a:lnTo>
                    <a:pt x="1149128" y="0"/>
                  </a:lnTo>
                  <a:cubicBezTo>
                    <a:pt x="1154152" y="0"/>
                    <a:pt x="1158971" y="1996"/>
                    <a:pt x="1162524" y="5549"/>
                  </a:cubicBezTo>
                  <a:cubicBezTo>
                    <a:pt x="1166076" y="9102"/>
                    <a:pt x="1168072" y="13920"/>
                    <a:pt x="1168072" y="18945"/>
                  </a:cubicBezTo>
                  <a:lnTo>
                    <a:pt x="1168072" y="409477"/>
                  </a:lnTo>
                  <a:cubicBezTo>
                    <a:pt x="1168072" y="414501"/>
                    <a:pt x="1166076" y="419320"/>
                    <a:pt x="1162524" y="422872"/>
                  </a:cubicBezTo>
                  <a:cubicBezTo>
                    <a:pt x="1158971" y="426425"/>
                    <a:pt x="1154152" y="428421"/>
                    <a:pt x="1149128" y="428421"/>
                  </a:cubicBezTo>
                  <a:lnTo>
                    <a:pt x="18945" y="428421"/>
                  </a:lnTo>
                  <a:cubicBezTo>
                    <a:pt x="13920" y="428421"/>
                    <a:pt x="9102" y="426425"/>
                    <a:pt x="5549" y="422872"/>
                  </a:cubicBezTo>
                  <a:cubicBezTo>
                    <a:pt x="1996" y="419320"/>
                    <a:pt x="0" y="414501"/>
                    <a:pt x="0" y="409477"/>
                  </a:cubicBezTo>
                  <a:lnTo>
                    <a:pt x="0" y="18945"/>
                  </a:lnTo>
                  <a:cubicBezTo>
                    <a:pt x="0" y="13920"/>
                    <a:pt x="1996" y="9102"/>
                    <a:pt x="5549" y="5549"/>
                  </a:cubicBezTo>
                  <a:cubicBezTo>
                    <a:pt x="9102" y="1996"/>
                    <a:pt x="13920" y="0"/>
                    <a:pt x="18945" y="0"/>
                  </a:cubicBezTo>
                  <a:close/>
                </a:path>
              </a:pathLst>
            </a:custGeom>
            <a:solidFill>
              <a:srgbClr val="11245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68072" cy="466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349008" y="6235838"/>
            <a:ext cx="4086623" cy="1498876"/>
            <a:chOff x="0" y="0"/>
            <a:chExt cx="1168072" cy="4284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8072" cy="428421"/>
            </a:xfrm>
            <a:custGeom>
              <a:avLst/>
              <a:gdLst/>
              <a:ahLst/>
              <a:cxnLst/>
              <a:rect l="l" t="t" r="r" b="b"/>
              <a:pathLst>
                <a:path w="1168072" h="428421">
                  <a:moveTo>
                    <a:pt x="18945" y="0"/>
                  </a:moveTo>
                  <a:lnTo>
                    <a:pt x="1149128" y="0"/>
                  </a:lnTo>
                  <a:cubicBezTo>
                    <a:pt x="1154152" y="0"/>
                    <a:pt x="1158971" y="1996"/>
                    <a:pt x="1162524" y="5549"/>
                  </a:cubicBezTo>
                  <a:cubicBezTo>
                    <a:pt x="1166076" y="9102"/>
                    <a:pt x="1168072" y="13920"/>
                    <a:pt x="1168072" y="18945"/>
                  </a:cubicBezTo>
                  <a:lnTo>
                    <a:pt x="1168072" y="409477"/>
                  </a:lnTo>
                  <a:cubicBezTo>
                    <a:pt x="1168072" y="414501"/>
                    <a:pt x="1166076" y="419320"/>
                    <a:pt x="1162524" y="422872"/>
                  </a:cubicBezTo>
                  <a:cubicBezTo>
                    <a:pt x="1158971" y="426425"/>
                    <a:pt x="1154152" y="428421"/>
                    <a:pt x="1149128" y="428421"/>
                  </a:cubicBezTo>
                  <a:lnTo>
                    <a:pt x="18945" y="428421"/>
                  </a:lnTo>
                  <a:cubicBezTo>
                    <a:pt x="13920" y="428421"/>
                    <a:pt x="9102" y="426425"/>
                    <a:pt x="5549" y="422872"/>
                  </a:cubicBezTo>
                  <a:cubicBezTo>
                    <a:pt x="1996" y="419320"/>
                    <a:pt x="0" y="414501"/>
                    <a:pt x="0" y="409477"/>
                  </a:cubicBezTo>
                  <a:lnTo>
                    <a:pt x="0" y="18945"/>
                  </a:lnTo>
                  <a:cubicBezTo>
                    <a:pt x="0" y="13920"/>
                    <a:pt x="1996" y="9102"/>
                    <a:pt x="5549" y="5549"/>
                  </a:cubicBezTo>
                  <a:cubicBezTo>
                    <a:pt x="9102" y="1996"/>
                    <a:pt x="13920" y="0"/>
                    <a:pt x="18945" y="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68072" cy="4665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3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452585" y="4273369"/>
            <a:ext cx="259728" cy="317225"/>
          </a:xfrm>
          <a:custGeom>
            <a:avLst/>
            <a:gdLst/>
            <a:ahLst/>
            <a:cxnLst/>
            <a:rect l="l" t="t" r="r" b="b"/>
            <a:pathLst>
              <a:path w="259728" h="317225">
                <a:moveTo>
                  <a:pt x="0" y="0"/>
                </a:moveTo>
                <a:lnTo>
                  <a:pt x="259729" y="0"/>
                </a:lnTo>
                <a:lnTo>
                  <a:pt x="259729" y="317226"/>
                </a:lnTo>
                <a:lnTo>
                  <a:pt x="0" y="317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15 of 16</a:t>
            </a:r>
          </a:p>
        </p:txBody>
      </p:sp>
      <p:sp>
        <p:nvSpPr>
          <p:cNvPr id="16" name="TextBox 16"/>
          <p:cNvSpPr txBox="1"/>
          <p:nvPr/>
        </p:nvSpPr>
        <p:spPr>
          <a:xfrm rot="-5400000">
            <a:off x="-2024032" y="4475462"/>
            <a:ext cx="7302400" cy="93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6999">
                <a:solidFill>
                  <a:srgbClr val="292828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40875" y="2932508"/>
            <a:ext cx="3894757" cy="79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  <a:spcBef>
                <a:spcPct val="0"/>
              </a:spcBef>
            </a:pPr>
            <a:r>
              <a:rPr lang="en-US" sz="1518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MOODMATE</a:t>
            </a:r>
            <a:r>
              <a:rPr lang="en-US" sz="151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successfully bridges the gap between Deep Learning and modern Web Engineering.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40875" y="4771152"/>
            <a:ext cx="3894757" cy="79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  <a:spcBef>
                <a:spcPct val="0"/>
              </a:spcBef>
            </a:pPr>
            <a:r>
              <a:rPr lang="en-US" sz="151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Demonstrates a move beyond static classification to a </a:t>
            </a:r>
            <a:r>
              <a:rPr lang="en-US" sz="1518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reactive, real-time system.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40875" y="6566470"/>
            <a:ext cx="3894757" cy="79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  <a:spcBef>
                <a:spcPct val="0"/>
              </a:spcBef>
            </a:pPr>
            <a:r>
              <a:rPr lang="en-US" sz="151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Validates proficiency in the full data lifecycle: </a:t>
            </a:r>
            <a:r>
              <a:rPr lang="en-US" sz="1518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Raw Pixels → Trained Model → Deployed Application.</a:t>
            </a:r>
          </a:p>
        </p:txBody>
      </p:sp>
      <p:sp>
        <p:nvSpPr>
          <p:cNvPr id="20" name="Freeform 20"/>
          <p:cNvSpPr/>
          <p:nvPr/>
        </p:nvSpPr>
        <p:spPr>
          <a:xfrm>
            <a:off x="5956075" y="2440421"/>
            <a:ext cx="259728" cy="317225"/>
          </a:xfrm>
          <a:custGeom>
            <a:avLst/>
            <a:gdLst/>
            <a:ahLst/>
            <a:cxnLst/>
            <a:rect l="l" t="t" r="r" b="b"/>
            <a:pathLst>
              <a:path w="259728" h="317225">
                <a:moveTo>
                  <a:pt x="0" y="0"/>
                </a:moveTo>
                <a:lnTo>
                  <a:pt x="259728" y="0"/>
                </a:lnTo>
                <a:lnTo>
                  <a:pt x="259728" y="317225"/>
                </a:lnTo>
                <a:lnTo>
                  <a:pt x="0" y="317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956075" y="6118733"/>
            <a:ext cx="259728" cy="317225"/>
          </a:xfrm>
          <a:custGeom>
            <a:avLst/>
            <a:gdLst/>
            <a:ahLst/>
            <a:cxnLst/>
            <a:rect l="l" t="t" r="r" b="b"/>
            <a:pathLst>
              <a:path w="259728" h="317225">
                <a:moveTo>
                  <a:pt x="0" y="0"/>
                </a:moveTo>
                <a:lnTo>
                  <a:pt x="259728" y="0"/>
                </a:lnTo>
                <a:lnTo>
                  <a:pt x="259728" y="317225"/>
                </a:lnTo>
                <a:lnTo>
                  <a:pt x="0" y="317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23" name="Freeform 23"/>
          <p:cNvSpPr/>
          <p:nvPr/>
        </p:nvSpPr>
        <p:spPr>
          <a:xfrm>
            <a:off x="1118730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654874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9205" y="1624418"/>
            <a:ext cx="4762263" cy="7038164"/>
            <a:chOff x="0" y="0"/>
            <a:chExt cx="1254259" cy="18536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259" cy="1853673"/>
            </a:xfrm>
            <a:custGeom>
              <a:avLst/>
              <a:gdLst/>
              <a:ahLst/>
              <a:cxnLst/>
              <a:rect l="l" t="t" r="r" b="b"/>
              <a:pathLst>
                <a:path w="1254259" h="1853673">
                  <a:moveTo>
                    <a:pt x="121926" y="0"/>
                  </a:moveTo>
                  <a:lnTo>
                    <a:pt x="1132333" y="0"/>
                  </a:lnTo>
                  <a:cubicBezTo>
                    <a:pt x="1164669" y="0"/>
                    <a:pt x="1195682" y="12846"/>
                    <a:pt x="1218547" y="35711"/>
                  </a:cubicBezTo>
                  <a:cubicBezTo>
                    <a:pt x="1241413" y="58577"/>
                    <a:pt x="1254259" y="89589"/>
                    <a:pt x="1254259" y="121926"/>
                  </a:cubicBezTo>
                  <a:lnTo>
                    <a:pt x="1254259" y="1731747"/>
                  </a:lnTo>
                  <a:cubicBezTo>
                    <a:pt x="1254259" y="1764084"/>
                    <a:pt x="1241413" y="1795096"/>
                    <a:pt x="1218547" y="1817962"/>
                  </a:cubicBezTo>
                  <a:cubicBezTo>
                    <a:pt x="1195682" y="1840827"/>
                    <a:pt x="1164669" y="1853673"/>
                    <a:pt x="1132333" y="1853673"/>
                  </a:cubicBezTo>
                  <a:lnTo>
                    <a:pt x="121926" y="1853673"/>
                  </a:lnTo>
                  <a:cubicBezTo>
                    <a:pt x="89589" y="1853673"/>
                    <a:pt x="58577" y="1840827"/>
                    <a:pt x="35711" y="1817962"/>
                  </a:cubicBezTo>
                  <a:cubicBezTo>
                    <a:pt x="12846" y="1795096"/>
                    <a:pt x="0" y="1764084"/>
                    <a:pt x="0" y="1731747"/>
                  </a:cubicBezTo>
                  <a:lnTo>
                    <a:pt x="0" y="121926"/>
                  </a:lnTo>
                  <a:cubicBezTo>
                    <a:pt x="0" y="89589"/>
                    <a:pt x="12846" y="58577"/>
                    <a:pt x="35711" y="35711"/>
                  </a:cubicBezTo>
                  <a:cubicBezTo>
                    <a:pt x="58577" y="12846"/>
                    <a:pt x="89589" y="0"/>
                    <a:pt x="12192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254259" cy="1863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8861985"/>
            <a:ext cx="14746329" cy="0"/>
          </a:xfrm>
          <a:prstGeom prst="line">
            <a:avLst/>
          </a:prstGeom>
          <a:ln w="19050" cap="flat">
            <a:solidFill>
              <a:srgbClr val="292828"/>
            </a:solidFill>
            <a:prstDash val="solid"/>
            <a:headEnd type="none" w="sm" len="sm"/>
            <a:tailEnd type="diamond" w="lg" len="lg"/>
          </a:ln>
        </p:spPr>
      </p:sp>
      <p:sp>
        <p:nvSpPr>
          <p:cNvPr id="6" name="Freeform 6"/>
          <p:cNvSpPr/>
          <p:nvPr/>
        </p:nvSpPr>
        <p:spPr>
          <a:xfrm>
            <a:off x="16773919" y="8609769"/>
            <a:ext cx="485381" cy="485381"/>
          </a:xfrm>
          <a:custGeom>
            <a:avLst/>
            <a:gdLst/>
            <a:ahLst/>
            <a:cxnLst/>
            <a:rect l="l" t="t" r="r" b="b"/>
            <a:pathLst>
              <a:path w="485381" h="485381">
                <a:moveTo>
                  <a:pt x="0" y="0"/>
                </a:moveTo>
                <a:lnTo>
                  <a:pt x="485381" y="0"/>
                </a:lnTo>
                <a:lnTo>
                  <a:pt x="485381" y="485381"/>
                </a:lnTo>
                <a:lnTo>
                  <a:pt x="0" y="48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400546" y="2400548"/>
            <a:ext cx="2092767" cy="209276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555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52400" y="190500"/>
              <a:ext cx="5080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2572293" y="2575711"/>
            <a:ext cx="1749273" cy="1742440"/>
            <a:chOff x="0" y="0"/>
            <a:chExt cx="6502400" cy="6477000"/>
          </a:xfrm>
        </p:grpSpPr>
        <p:sp>
          <p:nvSpPr>
            <p:cNvPr id="11" name="Freeform 11"/>
            <p:cNvSpPr/>
            <p:nvPr/>
          </p:nvSpPr>
          <p:spPr>
            <a:xfrm>
              <a:off x="116940" y="124149"/>
              <a:ext cx="6262195" cy="6234315"/>
            </a:xfrm>
            <a:custGeom>
              <a:avLst/>
              <a:gdLst/>
              <a:ahLst/>
              <a:cxnLst/>
              <a:rect l="l" t="t" r="r" b="b"/>
              <a:pathLst>
                <a:path w="6262195" h="623431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35554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109205" y="567172"/>
            <a:ext cx="461528" cy="461528"/>
          </a:xfrm>
          <a:custGeom>
            <a:avLst/>
            <a:gdLst/>
            <a:ahLst/>
            <a:cxnLst/>
            <a:rect l="l" t="t" r="r" b="b"/>
            <a:pathLst>
              <a:path w="461528" h="461528">
                <a:moveTo>
                  <a:pt x="0" y="0"/>
                </a:moveTo>
                <a:lnTo>
                  <a:pt x="461528" y="0"/>
                </a:lnTo>
                <a:lnTo>
                  <a:pt x="461528" y="461528"/>
                </a:lnTo>
                <a:lnTo>
                  <a:pt x="0" y="461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156113" y="1516247"/>
            <a:ext cx="7315200" cy="1825752"/>
          </a:xfrm>
          <a:custGeom>
            <a:avLst/>
            <a:gdLst/>
            <a:ahLst/>
            <a:cxnLst/>
            <a:rect l="l" t="t" r="r" b="b"/>
            <a:pathLst>
              <a:path w="7315200" h="1825752">
                <a:moveTo>
                  <a:pt x="0" y="0"/>
                </a:moveTo>
                <a:lnTo>
                  <a:pt x="7315200" y="0"/>
                </a:lnTo>
                <a:lnTo>
                  <a:pt x="7315200" y="1825752"/>
                </a:lnTo>
                <a:lnTo>
                  <a:pt x="0" y="1825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686294" y="6547841"/>
            <a:ext cx="2254839" cy="1525915"/>
          </a:xfrm>
          <a:custGeom>
            <a:avLst/>
            <a:gdLst/>
            <a:ahLst/>
            <a:cxnLst/>
            <a:rect l="l" t="t" r="r" b="b"/>
            <a:pathLst>
              <a:path w="2254839" h="1525915">
                <a:moveTo>
                  <a:pt x="0" y="0"/>
                </a:moveTo>
                <a:lnTo>
                  <a:pt x="2254839" y="0"/>
                </a:lnTo>
                <a:lnTo>
                  <a:pt x="2254839" y="1525916"/>
                </a:lnTo>
                <a:lnTo>
                  <a:pt x="0" y="15259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6557" t="-58216" r="-65606" b="-56201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921437" y="6076871"/>
            <a:ext cx="193696" cy="193696"/>
          </a:xfrm>
          <a:custGeom>
            <a:avLst/>
            <a:gdLst/>
            <a:ahLst/>
            <a:cxnLst/>
            <a:rect l="l" t="t" r="r" b="b"/>
            <a:pathLst>
              <a:path w="193696" h="193696">
                <a:moveTo>
                  <a:pt x="0" y="0"/>
                </a:moveTo>
                <a:lnTo>
                  <a:pt x="193696" y="0"/>
                </a:lnTo>
                <a:lnTo>
                  <a:pt x="193696" y="193696"/>
                </a:lnTo>
                <a:lnTo>
                  <a:pt x="0" y="1936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921437" y="6356292"/>
            <a:ext cx="187924" cy="187924"/>
          </a:xfrm>
          <a:custGeom>
            <a:avLst/>
            <a:gdLst/>
            <a:ahLst/>
            <a:cxnLst/>
            <a:rect l="l" t="t" r="r" b="b"/>
            <a:pathLst>
              <a:path w="187924" h="187924">
                <a:moveTo>
                  <a:pt x="0" y="0"/>
                </a:moveTo>
                <a:lnTo>
                  <a:pt x="187924" y="0"/>
                </a:lnTo>
                <a:lnTo>
                  <a:pt x="187924" y="187924"/>
                </a:lnTo>
                <a:lnTo>
                  <a:pt x="0" y="1879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925406" y="6629941"/>
            <a:ext cx="185759" cy="185759"/>
          </a:xfrm>
          <a:custGeom>
            <a:avLst/>
            <a:gdLst/>
            <a:ahLst/>
            <a:cxnLst/>
            <a:rect l="l" t="t" r="r" b="b"/>
            <a:pathLst>
              <a:path w="185759" h="185759">
                <a:moveTo>
                  <a:pt x="0" y="0"/>
                </a:moveTo>
                <a:lnTo>
                  <a:pt x="185759" y="0"/>
                </a:lnTo>
                <a:lnTo>
                  <a:pt x="185759" y="185759"/>
                </a:lnTo>
                <a:lnTo>
                  <a:pt x="0" y="1857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921437" y="6901425"/>
            <a:ext cx="187903" cy="187903"/>
          </a:xfrm>
          <a:custGeom>
            <a:avLst/>
            <a:gdLst/>
            <a:ahLst/>
            <a:cxnLst/>
            <a:rect l="l" t="t" r="r" b="b"/>
            <a:pathLst>
              <a:path w="187903" h="187903">
                <a:moveTo>
                  <a:pt x="0" y="0"/>
                </a:moveTo>
                <a:lnTo>
                  <a:pt x="187904" y="0"/>
                </a:lnTo>
                <a:lnTo>
                  <a:pt x="187904" y="187903"/>
                </a:lnTo>
                <a:lnTo>
                  <a:pt x="0" y="187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921437" y="7175053"/>
            <a:ext cx="184445" cy="184445"/>
          </a:xfrm>
          <a:custGeom>
            <a:avLst/>
            <a:gdLst/>
            <a:ahLst/>
            <a:cxnLst/>
            <a:rect l="l" t="t" r="r" b="b"/>
            <a:pathLst>
              <a:path w="184445" h="184445">
                <a:moveTo>
                  <a:pt x="0" y="0"/>
                </a:moveTo>
                <a:lnTo>
                  <a:pt x="184445" y="0"/>
                </a:lnTo>
                <a:lnTo>
                  <a:pt x="184445" y="184445"/>
                </a:lnTo>
                <a:lnTo>
                  <a:pt x="0" y="1844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853508" y="3781921"/>
            <a:ext cx="9920411" cy="2280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183" b="1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ACKNOWLEDGEMENT</a:t>
            </a:r>
          </a:p>
          <a:p>
            <a:pPr algn="l">
              <a:lnSpc>
                <a:spcPts val="3057"/>
              </a:lnSpc>
              <a:spcBef>
                <a:spcPct val="0"/>
              </a:spcBef>
            </a:pPr>
            <a:r>
              <a:rPr lang="en-US" sz="2183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I extend my sincere gratitude to </a:t>
            </a:r>
            <a:r>
              <a:rPr lang="en-US" sz="2183" b="1">
                <a:solidFill>
                  <a:srgbClr val="5170FF"/>
                </a:solidFill>
                <a:latin typeface="Gotham Bold"/>
                <a:ea typeface="Gotham Bold"/>
                <a:cs typeface="Gotham Bold"/>
                <a:sym typeface="Gotham Bold"/>
              </a:rPr>
              <a:t>Infosys Springboard</a:t>
            </a:r>
            <a:r>
              <a:rPr lang="en-US" sz="2183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 for the opportunity to participate in the </a:t>
            </a:r>
            <a:r>
              <a:rPr lang="en-US" sz="2183" b="1" i="1">
                <a:solidFill>
                  <a:srgbClr val="292828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Virtual Internship 6.0</a:t>
            </a:r>
            <a:r>
              <a:rPr lang="en-US" sz="2183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. Their invaluable mentorship, comprehensive learning resources, and platform support were instrumental in the success of this project and my professional growth.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39178" y="9286875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www.tinyurl.com/moodmate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26846" y="758823"/>
            <a:ext cx="2132454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0"/>
              </a:lnSpc>
            </a:pPr>
            <a:r>
              <a:rPr lang="en-US" sz="2000" i="1" spc="90">
                <a:solidFill>
                  <a:srgbClr val="292828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page 16 of 16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09579" y="4703989"/>
            <a:ext cx="2761516" cy="349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92828"/>
                </a:solidFill>
                <a:latin typeface="Gotham Bold"/>
                <a:ea typeface="Gotham Bold"/>
                <a:cs typeface="Gotham Bold"/>
                <a:sym typeface="Gotham Bold"/>
              </a:rPr>
              <a:t>RANIT DERIA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34057" y="5146411"/>
            <a:ext cx="3425747" cy="51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sz="145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AI-Augmented Full-Stack Engineer</a:t>
            </a:r>
          </a:p>
          <a:p>
            <a:pPr algn="ctr">
              <a:lnSpc>
                <a:spcPts val="2030"/>
              </a:lnSpc>
              <a:spcBef>
                <a:spcPct val="0"/>
              </a:spcBef>
            </a:pPr>
            <a:r>
              <a:rPr lang="en-US" sz="145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B.Tech (CSE), 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45349" y="679448"/>
            <a:ext cx="7120122" cy="26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90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</a:rPr>
              <a:t>MOODMATE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34183" y="6599849"/>
            <a:ext cx="2587512" cy="22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233" u="sng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  <a:hlinkClick r:id="rId13" tooltip="https://github.com/RanitDERIA"/>
              </a:rPr>
              <a:t>RanitDERIA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34183" y="6863513"/>
            <a:ext cx="2587512" cy="22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233" u="sng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  <a:hlinkClick r:id="rId14" tooltip="https://www.linkedin.com/in/ranit-deria-916864257/"/>
              </a:rPr>
              <a:t>ranit-deria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34183" y="7146478"/>
            <a:ext cx="2587512" cy="22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233" u="sng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  <a:hlinkClick r:id="rId15" tooltip="https://x.com/DeriaRanit"/>
              </a:rPr>
              <a:t>DeriaRanit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115133" y="6315202"/>
            <a:ext cx="2587512" cy="22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233" u="sng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  <a:hlinkClick r:id="rId16" tooltip="mailto:bytebardderia@gmail.com"/>
              </a:rPr>
              <a:t>bytebardderia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105882" y="6051287"/>
            <a:ext cx="2587512" cy="22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233" u="sng">
                <a:solidFill>
                  <a:srgbClr val="292828"/>
                </a:solidFill>
                <a:latin typeface="Gotham"/>
                <a:ea typeface="Gotham"/>
                <a:cs typeface="Gotham"/>
                <a:sym typeface="Gotham"/>
                <a:hlinkClick r:id="rId17" tooltip="https://www.ranitderia.tech"/>
              </a:rPr>
              <a:t>ranitderia.tech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1163</Words>
  <Application>Microsoft Office PowerPoint</Application>
  <PresentationFormat>Custom</PresentationFormat>
  <Paragraphs>203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Bebas Neue Cyrillic</vt:lpstr>
      <vt:lpstr>Calibri</vt:lpstr>
      <vt:lpstr>Arial</vt:lpstr>
      <vt:lpstr>Gotham Bold</vt:lpstr>
      <vt:lpstr>Gotham Bold Italics</vt:lpstr>
      <vt:lpstr>Gotham Italics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</dc:title>
  <cp:lastModifiedBy>Ranit Deria</cp:lastModifiedBy>
  <cp:revision>2</cp:revision>
  <dcterms:created xsi:type="dcterms:W3CDTF">2006-08-16T00:00:00Z</dcterms:created>
  <dcterms:modified xsi:type="dcterms:W3CDTF">2026-01-17T14:47:43Z</dcterms:modified>
  <dc:identifier>DAG-pVvyc5w</dc:identifier>
</cp:coreProperties>
</file>