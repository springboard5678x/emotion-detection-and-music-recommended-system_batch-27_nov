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Roboto" panose="02000000000000000000" pitchFamily="2" charset="0"/>
      <p:regular r:id="rId18"/>
      <p:bold r:id="rId19"/>
    </p:embeddedFont>
    <p:embeddedFont>
      <p:font typeface="Roboto Slab" pitchFamily="2" charset="0"/>
      <p:regular r:id="rId20"/>
    </p:embeddedFont>
    <p:embeddedFont>
      <p:font typeface="Roboto Slab Light" pitchFamily="2"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3615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2.png"/><Relationship Id="rId7" Type="http://schemas.openxmlformats.org/officeDocument/2006/relationships/image" Target="../media/image34.png"/><Relationship Id="rId12"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33.png"/><Relationship Id="rId11" Type="http://schemas.openxmlformats.org/officeDocument/2006/relationships/image" Target="../media/image5.svg"/><Relationship Id="rId5" Type="http://schemas.openxmlformats.org/officeDocument/2006/relationships/image" Target="../media/image7.svg"/><Relationship Id="rId10" Type="http://schemas.openxmlformats.org/officeDocument/2006/relationships/image" Target="../media/image4.png"/><Relationship Id="rId4" Type="http://schemas.openxmlformats.org/officeDocument/2006/relationships/image" Target="../media/image6.png"/><Relationship Id="rId9"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47328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AuraStream AI:</a:t>
            </a:r>
            <a:endParaRPr lang="en-US" sz="4450" dirty="0"/>
          </a:p>
        </p:txBody>
      </p:sp>
      <p:sp>
        <p:nvSpPr>
          <p:cNvPr id="4" name="Text 1"/>
          <p:cNvSpPr/>
          <p:nvPr/>
        </p:nvSpPr>
        <p:spPr>
          <a:xfrm>
            <a:off x="793790" y="3272790"/>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Emotion-detection Music Recommandation System</a:t>
            </a:r>
            <a:endParaRPr lang="en-US" sz="4450" dirty="0"/>
          </a:p>
        </p:txBody>
      </p:sp>
      <p:sp>
        <p:nvSpPr>
          <p:cNvPr id="5" name="Text 2"/>
          <p:cNvSpPr/>
          <p:nvPr/>
        </p:nvSpPr>
        <p:spPr>
          <a:xfrm>
            <a:off x="793790" y="5030510"/>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Real-time emotion detection meets personalized music curation in an end-to-end affective computing ecosystem.</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361480"/>
            <a:ext cx="1971437" cy="426244"/>
          </a:xfrm>
          <a:prstGeom prst="roundRect">
            <a:avLst>
              <a:gd name="adj" fmla="val 6386"/>
            </a:avLst>
          </a:prstGeom>
          <a:solidFill>
            <a:srgbClr val="082545"/>
          </a:solidFill>
          <a:ln/>
        </p:spPr>
      </p:sp>
      <p:sp>
        <p:nvSpPr>
          <p:cNvPr id="3" name="Text 1"/>
          <p:cNvSpPr/>
          <p:nvPr/>
        </p:nvSpPr>
        <p:spPr>
          <a:xfrm>
            <a:off x="929878" y="1429464"/>
            <a:ext cx="1699260" cy="290274"/>
          </a:xfrm>
          <a:prstGeom prst="rect">
            <a:avLst/>
          </a:prstGeom>
          <a:noFill/>
          <a:ln/>
        </p:spPr>
        <p:txBody>
          <a:bodyPr wrap="none" lIns="0" tIns="0" rIns="0" bIns="0" rtlCol="0" anchor="t"/>
          <a:lstStyle/>
          <a:p>
            <a:pPr marL="0" indent="0" algn="l">
              <a:lnSpc>
                <a:spcPts val="2250"/>
              </a:lnSpc>
              <a:buNone/>
            </a:pPr>
            <a:r>
              <a:rPr lang="en-US" sz="1400" dirty="0">
                <a:solidFill>
                  <a:srgbClr val="D6E5EF"/>
                </a:solidFill>
                <a:latin typeface="Roboto" pitchFamily="34" charset="0"/>
                <a:ea typeface="Roboto" pitchFamily="34" charset="-122"/>
                <a:cs typeface="Roboto" pitchFamily="34" charset="-120"/>
              </a:rPr>
              <a:t>PROJECT OVERVIEW</a:t>
            </a:r>
            <a:endParaRPr lang="en-US" sz="1400" dirty="0"/>
          </a:p>
        </p:txBody>
      </p:sp>
      <p:sp>
        <p:nvSpPr>
          <p:cNvPr id="4" name="Text 2"/>
          <p:cNvSpPr/>
          <p:nvPr/>
        </p:nvSpPr>
        <p:spPr>
          <a:xfrm>
            <a:off x="793790" y="1878449"/>
            <a:ext cx="13042821" cy="1133951"/>
          </a:xfrm>
          <a:prstGeom prst="rect">
            <a:avLst/>
          </a:prstGeom>
          <a:noFill/>
          <a:ln/>
        </p:spPr>
        <p:txBody>
          <a:bodyPr wrap="squar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Bridging Affective Computing and Personalized Entertainment</a:t>
            </a:r>
            <a:endParaRPr lang="en-US" sz="3550" dirty="0"/>
          </a:p>
        </p:txBody>
      </p:sp>
      <p:sp>
        <p:nvSpPr>
          <p:cNvPr id="5" name="Text 3"/>
          <p:cNvSpPr/>
          <p:nvPr/>
        </p:nvSpPr>
        <p:spPr>
          <a:xfrm>
            <a:off x="793790" y="3556635"/>
            <a:ext cx="6924437" cy="1451610"/>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AuraStream AI represents a sophisticated fusion of computer vision, deep learning, and music recommendation systems. The platform captures real-time emotional states through facial analysis and delivers dynamically curated audio experiences.</a:t>
            </a:r>
            <a:endParaRPr lang="en-US" sz="1750" dirty="0"/>
          </a:p>
        </p:txBody>
      </p:sp>
      <p:sp>
        <p:nvSpPr>
          <p:cNvPr id="6" name="Text 4"/>
          <p:cNvSpPr/>
          <p:nvPr/>
        </p:nvSpPr>
        <p:spPr>
          <a:xfrm>
            <a:off x="793790" y="5212318"/>
            <a:ext cx="6924437" cy="1451610"/>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By combining state-of-the-art CNN architectures with extensive music metadata, we've created an intelligent system that understands not just what users feel, but how to respond with perfectly matched soundscapes.</a:t>
            </a:r>
            <a:endParaRPr lang="en-US" sz="1750" dirty="0"/>
          </a:p>
        </p:txBody>
      </p:sp>
      <p:pic>
        <p:nvPicPr>
          <p:cNvPr id="8" name="Picture 7">
            <a:extLst>
              <a:ext uri="{FF2B5EF4-FFF2-40B4-BE49-F238E27FC236}">
                <a16:creationId xmlns:a16="http://schemas.microsoft.com/office/drawing/2014/main" id="{7D0C0056-BBFC-B058-BB2D-40CDD70224A1}"/>
              </a:ext>
            </a:extLst>
          </p:cNvPr>
          <p:cNvPicPr>
            <a:picLocks noChangeAspect="1"/>
          </p:cNvPicPr>
          <p:nvPr/>
        </p:nvPicPr>
        <p:blipFill>
          <a:blip r:embed="rId3"/>
          <a:stretch>
            <a:fillRect/>
          </a:stretch>
        </p:blipFill>
        <p:spPr>
          <a:xfrm>
            <a:off x="12488994" y="7789011"/>
            <a:ext cx="2141406" cy="3200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44015"/>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Core Objective</a:t>
            </a:r>
            <a:endParaRPr lang="en-US" sz="3550" dirty="0"/>
          </a:p>
        </p:txBody>
      </p:sp>
      <p:sp>
        <p:nvSpPr>
          <p:cNvPr id="3" name="Shape 1"/>
          <p:cNvSpPr/>
          <p:nvPr/>
        </p:nvSpPr>
        <p:spPr>
          <a:xfrm>
            <a:off x="793790" y="2664619"/>
            <a:ext cx="4196358" cy="2940010"/>
          </a:xfrm>
          <a:prstGeom prst="roundRect">
            <a:avLst>
              <a:gd name="adj" fmla="val 1157"/>
            </a:avLst>
          </a:prstGeom>
          <a:solidFill>
            <a:srgbClr val="3F4652"/>
          </a:solidFill>
          <a:ln/>
        </p:spPr>
      </p:sp>
      <p:sp>
        <p:nvSpPr>
          <p:cNvPr id="4" name="Shape 2"/>
          <p:cNvSpPr/>
          <p:nvPr/>
        </p:nvSpPr>
        <p:spPr>
          <a:xfrm>
            <a:off x="1020604" y="2891433"/>
            <a:ext cx="680442" cy="680442"/>
          </a:xfrm>
          <a:prstGeom prst="roundRect">
            <a:avLst>
              <a:gd name="adj" fmla="val 13436980"/>
            </a:avLst>
          </a:prstGeom>
          <a:solidFill>
            <a:srgbClr val="66A8EE"/>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7770" y="3078480"/>
            <a:ext cx="306110" cy="306110"/>
          </a:xfrm>
          <a:prstGeom prst="rect">
            <a:avLst/>
          </a:prstGeom>
        </p:spPr>
      </p:pic>
      <p:sp>
        <p:nvSpPr>
          <p:cNvPr id="6" name="Text 3"/>
          <p:cNvSpPr/>
          <p:nvPr/>
        </p:nvSpPr>
        <p:spPr>
          <a:xfrm>
            <a:off x="1020604" y="379868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Real-Time Detection</a:t>
            </a:r>
            <a:endParaRPr lang="en-US" sz="2200" dirty="0"/>
          </a:p>
        </p:txBody>
      </p:sp>
      <p:sp>
        <p:nvSpPr>
          <p:cNvPr id="7" name="Text 4"/>
          <p:cNvSpPr/>
          <p:nvPr/>
        </p:nvSpPr>
        <p:spPr>
          <a:xfrm>
            <a:off x="1020604" y="4289108"/>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Identify 7 distinct emotional states with millisecond-level latency</a:t>
            </a:r>
            <a:endParaRPr lang="en-US" sz="1750" dirty="0"/>
          </a:p>
        </p:txBody>
      </p:sp>
      <p:sp>
        <p:nvSpPr>
          <p:cNvPr id="8" name="Shape 5"/>
          <p:cNvSpPr/>
          <p:nvPr/>
        </p:nvSpPr>
        <p:spPr>
          <a:xfrm>
            <a:off x="5216962" y="2664619"/>
            <a:ext cx="4196358" cy="2940010"/>
          </a:xfrm>
          <a:prstGeom prst="roundRect">
            <a:avLst>
              <a:gd name="adj" fmla="val 1157"/>
            </a:avLst>
          </a:prstGeom>
          <a:solidFill>
            <a:srgbClr val="3F4652"/>
          </a:solidFill>
          <a:ln/>
        </p:spPr>
      </p:sp>
      <p:sp>
        <p:nvSpPr>
          <p:cNvPr id="9" name="Shape 6"/>
          <p:cNvSpPr/>
          <p:nvPr/>
        </p:nvSpPr>
        <p:spPr>
          <a:xfrm>
            <a:off x="5443776" y="2891433"/>
            <a:ext cx="680442" cy="680442"/>
          </a:xfrm>
          <a:prstGeom prst="roundRect">
            <a:avLst>
              <a:gd name="adj" fmla="val 13436980"/>
            </a:avLst>
          </a:prstGeom>
          <a:solidFill>
            <a:srgbClr val="66A8EE"/>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0942" y="3078480"/>
            <a:ext cx="306110" cy="306110"/>
          </a:xfrm>
          <a:prstGeom prst="rect">
            <a:avLst/>
          </a:prstGeom>
        </p:spPr>
      </p:pic>
      <p:sp>
        <p:nvSpPr>
          <p:cNvPr id="11" name="Text 7"/>
          <p:cNvSpPr/>
          <p:nvPr/>
        </p:nvSpPr>
        <p:spPr>
          <a:xfrm>
            <a:off x="5443776" y="379868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Intelligent Curation</a:t>
            </a:r>
            <a:endParaRPr lang="en-US" sz="2200" dirty="0"/>
          </a:p>
        </p:txBody>
      </p:sp>
      <p:sp>
        <p:nvSpPr>
          <p:cNvPr id="12" name="Text 8"/>
          <p:cNvSpPr/>
          <p:nvPr/>
        </p:nvSpPr>
        <p:spPr>
          <a:xfrm>
            <a:off x="5443776" y="4289108"/>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Match detected emotions to personalized audio playlists</a:t>
            </a:r>
            <a:endParaRPr lang="en-US" sz="1750" dirty="0"/>
          </a:p>
        </p:txBody>
      </p:sp>
      <p:sp>
        <p:nvSpPr>
          <p:cNvPr id="13" name="Shape 9"/>
          <p:cNvSpPr/>
          <p:nvPr/>
        </p:nvSpPr>
        <p:spPr>
          <a:xfrm>
            <a:off x="9640133" y="2664619"/>
            <a:ext cx="4196358" cy="2940010"/>
          </a:xfrm>
          <a:prstGeom prst="roundRect">
            <a:avLst>
              <a:gd name="adj" fmla="val 1157"/>
            </a:avLst>
          </a:prstGeom>
          <a:solidFill>
            <a:srgbClr val="3F4652"/>
          </a:solidFill>
          <a:ln/>
        </p:spPr>
      </p:sp>
      <p:sp>
        <p:nvSpPr>
          <p:cNvPr id="14" name="Shape 10"/>
          <p:cNvSpPr/>
          <p:nvPr/>
        </p:nvSpPr>
        <p:spPr>
          <a:xfrm>
            <a:off x="9866948" y="2891433"/>
            <a:ext cx="680442" cy="680442"/>
          </a:xfrm>
          <a:prstGeom prst="roundRect">
            <a:avLst>
              <a:gd name="adj" fmla="val 13436980"/>
            </a:avLst>
          </a:prstGeom>
          <a:solidFill>
            <a:srgbClr val="66A8EE"/>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54114" y="3078480"/>
            <a:ext cx="306110" cy="306110"/>
          </a:xfrm>
          <a:prstGeom prst="rect">
            <a:avLst/>
          </a:prstGeom>
        </p:spPr>
      </p:pic>
      <p:sp>
        <p:nvSpPr>
          <p:cNvPr id="16" name="Text 11"/>
          <p:cNvSpPr/>
          <p:nvPr/>
        </p:nvSpPr>
        <p:spPr>
          <a:xfrm>
            <a:off x="9866948" y="3798689"/>
            <a:ext cx="2835593"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Seamless Experience</a:t>
            </a:r>
            <a:endParaRPr lang="en-US" sz="2200" dirty="0"/>
          </a:p>
        </p:txBody>
      </p:sp>
      <p:sp>
        <p:nvSpPr>
          <p:cNvPr id="17" name="Text 12"/>
          <p:cNvSpPr/>
          <p:nvPr/>
        </p:nvSpPr>
        <p:spPr>
          <a:xfrm>
            <a:off x="9866948" y="4289108"/>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Deliver emotion-synced recommendations through an intuitive interface</a:t>
            </a:r>
            <a:endParaRPr lang="en-US" sz="1750" dirty="0"/>
          </a:p>
        </p:txBody>
      </p:sp>
      <p:sp>
        <p:nvSpPr>
          <p:cNvPr id="18" name="Text 13"/>
          <p:cNvSpPr/>
          <p:nvPr/>
        </p:nvSpPr>
        <p:spPr>
          <a:xfrm>
            <a:off x="793790" y="585978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The system processes facial expressions to classify emotions across seven categories: Angry, Disgust, Fear, Happy, Neutral, Sad, and Surprise—each triggering a unique musical response tailored to enhance or balance the user's current emotional state.</a:t>
            </a:r>
            <a:endParaRPr lang="en-US" sz="1750" dirty="0"/>
          </a:p>
        </p:txBody>
      </p:sp>
      <p:pic>
        <p:nvPicPr>
          <p:cNvPr id="20" name="Picture 19">
            <a:extLst>
              <a:ext uri="{FF2B5EF4-FFF2-40B4-BE49-F238E27FC236}">
                <a16:creationId xmlns:a16="http://schemas.microsoft.com/office/drawing/2014/main" id="{95878EC5-CC9C-7B7B-0FA3-60ABF23E13BD}"/>
              </a:ext>
            </a:extLst>
          </p:cNvPr>
          <p:cNvPicPr>
            <a:picLocks noChangeAspect="1"/>
          </p:cNvPicPr>
          <p:nvPr/>
        </p:nvPicPr>
        <p:blipFill>
          <a:blip r:embed="rId9"/>
          <a:stretch>
            <a:fillRect/>
          </a:stretch>
        </p:blipFill>
        <p:spPr>
          <a:xfrm>
            <a:off x="12402344" y="7801808"/>
            <a:ext cx="2141406" cy="3200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2577"/>
          </a:xfrm>
          <a:prstGeom prst="rect">
            <a:avLst/>
          </a:prstGeom>
        </p:spPr>
      </p:pic>
      <p:sp>
        <p:nvSpPr>
          <p:cNvPr id="3" name="Text 0"/>
          <p:cNvSpPr/>
          <p:nvPr/>
        </p:nvSpPr>
        <p:spPr>
          <a:xfrm>
            <a:off x="771049" y="605790"/>
            <a:ext cx="4405908" cy="550783"/>
          </a:xfrm>
          <a:prstGeom prst="rect">
            <a:avLst/>
          </a:prstGeom>
          <a:noFill/>
          <a:ln/>
        </p:spPr>
        <p:txBody>
          <a:bodyPr wrap="none" lIns="0" tIns="0" rIns="0" bIns="0" rtlCol="0" anchor="t"/>
          <a:lstStyle/>
          <a:p>
            <a:pPr marL="0" indent="0" algn="l">
              <a:lnSpc>
                <a:spcPts val="4300"/>
              </a:lnSpc>
              <a:buNone/>
            </a:pPr>
            <a:r>
              <a:rPr lang="en-US" sz="3450" dirty="0">
                <a:solidFill>
                  <a:srgbClr val="76B9FF"/>
                </a:solidFill>
                <a:latin typeface="Roboto Slab" pitchFamily="34" charset="0"/>
                <a:ea typeface="Roboto Slab" pitchFamily="34" charset="-122"/>
                <a:cs typeface="Roboto Slab" pitchFamily="34" charset="-120"/>
              </a:rPr>
              <a:t>Dataset Architecture</a:t>
            </a:r>
            <a:endParaRPr lang="en-US" sz="3450" dirty="0"/>
          </a:p>
        </p:txBody>
      </p:sp>
      <p:sp>
        <p:nvSpPr>
          <p:cNvPr id="4" name="Text 1"/>
          <p:cNvSpPr/>
          <p:nvPr/>
        </p:nvSpPr>
        <p:spPr>
          <a:xfrm>
            <a:off x="771049" y="1707237"/>
            <a:ext cx="3532227" cy="688419"/>
          </a:xfrm>
          <a:prstGeom prst="rect">
            <a:avLst/>
          </a:prstGeom>
          <a:noFill/>
          <a:ln/>
        </p:spPr>
        <p:txBody>
          <a:bodyPr wrap="square" lIns="0" tIns="0" rIns="0" bIns="0" rtlCol="0" anchor="t"/>
          <a:lstStyle/>
          <a:p>
            <a:pPr marL="0" indent="0" algn="l">
              <a:lnSpc>
                <a:spcPts val="2700"/>
              </a:lnSpc>
              <a:buNone/>
            </a:pPr>
            <a:r>
              <a:rPr lang="en-US" sz="2150" dirty="0">
                <a:solidFill>
                  <a:srgbClr val="76B9FF"/>
                </a:solidFill>
                <a:latin typeface="Roboto Slab" pitchFamily="34" charset="0"/>
                <a:ea typeface="Roboto Slab" pitchFamily="34" charset="-122"/>
                <a:cs typeface="Roboto Slab" pitchFamily="34" charset="-120"/>
              </a:rPr>
              <a:t>Music Metadata Integration</a:t>
            </a:r>
            <a:endParaRPr lang="en-US" sz="2150" dirty="0"/>
          </a:p>
        </p:txBody>
      </p:sp>
      <p:sp>
        <p:nvSpPr>
          <p:cNvPr id="5" name="Text 2"/>
          <p:cNvSpPr/>
          <p:nvPr/>
        </p:nvSpPr>
        <p:spPr>
          <a:xfrm>
            <a:off x="771049" y="2615922"/>
            <a:ext cx="3532227" cy="2466975"/>
          </a:xfrm>
          <a:prstGeom prst="rect">
            <a:avLst/>
          </a:prstGeom>
          <a:noFill/>
          <a:ln/>
        </p:spPr>
        <p:txBody>
          <a:bodyPr wrap="square" lIns="0" tIns="0" rIns="0" bIns="0" rtlCol="0" anchor="t"/>
          <a:lstStyle/>
          <a:p>
            <a:pPr marL="0" indent="0" algn="l">
              <a:lnSpc>
                <a:spcPts val="2750"/>
              </a:lnSpc>
              <a:buNone/>
            </a:pPr>
            <a:r>
              <a:rPr lang="en-US" sz="1700" dirty="0">
                <a:solidFill>
                  <a:srgbClr val="D6E5EF"/>
                </a:solidFill>
                <a:latin typeface="Roboto" pitchFamily="34" charset="0"/>
                <a:ea typeface="Roboto" pitchFamily="34" charset="-122"/>
                <a:cs typeface="Roboto" pitchFamily="34" charset="-120"/>
              </a:rPr>
              <a:t>Our foundation leverages the Last.fm and Million Song Dataset (MSD), providing comprehensive track metadata including artist information, song titles, genre classifications, and crucially—emotional tagging data.</a:t>
            </a:r>
            <a:endParaRPr lang="en-US" sz="1700" dirty="0"/>
          </a:p>
        </p:txBody>
      </p:sp>
      <p:sp>
        <p:nvSpPr>
          <p:cNvPr id="6" name="Text 3"/>
          <p:cNvSpPr/>
          <p:nvPr/>
        </p:nvSpPr>
        <p:spPr>
          <a:xfrm>
            <a:off x="771049" y="5281136"/>
            <a:ext cx="3532227" cy="704850"/>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D6E5EF"/>
                </a:solidFill>
                <a:latin typeface="Roboto" pitchFamily="34" charset="0"/>
                <a:ea typeface="Roboto" pitchFamily="34" charset="-122"/>
                <a:cs typeface="Roboto" pitchFamily="34" charset="-120"/>
              </a:rPr>
              <a:t>Over 1M+ tracks with emotional annotations</a:t>
            </a:r>
            <a:endParaRPr lang="en-US" sz="1700" dirty="0"/>
          </a:p>
        </p:txBody>
      </p:sp>
      <p:sp>
        <p:nvSpPr>
          <p:cNvPr id="7" name="Text 4"/>
          <p:cNvSpPr/>
          <p:nvPr/>
        </p:nvSpPr>
        <p:spPr>
          <a:xfrm>
            <a:off x="771049" y="6063020"/>
            <a:ext cx="3532227" cy="704850"/>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D6E5EF"/>
                </a:solidFill>
                <a:latin typeface="Roboto" pitchFamily="34" charset="0"/>
                <a:ea typeface="Roboto" pitchFamily="34" charset="-122"/>
                <a:cs typeface="Roboto" pitchFamily="34" charset="-120"/>
              </a:rPr>
              <a:t>Multi-dimensional tagging system</a:t>
            </a:r>
            <a:endParaRPr lang="en-US" sz="1700" dirty="0"/>
          </a:p>
        </p:txBody>
      </p:sp>
      <p:sp>
        <p:nvSpPr>
          <p:cNvPr id="8" name="Text 5"/>
          <p:cNvSpPr/>
          <p:nvPr/>
        </p:nvSpPr>
        <p:spPr>
          <a:xfrm>
            <a:off x="771049" y="6844903"/>
            <a:ext cx="3532227" cy="704850"/>
          </a:xfrm>
          <a:prstGeom prst="rect">
            <a:avLst/>
          </a:prstGeom>
          <a:noFill/>
          <a:ln/>
        </p:spPr>
        <p:txBody>
          <a:bodyPr wrap="square" lIns="0" tIns="0" rIns="0" bIns="0" rtlCol="0" anchor="t"/>
          <a:lstStyle/>
          <a:p>
            <a:pPr marL="342900" indent="-342900" algn="l">
              <a:lnSpc>
                <a:spcPts val="2750"/>
              </a:lnSpc>
              <a:buSzPct val="100000"/>
              <a:buChar char="•"/>
            </a:pPr>
            <a:r>
              <a:rPr lang="en-US" sz="1700" dirty="0">
                <a:solidFill>
                  <a:srgbClr val="D6E5EF"/>
                </a:solidFill>
                <a:latin typeface="Roboto" pitchFamily="34" charset="0"/>
                <a:ea typeface="Roboto" pitchFamily="34" charset="-122"/>
                <a:cs typeface="Roboto" pitchFamily="34" charset="-120"/>
              </a:rPr>
              <a:t>Cross-referenced artist and genre data</a:t>
            </a:r>
            <a:endParaRPr lang="en-US" sz="1700" dirty="0"/>
          </a:p>
        </p:txBody>
      </p:sp>
      <p:sp>
        <p:nvSpPr>
          <p:cNvPr id="9" name="Text 6"/>
          <p:cNvSpPr/>
          <p:nvPr/>
        </p:nvSpPr>
        <p:spPr>
          <a:xfrm>
            <a:off x="4848344" y="1707237"/>
            <a:ext cx="3114913" cy="344210"/>
          </a:xfrm>
          <a:prstGeom prst="rect">
            <a:avLst/>
          </a:prstGeom>
          <a:noFill/>
          <a:ln/>
        </p:spPr>
        <p:txBody>
          <a:bodyPr wrap="none" lIns="0" tIns="0" rIns="0" bIns="0" rtlCol="0" anchor="t"/>
          <a:lstStyle/>
          <a:p>
            <a:pPr marL="0" indent="0" algn="l">
              <a:lnSpc>
                <a:spcPts val="2700"/>
              </a:lnSpc>
              <a:buNone/>
            </a:pPr>
            <a:r>
              <a:rPr lang="en-US" sz="2150" dirty="0">
                <a:solidFill>
                  <a:srgbClr val="76B9FF"/>
                </a:solidFill>
                <a:latin typeface="Roboto Slab" pitchFamily="34" charset="0"/>
                <a:ea typeface="Roboto Slab" pitchFamily="34" charset="-122"/>
                <a:cs typeface="Roboto Slab" pitchFamily="34" charset="-120"/>
              </a:rPr>
              <a:t>Emotion Mapping Logic</a:t>
            </a:r>
            <a:endParaRPr lang="en-US" sz="2150" dirty="0"/>
          </a:p>
        </p:txBody>
      </p:sp>
      <p:sp>
        <p:nvSpPr>
          <p:cNvPr id="10" name="Text 7"/>
          <p:cNvSpPr/>
          <p:nvPr/>
        </p:nvSpPr>
        <p:spPr>
          <a:xfrm>
            <a:off x="4848344" y="2271713"/>
            <a:ext cx="3532227" cy="2466975"/>
          </a:xfrm>
          <a:prstGeom prst="rect">
            <a:avLst/>
          </a:prstGeom>
          <a:noFill/>
          <a:ln/>
        </p:spPr>
        <p:txBody>
          <a:bodyPr wrap="square" lIns="0" tIns="0" rIns="0" bIns="0" rtlCol="0" anchor="t"/>
          <a:lstStyle/>
          <a:p>
            <a:pPr marL="0" indent="0" algn="l">
              <a:lnSpc>
                <a:spcPts val="2750"/>
              </a:lnSpc>
              <a:buNone/>
            </a:pPr>
            <a:r>
              <a:rPr lang="en-US" sz="1700" dirty="0">
                <a:solidFill>
                  <a:srgbClr val="D6E5EF"/>
                </a:solidFill>
                <a:latin typeface="Roboto" pitchFamily="34" charset="0"/>
                <a:ea typeface="Roboto" pitchFamily="34" charset="-122"/>
                <a:cs typeface="Roboto" pitchFamily="34" charset="-120"/>
              </a:rPr>
              <a:t>Each of the seven emotion classes is mapped to specific musical attributes: valence, energy, tempo, and mode. This creates a sophisticated recommendation engine that goes beyond simple genre matching.</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793790" y="890349"/>
            <a:ext cx="1605796" cy="441484"/>
          </a:xfrm>
          <a:prstGeom prst="roundRect">
            <a:avLst>
              <a:gd name="adj" fmla="val 6165"/>
            </a:avLst>
          </a:prstGeom>
          <a:noFill/>
          <a:ln w="7620">
            <a:solidFill>
              <a:srgbClr val="66A8EE"/>
            </a:solidFill>
            <a:prstDash val="solid"/>
          </a:ln>
        </p:spPr>
      </p:sp>
      <p:sp>
        <p:nvSpPr>
          <p:cNvPr id="4" name="Text 1"/>
          <p:cNvSpPr/>
          <p:nvPr/>
        </p:nvSpPr>
        <p:spPr>
          <a:xfrm>
            <a:off x="937498" y="965954"/>
            <a:ext cx="1318379" cy="290274"/>
          </a:xfrm>
          <a:prstGeom prst="rect">
            <a:avLst/>
          </a:prstGeom>
          <a:noFill/>
          <a:ln/>
        </p:spPr>
        <p:txBody>
          <a:bodyPr wrap="none" lIns="0" tIns="0" rIns="0" bIns="0" rtlCol="0" anchor="t"/>
          <a:lstStyle/>
          <a:p>
            <a:pPr marL="0" indent="0" algn="l">
              <a:lnSpc>
                <a:spcPts val="2250"/>
              </a:lnSpc>
              <a:buNone/>
            </a:pPr>
            <a:r>
              <a:rPr lang="en-US" sz="1400" dirty="0">
                <a:solidFill>
                  <a:srgbClr val="66A8EE"/>
                </a:solidFill>
                <a:latin typeface="Roboto" pitchFamily="34" charset="0"/>
                <a:ea typeface="Roboto" pitchFamily="34" charset="-122"/>
                <a:cs typeface="Roboto" pitchFamily="34" charset="-120"/>
              </a:rPr>
              <a:t>METHODOLOGY</a:t>
            </a:r>
            <a:endParaRPr lang="en-US" sz="1400" dirty="0"/>
          </a:p>
        </p:txBody>
      </p:sp>
      <p:sp>
        <p:nvSpPr>
          <p:cNvPr id="5" name="Text 2"/>
          <p:cNvSpPr/>
          <p:nvPr/>
        </p:nvSpPr>
        <p:spPr>
          <a:xfrm>
            <a:off x="793790" y="1422559"/>
            <a:ext cx="4962525" cy="566976"/>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Data Ingestion Pipeline</a:t>
            </a:r>
            <a:endParaRPr lang="en-US" sz="3550" dirty="0"/>
          </a:p>
        </p:txBody>
      </p:sp>
      <p:pic>
        <p:nvPicPr>
          <p:cNvPr id="6" name="Image 1" descr="preencoded.png"/>
          <p:cNvPicPr>
            <a:picLocks noChangeAspect="1"/>
          </p:cNvPicPr>
          <p:nvPr/>
        </p:nvPicPr>
        <p:blipFill>
          <a:blip r:embed="rId4"/>
          <a:stretch>
            <a:fillRect/>
          </a:stretch>
        </p:blipFill>
        <p:spPr>
          <a:xfrm>
            <a:off x="793790" y="2329696"/>
            <a:ext cx="1134070" cy="1669852"/>
          </a:xfrm>
          <a:prstGeom prst="rect">
            <a:avLst/>
          </a:prstGeom>
        </p:spPr>
      </p:pic>
      <p:sp>
        <p:nvSpPr>
          <p:cNvPr id="7" name="Text 3"/>
          <p:cNvSpPr/>
          <p:nvPr/>
        </p:nvSpPr>
        <p:spPr>
          <a:xfrm>
            <a:off x="2154674" y="25565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Stream Capture</a:t>
            </a:r>
            <a:endParaRPr lang="en-US" sz="2200" dirty="0"/>
          </a:p>
        </p:txBody>
      </p:sp>
      <p:sp>
        <p:nvSpPr>
          <p:cNvPr id="8" name="Text 4"/>
          <p:cNvSpPr/>
          <p:nvPr/>
        </p:nvSpPr>
        <p:spPr>
          <a:xfrm>
            <a:off x="2154674" y="3046928"/>
            <a:ext cx="6195536"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OpenCV acquires real-time video at 30 FPS from webcam or external sources</a:t>
            </a:r>
            <a:endParaRPr lang="en-US" sz="1750" dirty="0"/>
          </a:p>
        </p:txBody>
      </p:sp>
      <p:pic>
        <p:nvPicPr>
          <p:cNvPr id="9" name="Image 2" descr="preencoded.png"/>
          <p:cNvPicPr>
            <a:picLocks noChangeAspect="1"/>
          </p:cNvPicPr>
          <p:nvPr/>
        </p:nvPicPr>
        <p:blipFill>
          <a:blip r:embed="rId5"/>
          <a:stretch>
            <a:fillRect/>
          </a:stretch>
        </p:blipFill>
        <p:spPr>
          <a:xfrm>
            <a:off x="793790" y="3999548"/>
            <a:ext cx="1134070" cy="1669852"/>
          </a:xfrm>
          <a:prstGeom prst="rect">
            <a:avLst/>
          </a:prstGeom>
        </p:spPr>
      </p:pic>
      <p:sp>
        <p:nvSpPr>
          <p:cNvPr id="10" name="Text 5"/>
          <p:cNvSpPr/>
          <p:nvPr/>
        </p:nvSpPr>
        <p:spPr>
          <a:xfrm>
            <a:off x="2154674" y="422636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Face Detection</a:t>
            </a:r>
            <a:endParaRPr lang="en-US" sz="2200" dirty="0"/>
          </a:p>
        </p:txBody>
      </p:sp>
      <p:sp>
        <p:nvSpPr>
          <p:cNvPr id="11" name="Text 6"/>
          <p:cNvSpPr/>
          <p:nvPr/>
        </p:nvSpPr>
        <p:spPr>
          <a:xfrm>
            <a:off x="2154674" y="4716780"/>
            <a:ext cx="6195536"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Haar Cascade classifier localizes facial regions with sub-100ms latency</a:t>
            </a:r>
            <a:endParaRPr lang="en-US" sz="1750" dirty="0"/>
          </a:p>
        </p:txBody>
      </p:sp>
      <p:pic>
        <p:nvPicPr>
          <p:cNvPr id="12" name="Image 3" descr="preencoded.png"/>
          <p:cNvPicPr>
            <a:picLocks noChangeAspect="1"/>
          </p:cNvPicPr>
          <p:nvPr/>
        </p:nvPicPr>
        <p:blipFill>
          <a:blip r:embed="rId6"/>
          <a:stretch>
            <a:fillRect/>
          </a:stretch>
        </p:blipFill>
        <p:spPr>
          <a:xfrm>
            <a:off x="793790" y="5669399"/>
            <a:ext cx="1134070" cy="1669852"/>
          </a:xfrm>
          <a:prstGeom prst="rect">
            <a:avLst/>
          </a:prstGeom>
        </p:spPr>
      </p:pic>
      <p:sp>
        <p:nvSpPr>
          <p:cNvPr id="13" name="Text 7"/>
          <p:cNvSpPr/>
          <p:nvPr/>
        </p:nvSpPr>
        <p:spPr>
          <a:xfrm>
            <a:off x="2154674" y="589621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Roboto Slab" pitchFamily="34" charset="0"/>
                <a:ea typeface="Roboto Slab" pitchFamily="34" charset="-122"/>
                <a:cs typeface="Roboto Slab" pitchFamily="34" charset="-120"/>
              </a:rPr>
              <a:t>ROI Extraction</a:t>
            </a:r>
            <a:endParaRPr lang="en-US" sz="2200" dirty="0"/>
          </a:p>
        </p:txBody>
      </p:sp>
      <p:sp>
        <p:nvSpPr>
          <p:cNvPr id="14" name="Text 8"/>
          <p:cNvSpPr/>
          <p:nvPr/>
        </p:nvSpPr>
        <p:spPr>
          <a:xfrm>
            <a:off x="2154674" y="6386632"/>
            <a:ext cx="6195536" cy="72580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Isolated facial regions are cropped and normalized to 48x48 pixel frames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531507" y="415885"/>
            <a:ext cx="3990975" cy="378143"/>
          </a:xfrm>
          <a:prstGeom prst="rect">
            <a:avLst/>
          </a:prstGeom>
          <a:noFill/>
          <a:ln/>
        </p:spPr>
        <p:txBody>
          <a:bodyPr wrap="none" lIns="0" tIns="0" rIns="0" bIns="0" rtlCol="0" anchor="t"/>
          <a:lstStyle/>
          <a:p>
            <a:pPr marL="0" indent="0" algn="l">
              <a:lnSpc>
                <a:spcPts val="2950"/>
              </a:lnSpc>
              <a:buNone/>
            </a:pPr>
            <a:r>
              <a:rPr lang="en-US" sz="2350" dirty="0">
                <a:solidFill>
                  <a:srgbClr val="76B9FF"/>
                </a:solidFill>
                <a:latin typeface="Roboto Slab" pitchFamily="34" charset="0"/>
                <a:ea typeface="Roboto Slab" pitchFamily="34" charset="-122"/>
                <a:cs typeface="Roboto Slab" pitchFamily="34" charset="-120"/>
              </a:rPr>
              <a:t>Data Preprocessing Pipeline</a:t>
            </a:r>
            <a:endParaRPr lang="en-US" sz="2350" dirty="0"/>
          </a:p>
        </p:txBody>
      </p:sp>
      <p:sp>
        <p:nvSpPr>
          <p:cNvPr id="3" name="Text 1"/>
          <p:cNvSpPr/>
          <p:nvPr/>
        </p:nvSpPr>
        <p:spPr>
          <a:xfrm>
            <a:off x="2531507" y="1190982"/>
            <a:ext cx="151209" cy="189071"/>
          </a:xfrm>
          <a:prstGeom prst="rect">
            <a:avLst/>
          </a:prstGeom>
          <a:noFill/>
          <a:ln/>
        </p:spPr>
        <p:txBody>
          <a:bodyPr wrap="none" lIns="0" tIns="0" rIns="0" bIns="0" rtlCol="0" anchor="t"/>
          <a:lstStyle/>
          <a:p>
            <a:pPr marL="0" indent="0" algn="l">
              <a:lnSpc>
                <a:spcPts val="1900"/>
              </a:lnSpc>
              <a:buNone/>
            </a:pPr>
            <a:r>
              <a:rPr lang="en-US" sz="1150" dirty="0">
                <a:solidFill>
                  <a:srgbClr val="D6E5EF"/>
                </a:solidFill>
                <a:latin typeface="Roboto Slab Light" pitchFamily="34" charset="0"/>
                <a:ea typeface="Roboto Slab Light" pitchFamily="34" charset="-122"/>
                <a:cs typeface="Roboto Slab Light" pitchFamily="34" charset="-120"/>
              </a:rPr>
              <a:t>01</a:t>
            </a:r>
            <a:endParaRPr lang="en-US" sz="1150" dirty="0"/>
          </a:p>
        </p:txBody>
      </p:sp>
      <p:pic>
        <p:nvPicPr>
          <p:cNvPr id="4" name="Image 0" descr="preencoded.png"/>
          <p:cNvPicPr>
            <a:picLocks noChangeAspect="1"/>
          </p:cNvPicPr>
          <p:nvPr/>
        </p:nvPicPr>
        <p:blipFill>
          <a:blip r:embed="rId3"/>
          <a:stretch>
            <a:fillRect/>
          </a:stretch>
        </p:blipFill>
        <p:spPr>
          <a:xfrm>
            <a:off x="2531507" y="1432798"/>
            <a:ext cx="3605570" cy="15240"/>
          </a:xfrm>
          <a:prstGeom prst="rect">
            <a:avLst/>
          </a:prstGeom>
        </p:spPr>
      </p:pic>
      <p:sp>
        <p:nvSpPr>
          <p:cNvPr id="5" name="Text 2"/>
          <p:cNvSpPr/>
          <p:nvPr/>
        </p:nvSpPr>
        <p:spPr>
          <a:xfrm>
            <a:off x="2531507" y="1538883"/>
            <a:ext cx="1918930" cy="236339"/>
          </a:xfrm>
          <a:prstGeom prst="rect">
            <a:avLst/>
          </a:prstGeom>
          <a:noFill/>
          <a:ln/>
        </p:spPr>
        <p:txBody>
          <a:bodyPr wrap="none" lIns="0" tIns="0" rIns="0" bIns="0" rtlCol="0" anchor="t"/>
          <a:lstStyle/>
          <a:p>
            <a:pPr marL="0" indent="0" algn="l">
              <a:lnSpc>
                <a:spcPts val="1850"/>
              </a:lnSpc>
              <a:buNone/>
            </a:pPr>
            <a:r>
              <a:rPr lang="en-US" sz="1450" dirty="0">
                <a:solidFill>
                  <a:srgbClr val="D6E5EF"/>
                </a:solidFill>
                <a:latin typeface="Roboto Slab" pitchFamily="34" charset="0"/>
                <a:ea typeface="Roboto Slab" pitchFamily="34" charset="-122"/>
                <a:cs typeface="Roboto Slab" pitchFamily="34" charset="-120"/>
              </a:rPr>
              <a:t>Grayscale Conversion</a:t>
            </a:r>
            <a:endParaRPr lang="en-US" sz="1450" dirty="0"/>
          </a:p>
        </p:txBody>
      </p:sp>
      <p:sp>
        <p:nvSpPr>
          <p:cNvPr id="6" name="Text 3"/>
          <p:cNvSpPr/>
          <p:nvPr/>
        </p:nvSpPr>
        <p:spPr>
          <a:xfrm>
            <a:off x="2531507" y="1926431"/>
            <a:ext cx="3605570" cy="483870"/>
          </a:xfrm>
          <a:prstGeom prst="rect">
            <a:avLst/>
          </a:prstGeom>
          <a:noFill/>
          <a:ln/>
        </p:spPr>
        <p:txBody>
          <a:bodyPr wrap="square" lIns="0" tIns="0" rIns="0" bIns="0" rtlCol="0" anchor="t"/>
          <a:lstStyle/>
          <a:p>
            <a:pPr marL="0" indent="0" algn="l">
              <a:lnSpc>
                <a:spcPts val="1900"/>
              </a:lnSpc>
              <a:buNone/>
            </a:pPr>
            <a:r>
              <a:rPr lang="en-US" sz="1150" dirty="0">
                <a:solidFill>
                  <a:srgbClr val="D6E5EF"/>
                </a:solidFill>
                <a:latin typeface="Roboto" pitchFamily="34" charset="0"/>
                <a:ea typeface="Roboto" pitchFamily="34" charset="-122"/>
                <a:cs typeface="Roboto" pitchFamily="34" charset="-120"/>
              </a:rPr>
              <a:t>Reduce dimensionality while preserving structural features</a:t>
            </a:r>
            <a:endParaRPr lang="en-US" sz="1150" dirty="0"/>
          </a:p>
        </p:txBody>
      </p:sp>
      <p:sp>
        <p:nvSpPr>
          <p:cNvPr id="7" name="Text 4"/>
          <p:cNvSpPr/>
          <p:nvPr/>
        </p:nvSpPr>
        <p:spPr>
          <a:xfrm>
            <a:off x="2531507" y="2674858"/>
            <a:ext cx="151209" cy="189071"/>
          </a:xfrm>
          <a:prstGeom prst="rect">
            <a:avLst/>
          </a:prstGeom>
          <a:noFill/>
          <a:ln/>
        </p:spPr>
        <p:txBody>
          <a:bodyPr wrap="none" lIns="0" tIns="0" rIns="0" bIns="0" rtlCol="0" anchor="t"/>
          <a:lstStyle/>
          <a:p>
            <a:pPr marL="0" indent="0" algn="l">
              <a:lnSpc>
                <a:spcPts val="1900"/>
              </a:lnSpc>
              <a:buNone/>
            </a:pPr>
            <a:r>
              <a:rPr lang="en-US" sz="1150" dirty="0">
                <a:solidFill>
                  <a:srgbClr val="D6E5EF"/>
                </a:solidFill>
                <a:latin typeface="Roboto Slab Light" pitchFamily="34" charset="0"/>
                <a:ea typeface="Roboto Slab Light" pitchFamily="34" charset="-122"/>
                <a:cs typeface="Roboto Slab Light" pitchFamily="34" charset="-120"/>
              </a:rPr>
              <a:t>02</a:t>
            </a:r>
            <a:endParaRPr lang="en-US" sz="1150" dirty="0"/>
          </a:p>
        </p:txBody>
      </p:sp>
      <p:pic>
        <p:nvPicPr>
          <p:cNvPr id="8" name="Image 1" descr="preencoded.png"/>
          <p:cNvPicPr>
            <a:picLocks noChangeAspect="1"/>
          </p:cNvPicPr>
          <p:nvPr/>
        </p:nvPicPr>
        <p:blipFill>
          <a:blip r:embed="rId3"/>
          <a:stretch>
            <a:fillRect/>
          </a:stretch>
        </p:blipFill>
        <p:spPr>
          <a:xfrm>
            <a:off x="2531507" y="2886432"/>
            <a:ext cx="3605570" cy="15240"/>
          </a:xfrm>
          <a:prstGeom prst="rect">
            <a:avLst/>
          </a:prstGeom>
        </p:spPr>
      </p:pic>
      <p:sp>
        <p:nvSpPr>
          <p:cNvPr id="9" name="Text 5"/>
          <p:cNvSpPr/>
          <p:nvPr/>
        </p:nvSpPr>
        <p:spPr>
          <a:xfrm>
            <a:off x="2531507" y="3022759"/>
            <a:ext cx="2110145" cy="236339"/>
          </a:xfrm>
          <a:prstGeom prst="rect">
            <a:avLst/>
          </a:prstGeom>
          <a:noFill/>
          <a:ln/>
        </p:spPr>
        <p:txBody>
          <a:bodyPr wrap="none" lIns="0" tIns="0" rIns="0" bIns="0" rtlCol="0" anchor="t"/>
          <a:lstStyle/>
          <a:p>
            <a:pPr marL="0" indent="0" algn="l">
              <a:lnSpc>
                <a:spcPts val="1850"/>
              </a:lnSpc>
              <a:buNone/>
            </a:pPr>
            <a:r>
              <a:rPr lang="en-US" sz="1450" dirty="0">
                <a:solidFill>
                  <a:srgbClr val="D6E5EF"/>
                </a:solidFill>
                <a:latin typeface="Roboto Slab" pitchFamily="34" charset="0"/>
                <a:ea typeface="Roboto Slab" pitchFamily="34" charset="-122"/>
                <a:cs typeface="Roboto Slab" pitchFamily="34" charset="-120"/>
              </a:rPr>
              <a:t>Histogram Equalization</a:t>
            </a:r>
            <a:endParaRPr lang="en-US" sz="1450" dirty="0"/>
          </a:p>
        </p:txBody>
      </p:sp>
      <p:sp>
        <p:nvSpPr>
          <p:cNvPr id="10" name="Text 6"/>
          <p:cNvSpPr/>
          <p:nvPr/>
        </p:nvSpPr>
        <p:spPr>
          <a:xfrm>
            <a:off x="2531507" y="3410307"/>
            <a:ext cx="3605570" cy="483870"/>
          </a:xfrm>
          <a:prstGeom prst="rect">
            <a:avLst/>
          </a:prstGeom>
          <a:noFill/>
          <a:ln/>
        </p:spPr>
        <p:txBody>
          <a:bodyPr wrap="square" lIns="0" tIns="0" rIns="0" bIns="0" rtlCol="0" anchor="t"/>
          <a:lstStyle/>
          <a:p>
            <a:pPr marL="0" indent="0" algn="l">
              <a:lnSpc>
                <a:spcPts val="1900"/>
              </a:lnSpc>
              <a:buNone/>
            </a:pPr>
            <a:r>
              <a:rPr lang="en-US" sz="1150" dirty="0">
                <a:solidFill>
                  <a:srgbClr val="D6E5EF"/>
                </a:solidFill>
                <a:latin typeface="Roboto" pitchFamily="34" charset="0"/>
                <a:ea typeface="Roboto" pitchFamily="34" charset="-122"/>
                <a:cs typeface="Roboto" pitchFamily="34" charset="-120"/>
              </a:rPr>
              <a:t>Normalize lighting variations across diverse environments</a:t>
            </a:r>
            <a:endParaRPr lang="en-US" sz="1150" dirty="0"/>
          </a:p>
        </p:txBody>
      </p:sp>
      <p:sp>
        <p:nvSpPr>
          <p:cNvPr id="11" name="Text 7"/>
          <p:cNvSpPr/>
          <p:nvPr/>
        </p:nvSpPr>
        <p:spPr>
          <a:xfrm>
            <a:off x="2531507" y="4158734"/>
            <a:ext cx="151209" cy="189071"/>
          </a:xfrm>
          <a:prstGeom prst="rect">
            <a:avLst/>
          </a:prstGeom>
          <a:noFill/>
          <a:ln/>
        </p:spPr>
        <p:txBody>
          <a:bodyPr wrap="none" lIns="0" tIns="0" rIns="0" bIns="0" rtlCol="0" anchor="t"/>
          <a:lstStyle/>
          <a:p>
            <a:pPr marL="0" indent="0" algn="l">
              <a:lnSpc>
                <a:spcPts val="1900"/>
              </a:lnSpc>
              <a:buNone/>
            </a:pPr>
            <a:r>
              <a:rPr lang="en-US" sz="1150" dirty="0">
                <a:solidFill>
                  <a:srgbClr val="D6E5EF"/>
                </a:solidFill>
                <a:latin typeface="Roboto Slab Light" pitchFamily="34" charset="0"/>
                <a:ea typeface="Roboto Slab Light" pitchFamily="34" charset="-122"/>
                <a:cs typeface="Roboto Slab Light" pitchFamily="34" charset="-120"/>
              </a:rPr>
              <a:t>03</a:t>
            </a:r>
            <a:endParaRPr lang="en-US" sz="1150" dirty="0"/>
          </a:p>
        </p:txBody>
      </p:sp>
      <p:pic>
        <p:nvPicPr>
          <p:cNvPr id="12" name="Image 2" descr="preencoded.png"/>
          <p:cNvPicPr>
            <a:picLocks noChangeAspect="1"/>
          </p:cNvPicPr>
          <p:nvPr/>
        </p:nvPicPr>
        <p:blipFill>
          <a:blip r:embed="rId3"/>
          <a:stretch>
            <a:fillRect/>
          </a:stretch>
        </p:blipFill>
        <p:spPr>
          <a:xfrm>
            <a:off x="2531507" y="4340066"/>
            <a:ext cx="3605570" cy="15240"/>
          </a:xfrm>
          <a:prstGeom prst="rect">
            <a:avLst/>
          </a:prstGeom>
        </p:spPr>
      </p:pic>
      <p:sp>
        <p:nvSpPr>
          <p:cNvPr id="13" name="Text 8"/>
          <p:cNvSpPr/>
          <p:nvPr/>
        </p:nvSpPr>
        <p:spPr>
          <a:xfrm>
            <a:off x="2531507" y="4506635"/>
            <a:ext cx="1890713" cy="236339"/>
          </a:xfrm>
          <a:prstGeom prst="rect">
            <a:avLst/>
          </a:prstGeom>
          <a:noFill/>
          <a:ln/>
        </p:spPr>
        <p:txBody>
          <a:bodyPr wrap="none" lIns="0" tIns="0" rIns="0" bIns="0" rtlCol="0" anchor="t"/>
          <a:lstStyle/>
          <a:p>
            <a:pPr marL="0" indent="0" algn="l">
              <a:lnSpc>
                <a:spcPts val="1850"/>
              </a:lnSpc>
              <a:buNone/>
            </a:pPr>
            <a:r>
              <a:rPr lang="en-US" sz="1450" dirty="0">
                <a:solidFill>
                  <a:srgbClr val="D6E5EF"/>
                </a:solidFill>
                <a:latin typeface="Roboto Slab" pitchFamily="34" charset="0"/>
                <a:ea typeface="Roboto Slab" pitchFamily="34" charset="-122"/>
                <a:cs typeface="Roboto Slab" pitchFamily="34" charset="-120"/>
              </a:rPr>
              <a:t>Pixel Normalization</a:t>
            </a:r>
            <a:endParaRPr lang="en-US" sz="1450" dirty="0"/>
          </a:p>
        </p:txBody>
      </p:sp>
      <p:sp>
        <p:nvSpPr>
          <p:cNvPr id="14" name="Text 9"/>
          <p:cNvSpPr/>
          <p:nvPr/>
        </p:nvSpPr>
        <p:spPr>
          <a:xfrm>
            <a:off x="2531507" y="4894183"/>
            <a:ext cx="3605570" cy="241935"/>
          </a:xfrm>
          <a:prstGeom prst="rect">
            <a:avLst/>
          </a:prstGeom>
          <a:noFill/>
          <a:ln/>
        </p:spPr>
        <p:txBody>
          <a:bodyPr wrap="none" lIns="0" tIns="0" rIns="0" bIns="0" rtlCol="0" anchor="t"/>
          <a:lstStyle/>
          <a:p>
            <a:pPr marL="0" indent="0" algn="l">
              <a:lnSpc>
                <a:spcPts val="1900"/>
              </a:lnSpc>
              <a:buNone/>
            </a:pPr>
            <a:r>
              <a:rPr lang="en-US" sz="1150" dirty="0">
                <a:solidFill>
                  <a:srgbClr val="D6E5EF"/>
                </a:solidFill>
                <a:latin typeface="Roboto" pitchFamily="34" charset="0"/>
                <a:ea typeface="Roboto" pitchFamily="34" charset="-122"/>
                <a:cs typeface="Roboto" pitchFamily="34" charset="-120"/>
              </a:rPr>
              <a:t>Scale values to [0,1] range for optimal CNN input</a:t>
            </a:r>
            <a:endParaRPr lang="en-US" sz="1150" dirty="0"/>
          </a:p>
        </p:txBody>
      </p:sp>
      <p:sp>
        <p:nvSpPr>
          <p:cNvPr id="15" name="Text 10"/>
          <p:cNvSpPr/>
          <p:nvPr/>
        </p:nvSpPr>
        <p:spPr>
          <a:xfrm>
            <a:off x="2531507" y="5400675"/>
            <a:ext cx="151209" cy="189071"/>
          </a:xfrm>
          <a:prstGeom prst="rect">
            <a:avLst/>
          </a:prstGeom>
          <a:noFill/>
          <a:ln/>
        </p:spPr>
        <p:txBody>
          <a:bodyPr wrap="none" lIns="0" tIns="0" rIns="0" bIns="0" rtlCol="0" anchor="t"/>
          <a:lstStyle/>
          <a:p>
            <a:pPr marL="0" indent="0" algn="l">
              <a:lnSpc>
                <a:spcPts val="1900"/>
              </a:lnSpc>
              <a:buNone/>
            </a:pPr>
            <a:r>
              <a:rPr lang="en-US" sz="1150" dirty="0">
                <a:solidFill>
                  <a:srgbClr val="D6E5EF"/>
                </a:solidFill>
                <a:latin typeface="Roboto Slab Light" pitchFamily="34" charset="0"/>
                <a:ea typeface="Roboto Slab Light" pitchFamily="34" charset="-122"/>
                <a:cs typeface="Roboto Slab Light" pitchFamily="34" charset="-120"/>
              </a:rPr>
              <a:t>04</a:t>
            </a:r>
            <a:endParaRPr lang="en-US" sz="1150" dirty="0"/>
          </a:p>
        </p:txBody>
      </p:sp>
      <p:pic>
        <p:nvPicPr>
          <p:cNvPr id="16" name="Image 3" descr="preencoded.png"/>
          <p:cNvPicPr>
            <a:picLocks noChangeAspect="1"/>
          </p:cNvPicPr>
          <p:nvPr/>
        </p:nvPicPr>
        <p:blipFill>
          <a:blip r:embed="rId3"/>
          <a:stretch>
            <a:fillRect/>
          </a:stretch>
        </p:blipFill>
        <p:spPr>
          <a:xfrm>
            <a:off x="2531507" y="5551765"/>
            <a:ext cx="3605570" cy="15240"/>
          </a:xfrm>
          <a:prstGeom prst="rect">
            <a:avLst/>
          </a:prstGeom>
        </p:spPr>
      </p:pic>
      <p:sp>
        <p:nvSpPr>
          <p:cNvPr id="17" name="Text 11"/>
          <p:cNvSpPr/>
          <p:nvPr/>
        </p:nvSpPr>
        <p:spPr>
          <a:xfrm>
            <a:off x="2531507" y="5748576"/>
            <a:ext cx="1890713" cy="236339"/>
          </a:xfrm>
          <a:prstGeom prst="rect">
            <a:avLst/>
          </a:prstGeom>
          <a:noFill/>
          <a:ln/>
        </p:spPr>
        <p:txBody>
          <a:bodyPr wrap="none" lIns="0" tIns="0" rIns="0" bIns="0" rtlCol="0" anchor="t"/>
          <a:lstStyle/>
          <a:p>
            <a:pPr marL="0" indent="0" algn="l">
              <a:lnSpc>
                <a:spcPts val="1850"/>
              </a:lnSpc>
              <a:buNone/>
            </a:pPr>
            <a:r>
              <a:rPr lang="en-US" sz="1450" dirty="0">
                <a:solidFill>
                  <a:srgbClr val="D6E5EF"/>
                </a:solidFill>
                <a:latin typeface="Roboto Slab" pitchFamily="34" charset="0"/>
                <a:ea typeface="Roboto Slab" pitchFamily="34" charset="-122"/>
                <a:cs typeface="Roboto Slab" pitchFamily="34" charset="-120"/>
              </a:rPr>
              <a:t>Tensor Reshaping</a:t>
            </a:r>
            <a:endParaRPr lang="en-US" sz="1450" dirty="0"/>
          </a:p>
        </p:txBody>
      </p:sp>
      <p:sp>
        <p:nvSpPr>
          <p:cNvPr id="18" name="Text 12"/>
          <p:cNvSpPr/>
          <p:nvPr/>
        </p:nvSpPr>
        <p:spPr>
          <a:xfrm>
            <a:off x="2531507" y="6136124"/>
            <a:ext cx="3605570" cy="241935"/>
          </a:xfrm>
          <a:prstGeom prst="rect">
            <a:avLst/>
          </a:prstGeom>
          <a:noFill/>
          <a:ln/>
        </p:spPr>
        <p:txBody>
          <a:bodyPr wrap="none" lIns="0" tIns="0" rIns="0" bIns="0" rtlCol="0" anchor="t"/>
          <a:lstStyle/>
          <a:p>
            <a:pPr marL="0" indent="0" algn="l">
              <a:lnSpc>
                <a:spcPts val="1900"/>
              </a:lnSpc>
              <a:buNone/>
            </a:pPr>
            <a:r>
              <a:rPr lang="en-US" sz="1150" dirty="0">
                <a:solidFill>
                  <a:srgbClr val="D6E5EF"/>
                </a:solidFill>
                <a:latin typeface="Roboto" pitchFamily="34" charset="0"/>
                <a:ea typeface="Roboto" pitchFamily="34" charset="-122"/>
                <a:cs typeface="Roboto" pitchFamily="34" charset="-120"/>
              </a:rPr>
              <a:t>Format to (48, 48, 1) for model ingestion</a:t>
            </a:r>
            <a:endParaRPr lang="en-US" sz="1150" dirty="0"/>
          </a:p>
        </p:txBody>
      </p:sp>
      <p:pic>
        <p:nvPicPr>
          <p:cNvPr id="19" name="Image 4" descr="preencoded.png"/>
          <p:cNvPicPr>
            <a:picLocks noChangeAspect="1"/>
          </p:cNvPicPr>
          <p:nvPr/>
        </p:nvPicPr>
        <p:blipFill>
          <a:blip r:embed="rId4"/>
          <a:stretch>
            <a:fillRect/>
          </a:stretch>
        </p:blipFill>
        <p:spPr>
          <a:xfrm>
            <a:off x="6513552" y="1190982"/>
            <a:ext cx="5592723" cy="5592723"/>
          </a:xfrm>
          <a:prstGeom prst="rect">
            <a:avLst/>
          </a:prstGeom>
        </p:spPr>
      </p:pic>
      <p:sp>
        <p:nvSpPr>
          <p:cNvPr id="20" name="Text 13"/>
          <p:cNvSpPr/>
          <p:nvPr/>
        </p:nvSpPr>
        <p:spPr>
          <a:xfrm>
            <a:off x="6513552" y="6953845"/>
            <a:ext cx="5592723" cy="725805"/>
          </a:xfrm>
          <a:prstGeom prst="rect">
            <a:avLst/>
          </a:prstGeom>
          <a:noFill/>
          <a:ln/>
        </p:spPr>
        <p:txBody>
          <a:bodyPr wrap="square" lIns="0" tIns="0" rIns="0" bIns="0" rtlCol="0" anchor="t"/>
          <a:lstStyle/>
          <a:p>
            <a:pPr marL="0" indent="0" algn="l">
              <a:lnSpc>
                <a:spcPts val="1900"/>
              </a:lnSpc>
              <a:buNone/>
            </a:pPr>
            <a:r>
              <a:rPr lang="en-US" sz="1150" dirty="0">
                <a:solidFill>
                  <a:srgbClr val="D6E5EF"/>
                </a:solidFill>
                <a:latin typeface="Roboto" pitchFamily="34" charset="0"/>
                <a:ea typeface="Roboto" pitchFamily="34" charset="-122"/>
                <a:cs typeface="Roboto" pitchFamily="34" charset="-120"/>
              </a:rPr>
              <a:t>This preprocessing ensures consistency across varying lighting conditions, camera qualities, and facial orientations—critical for maintaining model accuracy in real-world deployment scenarios.</a:t>
            </a:r>
            <a:endParaRPr lang="en-US" sz="1150" dirty="0"/>
          </a:p>
        </p:txBody>
      </p:sp>
      <p:pic>
        <p:nvPicPr>
          <p:cNvPr id="22" name="Picture 21">
            <a:extLst>
              <a:ext uri="{FF2B5EF4-FFF2-40B4-BE49-F238E27FC236}">
                <a16:creationId xmlns:a16="http://schemas.microsoft.com/office/drawing/2014/main" id="{67E8FC65-FEDB-7F59-1F20-E4DB52164454}"/>
              </a:ext>
            </a:extLst>
          </p:cNvPr>
          <p:cNvPicPr>
            <a:picLocks noChangeAspect="1"/>
          </p:cNvPicPr>
          <p:nvPr/>
        </p:nvPicPr>
        <p:blipFill>
          <a:blip r:embed="rId5"/>
          <a:stretch>
            <a:fillRect/>
          </a:stretch>
        </p:blipFill>
        <p:spPr>
          <a:xfrm>
            <a:off x="12375134" y="7679650"/>
            <a:ext cx="2141406" cy="4502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83500"/>
          </a:xfrm>
          <a:prstGeom prst="rect">
            <a:avLst/>
          </a:prstGeom>
        </p:spPr>
      </p:pic>
      <p:sp>
        <p:nvSpPr>
          <p:cNvPr id="3" name="Text 0"/>
          <p:cNvSpPr/>
          <p:nvPr/>
        </p:nvSpPr>
        <p:spPr>
          <a:xfrm>
            <a:off x="1537930" y="2786301"/>
            <a:ext cx="5959673" cy="456724"/>
          </a:xfrm>
          <a:prstGeom prst="rect">
            <a:avLst/>
          </a:prstGeom>
          <a:noFill/>
          <a:ln/>
        </p:spPr>
        <p:txBody>
          <a:bodyPr wrap="none" lIns="0" tIns="0" rIns="0" bIns="0" rtlCol="0" anchor="t"/>
          <a:lstStyle/>
          <a:p>
            <a:pPr marL="0" indent="0" algn="l">
              <a:lnSpc>
                <a:spcPts val="3550"/>
              </a:lnSpc>
              <a:buNone/>
            </a:pPr>
            <a:r>
              <a:rPr lang="en-US" sz="2850" dirty="0">
                <a:solidFill>
                  <a:srgbClr val="76B9FF"/>
                </a:solidFill>
                <a:latin typeface="Roboto Slab" pitchFamily="34" charset="0"/>
                <a:ea typeface="Roboto Slab" pitchFamily="34" charset="-122"/>
                <a:cs typeface="Roboto Slab" pitchFamily="34" charset="-120"/>
              </a:rPr>
              <a:t>Feature Extraction &amp; Classification</a:t>
            </a:r>
            <a:endParaRPr lang="en-US" sz="2850" dirty="0"/>
          </a:p>
        </p:txBody>
      </p:sp>
      <p:sp>
        <p:nvSpPr>
          <p:cNvPr id="4" name="Text 1"/>
          <p:cNvSpPr/>
          <p:nvPr/>
        </p:nvSpPr>
        <p:spPr>
          <a:xfrm>
            <a:off x="1537930" y="3516987"/>
            <a:ext cx="11554420" cy="584359"/>
          </a:xfrm>
          <a:prstGeom prst="rect">
            <a:avLst/>
          </a:prstGeom>
          <a:noFill/>
          <a:ln/>
        </p:spPr>
        <p:txBody>
          <a:bodyPr wrap="square" lIns="0" tIns="0" rIns="0" bIns="0" rtlCol="0" anchor="t"/>
          <a:lstStyle/>
          <a:p>
            <a:pPr marL="0" indent="0" algn="l">
              <a:lnSpc>
                <a:spcPts val="2300"/>
              </a:lnSpc>
              <a:buNone/>
            </a:pPr>
            <a:r>
              <a:rPr lang="en-US" sz="1400" dirty="0">
                <a:solidFill>
                  <a:srgbClr val="D6E5EF"/>
                </a:solidFill>
                <a:latin typeface="Roboto" pitchFamily="34" charset="0"/>
                <a:ea typeface="Roboto" pitchFamily="34" charset="-122"/>
                <a:cs typeface="Roboto" pitchFamily="34" charset="-120"/>
              </a:rPr>
              <a:t>The CNN architecture transforms raw facial pixel data into high-dimensional feature representations, ultimately producing probability distributions across our seven emotion classes.</a:t>
            </a:r>
            <a:endParaRPr lang="en-US" sz="1400" dirty="0"/>
          </a:p>
        </p:txBody>
      </p:sp>
      <p:sp>
        <p:nvSpPr>
          <p:cNvPr id="5" name="Shape 2"/>
          <p:cNvSpPr/>
          <p:nvPr/>
        </p:nvSpPr>
        <p:spPr>
          <a:xfrm>
            <a:off x="1537930" y="6016823"/>
            <a:ext cx="11554420" cy="22860"/>
          </a:xfrm>
          <a:prstGeom prst="roundRect">
            <a:avLst>
              <a:gd name="adj" fmla="val 119869"/>
            </a:avLst>
          </a:prstGeom>
          <a:solidFill>
            <a:srgbClr val="585F6B"/>
          </a:solidFill>
          <a:ln/>
        </p:spPr>
      </p:sp>
      <p:sp>
        <p:nvSpPr>
          <p:cNvPr id="6" name="Shape 3"/>
          <p:cNvSpPr/>
          <p:nvPr/>
        </p:nvSpPr>
        <p:spPr>
          <a:xfrm>
            <a:off x="3768804" y="5468898"/>
            <a:ext cx="22860" cy="547926"/>
          </a:xfrm>
          <a:prstGeom prst="roundRect">
            <a:avLst>
              <a:gd name="adj" fmla="val 119869"/>
            </a:avLst>
          </a:prstGeom>
          <a:solidFill>
            <a:srgbClr val="585F6B"/>
          </a:solidFill>
          <a:ln/>
        </p:spPr>
      </p:sp>
      <p:sp>
        <p:nvSpPr>
          <p:cNvPr id="7" name="Shape 4"/>
          <p:cNvSpPr/>
          <p:nvPr/>
        </p:nvSpPr>
        <p:spPr>
          <a:xfrm>
            <a:off x="3574733" y="5811322"/>
            <a:ext cx="411004" cy="411004"/>
          </a:xfrm>
          <a:prstGeom prst="roundRect">
            <a:avLst>
              <a:gd name="adj" fmla="val 6667"/>
            </a:avLst>
          </a:prstGeom>
          <a:solidFill>
            <a:srgbClr val="3F4652"/>
          </a:solidFill>
          <a:ln/>
        </p:spPr>
      </p:sp>
      <p:sp>
        <p:nvSpPr>
          <p:cNvPr id="8" name="Text 5"/>
          <p:cNvSpPr/>
          <p:nvPr/>
        </p:nvSpPr>
        <p:spPr>
          <a:xfrm>
            <a:off x="3643253" y="5845612"/>
            <a:ext cx="273963" cy="342424"/>
          </a:xfrm>
          <a:prstGeom prst="rect">
            <a:avLst/>
          </a:prstGeom>
          <a:noFill/>
          <a:ln/>
        </p:spPr>
        <p:txBody>
          <a:bodyPr wrap="none" lIns="0" tIns="0" rIns="0" bIns="0" rtlCol="0" anchor="t"/>
          <a:lstStyle/>
          <a:p>
            <a:pPr marL="0" indent="0" algn="ctr">
              <a:lnSpc>
                <a:spcPts val="2150"/>
              </a:lnSpc>
              <a:buNone/>
            </a:pPr>
            <a:r>
              <a:rPr lang="en-US" sz="2150" dirty="0">
                <a:solidFill>
                  <a:srgbClr val="D6E5EF"/>
                </a:solidFill>
                <a:latin typeface="Roboto Slab" pitchFamily="34" charset="0"/>
                <a:ea typeface="Roboto Slab" pitchFamily="34" charset="-122"/>
                <a:cs typeface="Roboto Slab" pitchFamily="34" charset="-120"/>
              </a:rPr>
              <a:t>1</a:t>
            </a:r>
            <a:endParaRPr lang="en-US" sz="2150" dirty="0"/>
          </a:p>
        </p:txBody>
      </p:sp>
      <p:sp>
        <p:nvSpPr>
          <p:cNvPr id="9" name="Text 6"/>
          <p:cNvSpPr/>
          <p:nvPr/>
        </p:nvSpPr>
        <p:spPr>
          <a:xfrm>
            <a:off x="2638544" y="4306848"/>
            <a:ext cx="2283500" cy="285393"/>
          </a:xfrm>
          <a:prstGeom prst="rect">
            <a:avLst/>
          </a:prstGeom>
          <a:noFill/>
          <a:ln/>
        </p:spPr>
        <p:txBody>
          <a:bodyPr wrap="none" lIns="0" tIns="0" rIns="0" bIns="0" rtlCol="0" anchor="t"/>
          <a:lstStyle/>
          <a:p>
            <a:pPr marL="0" indent="0" algn="ctr">
              <a:lnSpc>
                <a:spcPts val="2200"/>
              </a:lnSpc>
              <a:buNone/>
            </a:pPr>
            <a:r>
              <a:rPr lang="en-US" sz="1750" dirty="0">
                <a:solidFill>
                  <a:srgbClr val="D6E5EF"/>
                </a:solidFill>
                <a:latin typeface="Roboto Slab" pitchFamily="34" charset="0"/>
                <a:ea typeface="Roboto Slab" pitchFamily="34" charset="-122"/>
                <a:cs typeface="Roboto Slab" pitchFamily="34" charset="-120"/>
              </a:rPr>
              <a:t>Convolutional Layers</a:t>
            </a:r>
            <a:endParaRPr lang="en-US" sz="1750" dirty="0"/>
          </a:p>
        </p:txBody>
      </p:sp>
      <p:sp>
        <p:nvSpPr>
          <p:cNvPr id="10" name="Text 7"/>
          <p:cNvSpPr/>
          <p:nvPr/>
        </p:nvSpPr>
        <p:spPr>
          <a:xfrm>
            <a:off x="1720572" y="4701778"/>
            <a:ext cx="4119443" cy="584359"/>
          </a:xfrm>
          <a:prstGeom prst="rect">
            <a:avLst/>
          </a:prstGeom>
          <a:noFill/>
          <a:ln/>
        </p:spPr>
        <p:txBody>
          <a:bodyPr wrap="square" lIns="0" tIns="0" rIns="0" bIns="0" rtlCol="0" anchor="t"/>
          <a:lstStyle/>
          <a:p>
            <a:pPr marL="0" indent="0" algn="ctr">
              <a:lnSpc>
                <a:spcPts val="2300"/>
              </a:lnSpc>
              <a:buNone/>
            </a:pPr>
            <a:r>
              <a:rPr lang="en-US" sz="1400" dirty="0">
                <a:solidFill>
                  <a:srgbClr val="D6E5EF"/>
                </a:solidFill>
                <a:latin typeface="Roboto" pitchFamily="34" charset="0"/>
                <a:ea typeface="Roboto" pitchFamily="34" charset="-122"/>
                <a:cs typeface="Roboto" pitchFamily="34" charset="-120"/>
              </a:rPr>
              <a:t>Extract spatial features: edges, textures, facial landmarks</a:t>
            </a:r>
            <a:endParaRPr lang="en-US" sz="1400" dirty="0"/>
          </a:p>
        </p:txBody>
      </p:sp>
      <p:sp>
        <p:nvSpPr>
          <p:cNvPr id="11" name="Shape 8"/>
          <p:cNvSpPr/>
          <p:nvPr/>
        </p:nvSpPr>
        <p:spPr>
          <a:xfrm>
            <a:off x="6125408" y="6016823"/>
            <a:ext cx="22860" cy="547926"/>
          </a:xfrm>
          <a:prstGeom prst="roundRect">
            <a:avLst>
              <a:gd name="adj" fmla="val 119869"/>
            </a:avLst>
          </a:prstGeom>
          <a:solidFill>
            <a:srgbClr val="585F6B"/>
          </a:solidFill>
          <a:ln/>
        </p:spPr>
      </p:sp>
      <p:sp>
        <p:nvSpPr>
          <p:cNvPr id="12" name="Shape 9"/>
          <p:cNvSpPr/>
          <p:nvPr/>
        </p:nvSpPr>
        <p:spPr>
          <a:xfrm>
            <a:off x="5931337" y="5811322"/>
            <a:ext cx="411004" cy="411004"/>
          </a:xfrm>
          <a:prstGeom prst="roundRect">
            <a:avLst>
              <a:gd name="adj" fmla="val 6667"/>
            </a:avLst>
          </a:prstGeom>
          <a:solidFill>
            <a:srgbClr val="3F4652"/>
          </a:solidFill>
          <a:ln/>
        </p:spPr>
      </p:sp>
      <p:sp>
        <p:nvSpPr>
          <p:cNvPr id="13" name="Text 10"/>
          <p:cNvSpPr/>
          <p:nvPr/>
        </p:nvSpPr>
        <p:spPr>
          <a:xfrm>
            <a:off x="5999857" y="5845612"/>
            <a:ext cx="273963" cy="342424"/>
          </a:xfrm>
          <a:prstGeom prst="rect">
            <a:avLst/>
          </a:prstGeom>
          <a:noFill/>
          <a:ln/>
        </p:spPr>
        <p:txBody>
          <a:bodyPr wrap="none" lIns="0" tIns="0" rIns="0" bIns="0" rtlCol="0" anchor="t"/>
          <a:lstStyle/>
          <a:p>
            <a:pPr marL="0" indent="0" algn="ctr">
              <a:lnSpc>
                <a:spcPts val="2150"/>
              </a:lnSpc>
              <a:buNone/>
            </a:pPr>
            <a:r>
              <a:rPr lang="en-US" sz="2150" dirty="0">
                <a:solidFill>
                  <a:srgbClr val="D6E5EF"/>
                </a:solidFill>
                <a:latin typeface="Roboto Slab" pitchFamily="34" charset="0"/>
                <a:ea typeface="Roboto Slab" pitchFamily="34" charset="-122"/>
                <a:cs typeface="Roboto Slab" pitchFamily="34" charset="-120"/>
              </a:rPr>
              <a:t>2</a:t>
            </a:r>
            <a:endParaRPr lang="en-US" sz="2150" dirty="0"/>
          </a:p>
        </p:txBody>
      </p:sp>
      <p:sp>
        <p:nvSpPr>
          <p:cNvPr id="14" name="Text 11"/>
          <p:cNvSpPr/>
          <p:nvPr/>
        </p:nvSpPr>
        <p:spPr>
          <a:xfrm>
            <a:off x="4995029" y="6747510"/>
            <a:ext cx="2283500" cy="285393"/>
          </a:xfrm>
          <a:prstGeom prst="rect">
            <a:avLst/>
          </a:prstGeom>
          <a:noFill/>
          <a:ln/>
        </p:spPr>
        <p:txBody>
          <a:bodyPr wrap="none" lIns="0" tIns="0" rIns="0" bIns="0" rtlCol="0" anchor="t"/>
          <a:lstStyle/>
          <a:p>
            <a:pPr marL="0" indent="0" algn="ctr">
              <a:lnSpc>
                <a:spcPts val="2200"/>
              </a:lnSpc>
              <a:buNone/>
            </a:pPr>
            <a:r>
              <a:rPr lang="en-US" sz="1750" dirty="0">
                <a:solidFill>
                  <a:srgbClr val="D6E5EF"/>
                </a:solidFill>
                <a:latin typeface="Roboto Slab" pitchFamily="34" charset="0"/>
                <a:ea typeface="Roboto Slab" pitchFamily="34" charset="-122"/>
                <a:cs typeface="Roboto Slab" pitchFamily="34" charset="-120"/>
              </a:rPr>
              <a:t>Pooling Operations</a:t>
            </a:r>
            <a:endParaRPr lang="en-US" sz="1750" dirty="0"/>
          </a:p>
        </p:txBody>
      </p:sp>
      <p:sp>
        <p:nvSpPr>
          <p:cNvPr id="15" name="Text 12"/>
          <p:cNvSpPr/>
          <p:nvPr/>
        </p:nvSpPr>
        <p:spPr>
          <a:xfrm>
            <a:off x="4077057" y="7142440"/>
            <a:ext cx="4119562" cy="584359"/>
          </a:xfrm>
          <a:prstGeom prst="rect">
            <a:avLst/>
          </a:prstGeom>
          <a:noFill/>
          <a:ln/>
        </p:spPr>
        <p:txBody>
          <a:bodyPr wrap="square" lIns="0" tIns="0" rIns="0" bIns="0" rtlCol="0" anchor="t"/>
          <a:lstStyle/>
          <a:p>
            <a:pPr marL="0" indent="0" algn="ctr">
              <a:lnSpc>
                <a:spcPts val="2300"/>
              </a:lnSpc>
              <a:buNone/>
            </a:pPr>
            <a:r>
              <a:rPr lang="en-US" sz="1400" dirty="0">
                <a:solidFill>
                  <a:srgbClr val="D6E5EF"/>
                </a:solidFill>
                <a:latin typeface="Roboto" pitchFamily="34" charset="0"/>
                <a:ea typeface="Roboto" pitchFamily="34" charset="-122"/>
                <a:cs typeface="Roboto" pitchFamily="34" charset="-120"/>
              </a:rPr>
              <a:t>Reduce dimensionality while preserving critical information</a:t>
            </a:r>
            <a:endParaRPr lang="en-US" sz="1400" dirty="0"/>
          </a:p>
        </p:txBody>
      </p:sp>
      <p:sp>
        <p:nvSpPr>
          <p:cNvPr id="16" name="Shape 13"/>
          <p:cNvSpPr/>
          <p:nvPr/>
        </p:nvSpPr>
        <p:spPr>
          <a:xfrm>
            <a:off x="8481893" y="5468898"/>
            <a:ext cx="22860" cy="547926"/>
          </a:xfrm>
          <a:prstGeom prst="roundRect">
            <a:avLst>
              <a:gd name="adj" fmla="val 119869"/>
            </a:avLst>
          </a:prstGeom>
          <a:solidFill>
            <a:srgbClr val="585F6B"/>
          </a:solidFill>
          <a:ln/>
        </p:spPr>
      </p:sp>
      <p:sp>
        <p:nvSpPr>
          <p:cNvPr id="17" name="Shape 14"/>
          <p:cNvSpPr/>
          <p:nvPr/>
        </p:nvSpPr>
        <p:spPr>
          <a:xfrm>
            <a:off x="8287822" y="5811322"/>
            <a:ext cx="411004" cy="411004"/>
          </a:xfrm>
          <a:prstGeom prst="roundRect">
            <a:avLst>
              <a:gd name="adj" fmla="val 6667"/>
            </a:avLst>
          </a:prstGeom>
          <a:solidFill>
            <a:srgbClr val="3F4652"/>
          </a:solidFill>
          <a:ln/>
        </p:spPr>
      </p:sp>
      <p:sp>
        <p:nvSpPr>
          <p:cNvPr id="18" name="Text 15"/>
          <p:cNvSpPr/>
          <p:nvPr/>
        </p:nvSpPr>
        <p:spPr>
          <a:xfrm>
            <a:off x="8356342" y="5845612"/>
            <a:ext cx="273963" cy="342424"/>
          </a:xfrm>
          <a:prstGeom prst="rect">
            <a:avLst/>
          </a:prstGeom>
          <a:noFill/>
          <a:ln/>
        </p:spPr>
        <p:txBody>
          <a:bodyPr wrap="none" lIns="0" tIns="0" rIns="0" bIns="0" rtlCol="0" anchor="t"/>
          <a:lstStyle/>
          <a:p>
            <a:pPr marL="0" indent="0" algn="ctr">
              <a:lnSpc>
                <a:spcPts val="2150"/>
              </a:lnSpc>
              <a:buNone/>
            </a:pPr>
            <a:r>
              <a:rPr lang="en-US" sz="2150" dirty="0">
                <a:solidFill>
                  <a:srgbClr val="D6E5EF"/>
                </a:solidFill>
                <a:latin typeface="Roboto Slab" pitchFamily="34" charset="0"/>
                <a:ea typeface="Roboto Slab" pitchFamily="34" charset="-122"/>
                <a:cs typeface="Roboto Slab" pitchFamily="34" charset="-120"/>
              </a:rPr>
              <a:t>3</a:t>
            </a:r>
            <a:endParaRPr lang="en-US" sz="2150" dirty="0"/>
          </a:p>
        </p:txBody>
      </p:sp>
      <p:sp>
        <p:nvSpPr>
          <p:cNvPr id="19" name="Text 16"/>
          <p:cNvSpPr/>
          <p:nvPr/>
        </p:nvSpPr>
        <p:spPr>
          <a:xfrm>
            <a:off x="7351514" y="4306848"/>
            <a:ext cx="2283500" cy="285393"/>
          </a:xfrm>
          <a:prstGeom prst="rect">
            <a:avLst/>
          </a:prstGeom>
          <a:noFill/>
          <a:ln/>
        </p:spPr>
        <p:txBody>
          <a:bodyPr wrap="none" lIns="0" tIns="0" rIns="0" bIns="0" rtlCol="0" anchor="t"/>
          <a:lstStyle/>
          <a:p>
            <a:pPr marL="0" indent="0" algn="ctr">
              <a:lnSpc>
                <a:spcPts val="2200"/>
              </a:lnSpc>
              <a:buNone/>
            </a:pPr>
            <a:r>
              <a:rPr lang="en-US" sz="1750" dirty="0">
                <a:solidFill>
                  <a:srgbClr val="D6E5EF"/>
                </a:solidFill>
                <a:latin typeface="Roboto Slab" pitchFamily="34" charset="0"/>
                <a:ea typeface="Roboto Slab" pitchFamily="34" charset="-122"/>
                <a:cs typeface="Roboto Slab" pitchFamily="34" charset="-120"/>
              </a:rPr>
              <a:t>Dense Layers</a:t>
            </a:r>
            <a:endParaRPr lang="en-US" sz="1750" dirty="0"/>
          </a:p>
        </p:txBody>
      </p:sp>
      <p:sp>
        <p:nvSpPr>
          <p:cNvPr id="20" name="Text 17"/>
          <p:cNvSpPr/>
          <p:nvPr/>
        </p:nvSpPr>
        <p:spPr>
          <a:xfrm>
            <a:off x="6433542" y="4701778"/>
            <a:ext cx="4119562" cy="584359"/>
          </a:xfrm>
          <a:prstGeom prst="rect">
            <a:avLst/>
          </a:prstGeom>
          <a:noFill/>
          <a:ln/>
        </p:spPr>
        <p:txBody>
          <a:bodyPr wrap="square" lIns="0" tIns="0" rIns="0" bIns="0" rtlCol="0" anchor="t"/>
          <a:lstStyle/>
          <a:p>
            <a:pPr marL="0" indent="0" algn="ctr">
              <a:lnSpc>
                <a:spcPts val="2300"/>
              </a:lnSpc>
              <a:buNone/>
            </a:pPr>
            <a:r>
              <a:rPr lang="en-US" sz="1400" dirty="0">
                <a:solidFill>
                  <a:srgbClr val="D6E5EF"/>
                </a:solidFill>
                <a:latin typeface="Roboto" pitchFamily="34" charset="0"/>
                <a:ea typeface="Roboto" pitchFamily="34" charset="-122"/>
                <a:cs typeface="Roboto" pitchFamily="34" charset="-120"/>
              </a:rPr>
              <a:t>Learn complex emotion patterns from extracted features</a:t>
            </a:r>
            <a:endParaRPr lang="en-US" sz="1400" dirty="0"/>
          </a:p>
        </p:txBody>
      </p:sp>
      <p:sp>
        <p:nvSpPr>
          <p:cNvPr id="21" name="Shape 18"/>
          <p:cNvSpPr/>
          <p:nvPr/>
        </p:nvSpPr>
        <p:spPr>
          <a:xfrm>
            <a:off x="10838498" y="6016823"/>
            <a:ext cx="22860" cy="547926"/>
          </a:xfrm>
          <a:prstGeom prst="roundRect">
            <a:avLst>
              <a:gd name="adj" fmla="val 119869"/>
            </a:avLst>
          </a:prstGeom>
          <a:solidFill>
            <a:srgbClr val="585F6B"/>
          </a:solidFill>
          <a:ln/>
        </p:spPr>
      </p:sp>
      <p:sp>
        <p:nvSpPr>
          <p:cNvPr id="22" name="Shape 19"/>
          <p:cNvSpPr/>
          <p:nvPr/>
        </p:nvSpPr>
        <p:spPr>
          <a:xfrm>
            <a:off x="10644426" y="5811322"/>
            <a:ext cx="411004" cy="411004"/>
          </a:xfrm>
          <a:prstGeom prst="roundRect">
            <a:avLst>
              <a:gd name="adj" fmla="val 6667"/>
            </a:avLst>
          </a:prstGeom>
          <a:solidFill>
            <a:srgbClr val="3F4652"/>
          </a:solidFill>
          <a:ln/>
        </p:spPr>
      </p:sp>
      <p:sp>
        <p:nvSpPr>
          <p:cNvPr id="23" name="Text 20"/>
          <p:cNvSpPr/>
          <p:nvPr/>
        </p:nvSpPr>
        <p:spPr>
          <a:xfrm>
            <a:off x="10712946" y="5845612"/>
            <a:ext cx="273963" cy="342424"/>
          </a:xfrm>
          <a:prstGeom prst="rect">
            <a:avLst/>
          </a:prstGeom>
          <a:noFill/>
          <a:ln/>
        </p:spPr>
        <p:txBody>
          <a:bodyPr wrap="none" lIns="0" tIns="0" rIns="0" bIns="0" rtlCol="0" anchor="t"/>
          <a:lstStyle/>
          <a:p>
            <a:pPr marL="0" indent="0" algn="ctr">
              <a:lnSpc>
                <a:spcPts val="2150"/>
              </a:lnSpc>
              <a:buNone/>
            </a:pPr>
            <a:r>
              <a:rPr lang="en-US" sz="2150" dirty="0">
                <a:solidFill>
                  <a:srgbClr val="D6E5EF"/>
                </a:solidFill>
                <a:latin typeface="Roboto Slab" pitchFamily="34" charset="0"/>
                <a:ea typeface="Roboto Slab" pitchFamily="34" charset="-122"/>
                <a:cs typeface="Roboto Slab" pitchFamily="34" charset="-120"/>
              </a:rPr>
              <a:t>4</a:t>
            </a:r>
            <a:endParaRPr lang="en-US" sz="2150" dirty="0"/>
          </a:p>
        </p:txBody>
      </p:sp>
      <p:sp>
        <p:nvSpPr>
          <p:cNvPr id="24" name="Text 21"/>
          <p:cNvSpPr/>
          <p:nvPr/>
        </p:nvSpPr>
        <p:spPr>
          <a:xfrm>
            <a:off x="9708118" y="6747510"/>
            <a:ext cx="2283500" cy="285393"/>
          </a:xfrm>
          <a:prstGeom prst="rect">
            <a:avLst/>
          </a:prstGeom>
          <a:noFill/>
          <a:ln/>
        </p:spPr>
        <p:txBody>
          <a:bodyPr wrap="none" lIns="0" tIns="0" rIns="0" bIns="0" rtlCol="0" anchor="t"/>
          <a:lstStyle/>
          <a:p>
            <a:pPr marL="0" indent="0" algn="ctr">
              <a:lnSpc>
                <a:spcPts val="2200"/>
              </a:lnSpc>
              <a:buNone/>
            </a:pPr>
            <a:r>
              <a:rPr lang="en-US" sz="1750" dirty="0">
                <a:solidFill>
                  <a:srgbClr val="D6E5EF"/>
                </a:solidFill>
                <a:latin typeface="Roboto Slab" pitchFamily="34" charset="0"/>
                <a:ea typeface="Roboto Slab" pitchFamily="34" charset="-122"/>
                <a:cs typeface="Roboto Slab" pitchFamily="34" charset="-120"/>
              </a:rPr>
              <a:t>Softmax Output</a:t>
            </a:r>
            <a:endParaRPr lang="en-US" sz="1750" dirty="0"/>
          </a:p>
        </p:txBody>
      </p:sp>
      <p:sp>
        <p:nvSpPr>
          <p:cNvPr id="25" name="Text 22"/>
          <p:cNvSpPr/>
          <p:nvPr/>
        </p:nvSpPr>
        <p:spPr>
          <a:xfrm>
            <a:off x="8790146" y="7142440"/>
            <a:ext cx="4119562" cy="292179"/>
          </a:xfrm>
          <a:prstGeom prst="rect">
            <a:avLst/>
          </a:prstGeom>
          <a:noFill/>
          <a:ln/>
        </p:spPr>
        <p:txBody>
          <a:bodyPr wrap="none" lIns="0" tIns="0" rIns="0" bIns="0" rtlCol="0" anchor="t"/>
          <a:lstStyle/>
          <a:p>
            <a:pPr marL="0" indent="0" algn="ctr">
              <a:lnSpc>
                <a:spcPts val="2300"/>
              </a:lnSpc>
              <a:buNone/>
            </a:pPr>
            <a:r>
              <a:rPr lang="en-US" sz="1400" dirty="0">
                <a:solidFill>
                  <a:srgbClr val="D6E5EF"/>
                </a:solidFill>
                <a:latin typeface="Roboto" pitchFamily="34" charset="0"/>
                <a:ea typeface="Roboto" pitchFamily="34" charset="-122"/>
                <a:cs typeface="Roboto" pitchFamily="34" charset="-120"/>
              </a:rPr>
              <a:t>Generate probability vector for 7 emotion classes</a:t>
            </a:r>
            <a:endParaRPr lang="en-US" sz="1400" dirty="0"/>
          </a:p>
        </p:txBody>
      </p:sp>
      <p:pic>
        <p:nvPicPr>
          <p:cNvPr id="27" name="Picture 26">
            <a:extLst>
              <a:ext uri="{FF2B5EF4-FFF2-40B4-BE49-F238E27FC236}">
                <a16:creationId xmlns:a16="http://schemas.microsoft.com/office/drawing/2014/main" id="{21A93A1E-5755-8CEF-63B2-242EDC74D25C}"/>
              </a:ext>
            </a:extLst>
          </p:cNvPr>
          <p:cNvPicPr>
            <a:picLocks noChangeAspect="1"/>
          </p:cNvPicPr>
          <p:nvPr/>
        </p:nvPicPr>
        <p:blipFill>
          <a:blip r:embed="rId4"/>
          <a:stretch>
            <a:fillRect/>
          </a:stretch>
        </p:blipFill>
        <p:spPr>
          <a:xfrm>
            <a:off x="12406306" y="7795126"/>
            <a:ext cx="2141406" cy="3200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46597"/>
            <a:ext cx="4946809" cy="566976"/>
          </a:xfrm>
          <a:prstGeom prst="rect">
            <a:avLst/>
          </a:prstGeom>
          <a:noFill/>
          <a:ln/>
        </p:spPr>
        <p:txBody>
          <a:bodyPr wrap="none" lIns="0" tIns="0" rIns="0" bIns="0" rtlCol="0" anchor="t"/>
          <a:lstStyle/>
          <a:p>
            <a:pPr marL="0" indent="0" algn="l">
              <a:lnSpc>
                <a:spcPts val="4450"/>
              </a:lnSpc>
              <a:buNone/>
            </a:pPr>
            <a:r>
              <a:rPr lang="en-US" sz="3550" dirty="0">
                <a:solidFill>
                  <a:srgbClr val="76B9FF"/>
                </a:solidFill>
                <a:latin typeface="Roboto Slab" pitchFamily="34" charset="0"/>
                <a:ea typeface="Roboto Slab" pitchFamily="34" charset="-122"/>
                <a:cs typeface="Roboto Slab" pitchFamily="34" charset="-120"/>
              </a:rPr>
              <a:t>Deep CNN Architecture</a:t>
            </a:r>
            <a:endParaRPr lang="en-US" sz="3550" dirty="0"/>
          </a:p>
        </p:txBody>
      </p:sp>
      <p:sp>
        <p:nvSpPr>
          <p:cNvPr id="3" name="Text 1"/>
          <p:cNvSpPr/>
          <p:nvPr/>
        </p:nvSpPr>
        <p:spPr>
          <a:xfrm>
            <a:off x="793790" y="24805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Model Specifications</a:t>
            </a:r>
            <a:endParaRPr lang="en-US" sz="2200" dirty="0"/>
          </a:p>
        </p:txBody>
      </p:sp>
      <p:sp>
        <p:nvSpPr>
          <p:cNvPr id="4" name="Text 2"/>
          <p:cNvSpPr/>
          <p:nvPr/>
        </p:nvSpPr>
        <p:spPr>
          <a:xfrm>
            <a:off x="793790" y="3061692"/>
            <a:ext cx="5564862"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D6E5EF"/>
                </a:solidFill>
                <a:latin typeface="Roboto" pitchFamily="34" charset="0"/>
                <a:ea typeface="Roboto" pitchFamily="34" charset="-122"/>
                <a:cs typeface="Roboto" pitchFamily="34" charset="-120"/>
              </a:rPr>
              <a:t>Framework:</a:t>
            </a:r>
            <a:r>
              <a:rPr lang="en-US" sz="1750" dirty="0">
                <a:solidFill>
                  <a:srgbClr val="D6E5EF"/>
                </a:solidFill>
                <a:latin typeface="Roboto" pitchFamily="34" charset="0"/>
                <a:ea typeface="Roboto" pitchFamily="34" charset="-122"/>
                <a:cs typeface="Roboto" pitchFamily="34" charset="-120"/>
              </a:rPr>
              <a:t> TensorFlow 2.x + Keras API</a:t>
            </a:r>
            <a:endParaRPr lang="en-US" sz="1750" dirty="0"/>
          </a:p>
        </p:txBody>
      </p:sp>
      <p:sp>
        <p:nvSpPr>
          <p:cNvPr id="5" name="Text 3"/>
          <p:cNvSpPr/>
          <p:nvPr/>
        </p:nvSpPr>
        <p:spPr>
          <a:xfrm>
            <a:off x="793790" y="3503890"/>
            <a:ext cx="5564862"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D6E5EF"/>
                </a:solidFill>
                <a:latin typeface="Roboto" pitchFamily="34" charset="0"/>
                <a:ea typeface="Roboto" pitchFamily="34" charset="-122"/>
                <a:cs typeface="Roboto" pitchFamily="34" charset="-120"/>
              </a:rPr>
              <a:t>Input Shape:</a:t>
            </a:r>
            <a:r>
              <a:rPr lang="en-US" sz="1750" dirty="0">
                <a:solidFill>
                  <a:srgbClr val="D6E5EF"/>
                </a:solidFill>
                <a:latin typeface="Roboto" pitchFamily="34" charset="0"/>
                <a:ea typeface="Roboto" pitchFamily="34" charset="-122"/>
                <a:cs typeface="Roboto" pitchFamily="34" charset="-120"/>
              </a:rPr>
              <a:t> (48, 48, 1) grayscale images</a:t>
            </a:r>
            <a:endParaRPr lang="en-US" sz="1750" dirty="0"/>
          </a:p>
        </p:txBody>
      </p:sp>
      <p:sp>
        <p:nvSpPr>
          <p:cNvPr id="6" name="Text 4"/>
          <p:cNvSpPr/>
          <p:nvPr/>
        </p:nvSpPr>
        <p:spPr>
          <a:xfrm>
            <a:off x="793790" y="3946088"/>
            <a:ext cx="5564862"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D6E5EF"/>
                </a:solidFill>
                <a:latin typeface="Roboto" pitchFamily="34" charset="0"/>
                <a:ea typeface="Roboto" pitchFamily="34" charset="-122"/>
                <a:cs typeface="Roboto" pitchFamily="34" charset="-120"/>
              </a:rPr>
              <a:t>Convolutional Blocks:</a:t>
            </a:r>
            <a:r>
              <a:rPr lang="en-US" sz="1750" dirty="0">
                <a:solidFill>
                  <a:srgbClr val="D6E5EF"/>
                </a:solidFill>
                <a:latin typeface="Roboto" pitchFamily="34" charset="0"/>
                <a:ea typeface="Roboto" pitchFamily="34" charset="-122"/>
                <a:cs typeface="Roboto" pitchFamily="34" charset="-120"/>
              </a:rPr>
              <a:t> 4 layers with increasing filters (32→64→128→256)</a:t>
            </a:r>
            <a:endParaRPr lang="en-US" sz="1750" dirty="0"/>
          </a:p>
        </p:txBody>
      </p:sp>
      <p:sp>
        <p:nvSpPr>
          <p:cNvPr id="7" name="Text 5"/>
          <p:cNvSpPr/>
          <p:nvPr/>
        </p:nvSpPr>
        <p:spPr>
          <a:xfrm>
            <a:off x="793790" y="4751189"/>
            <a:ext cx="5564862"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D6E5EF"/>
                </a:solidFill>
                <a:latin typeface="Roboto" pitchFamily="34" charset="0"/>
                <a:ea typeface="Roboto" pitchFamily="34" charset="-122"/>
                <a:cs typeface="Roboto" pitchFamily="34" charset="-120"/>
              </a:rPr>
              <a:t>Activation:</a:t>
            </a:r>
            <a:r>
              <a:rPr lang="en-US" sz="1750" dirty="0">
                <a:solidFill>
                  <a:srgbClr val="D6E5EF"/>
                </a:solidFill>
                <a:latin typeface="Roboto" pitchFamily="34" charset="0"/>
                <a:ea typeface="Roboto" pitchFamily="34" charset="-122"/>
                <a:cs typeface="Roboto" pitchFamily="34" charset="-120"/>
              </a:rPr>
              <a:t> ReLU for non-linearity</a:t>
            </a:r>
            <a:endParaRPr lang="en-US" sz="1750" dirty="0"/>
          </a:p>
        </p:txBody>
      </p:sp>
      <p:sp>
        <p:nvSpPr>
          <p:cNvPr id="8" name="Text 6"/>
          <p:cNvSpPr/>
          <p:nvPr/>
        </p:nvSpPr>
        <p:spPr>
          <a:xfrm>
            <a:off x="793790" y="5193387"/>
            <a:ext cx="5564862"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D6E5EF"/>
                </a:solidFill>
                <a:latin typeface="Roboto" pitchFamily="34" charset="0"/>
                <a:ea typeface="Roboto" pitchFamily="34" charset="-122"/>
                <a:cs typeface="Roboto" pitchFamily="34" charset="-120"/>
              </a:rPr>
              <a:t>Regularization:</a:t>
            </a:r>
            <a:r>
              <a:rPr lang="en-US" sz="1750" dirty="0">
                <a:solidFill>
                  <a:srgbClr val="D6E5EF"/>
                </a:solidFill>
                <a:latin typeface="Roboto" pitchFamily="34" charset="0"/>
                <a:ea typeface="Roboto" pitchFamily="34" charset="-122"/>
                <a:cs typeface="Roboto" pitchFamily="34" charset="-120"/>
              </a:rPr>
              <a:t> Dropout (0.5) and Batch Normalization</a:t>
            </a:r>
            <a:endParaRPr lang="en-US" sz="1750" dirty="0"/>
          </a:p>
        </p:txBody>
      </p:sp>
      <p:sp>
        <p:nvSpPr>
          <p:cNvPr id="9" name="Text 7"/>
          <p:cNvSpPr/>
          <p:nvPr/>
        </p:nvSpPr>
        <p:spPr>
          <a:xfrm>
            <a:off x="793790" y="5998488"/>
            <a:ext cx="5564862"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D6E5EF"/>
                </a:solidFill>
                <a:latin typeface="Roboto" pitchFamily="34" charset="0"/>
                <a:ea typeface="Roboto" pitchFamily="34" charset="-122"/>
                <a:cs typeface="Roboto" pitchFamily="34" charset="-120"/>
              </a:rPr>
              <a:t>Optimizer:</a:t>
            </a:r>
            <a:r>
              <a:rPr lang="en-US" sz="1750" dirty="0">
                <a:solidFill>
                  <a:srgbClr val="D6E5EF"/>
                </a:solidFill>
                <a:latin typeface="Roboto" pitchFamily="34" charset="0"/>
                <a:ea typeface="Roboto" pitchFamily="34" charset="-122"/>
                <a:cs typeface="Roboto" pitchFamily="34" charset="-120"/>
              </a:rPr>
              <a:t> Adam with adaptive learning rate</a:t>
            </a:r>
            <a:endParaRPr lang="en-US" sz="1750" dirty="0"/>
          </a:p>
        </p:txBody>
      </p:sp>
      <p:sp>
        <p:nvSpPr>
          <p:cNvPr id="10" name="Text 8"/>
          <p:cNvSpPr/>
          <p:nvPr/>
        </p:nvSpPr>
        <p:spPr>
          <a:xfrm>
            <a:off x="793790" y="6440686"/>
            <a:ext cx="5564862"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D6E5EF"/>
                </a:solidFill>
                <a:latin typeface="Roboto" pitchFamily="34" charset="0"/>
                <a:ea typeface="Roboto" pitchFamily="34" charset="-122"/>
                <a:cs typeface="Roboto" pitchFamily="34" charset="-120"/>
              </a:rPr>
              <a:t>Loss Function:</a:t>
            </a:r>
            <a:r>
              <a:rPr lang="en-US" sz="1750" dirty="0">
                <a:solidFill>
                  <a:srgbClr val="D6E5EF"/>
                </a:solidFill>
                <a:latin typeface="Roboto" pitchFamily="34" charset="0"/>
                <a:ea typeface="Roboto" pitchFamily="34" charset="-122"/>
                <a:cs typeface="Roboto" pitchFamily="34" charset="-120"/>
              </a:rPr>
              <a:t> Categorical cross-entropy</a:t>
            </a:r>
            <a:endParaRPr lang="en-US" sz="1750" dirty="0"/>
          </a:p>
        </p:txBody>
      </p:sp>
      <p:sp>
        <p:nvSpPr>
          <p:cNvPr id="11" name="Text 9"/>
          <p:cNvSpPr/>
          <p:nvPr/>
        </p:nvSpPr>
        <p:spPr>
          <a:xfrm>
            <a:off x="6919674" y="2764036"/>
            <a:ext cx="6924437" cy="108870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Roboto" pitchFamily="34" charset="0"/>
                <a:ea typeface="Roboto" pitchFamily="34" charset="-122"/>
                <a:cs typeface="Roboto" pitchFamily="34" charset="-120"/>
              </a:rPr>
              <a:t>The architecture balances depth for feature learning with efficiency for real-time inference, achieving ~250ms prediction latency on consumer hardware.</a:t>
            </a:r>
            <a:endParaRPr lang="en-US" sz="1750" dirty="0"/>
          </a:p>
        </p:txBody>
      </p:sp>
      <p:pic>
        <p:nvPicPr>
          <p:cNvPr id="13" name="Picture 12">
            <a:extLst>
              <a:ext uri="{FF2B5EF4-FFF2-40B4-BE49-F238E27FC236}">
                <a16:creationId xmlns:a16="http://schemas.microsoft.com/office/drawing/2014/main" id="{F271D5B1-8293-CEC3-A157-C87794A49B0D}"/>
              </a:ext>
            </a:extLst>
          </p:cNvPr>
          <p:cNvPicPr>
            <a:picLocks noChangeAspect="1"/>
          </p:cNvPicPr>
          <p:nvPr/>
        </p:nvPicPr>
        <p:blipFill>
          <a:blip r:embed="rId3"/>
          <a:stretch>
            <a:fillRect/>
          </a:stretch>
        </p:blipFill>
        <p:spPr>
          <a:xfrm>
            <a:off x="12488994" y="7747448"/>
            <a:ext cx="2141406" cy="4821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084665" y="456128"/>
            <a:ext cx="4072295" cy="413385"/>
          </a:xfrm>
          <a:prstGeom prst="rect">
            <a:avLst/>
          </a:prstGeom>
          <a:noFill/>
          <a:ln/>
        </p:spPr>
        <p:txBody>
          <a:bodyPr wrap="none" lIns="0" tIns="0" rIns="0" bIns="0" rtlCol="0" anchor="t"/>
          <a:lstStyle/>
          <a:p>
            <a:pPr marL="0" indent="0" algn="l">
              <a:lnSpc>
                <a:spcPts val="3250"/>
              </a:lnSpc>
              <a:buNone/>
            </a:pPr>
            <a:r>
              <a:rPr lang="en-US" sz="2600" dirty="0">
                <a:solidFill>
                  <a:srgbClr val="76B9FF"/>
                </a:solidFill>
                <a:latin typeface="Roboto Slab" pitchFamily="34" charset="0"/>
                <a:ea typeface="Roboto Slab" pitchFamily="34" charset="-122"/>
                <a:cs typeface="Roboto Slab" pitchFamily="34" charset="-120"/>
              </a:rPr>
              <a:t>Exploratory Data Analysis</a:t>
            </a:r>
            <a:endParaRPr lang="en-US" sz="2600" dirty="0"/>
          </a:p>
        </p:txBody>
      </p:sp>
      <p:pic>
        <p:nvPicPr>
          <p:cNvPr id="3" name="Image 0" descr="preencoded.png"/>
          <p:cNvPicPr>
            <a:picLocks noChangeAspect="1"/>
          </p:cNvPicPr>
          <p:nvPr/>
        </p:nvPicPr>
        <p:blipFill>
          <a:blip r:embed="rId3"/>
          <a:stretch>
            <a:fillRect/>
          </a:stretch>
        </p:blipFill>
        <p:spPr>
          <a:xfrm>
            <a:off x="2084665" y="1200269"/>
            <a:ext cx="10460950" cy="5361861"/>
          </a:xfrm>
          <a:prstGeom prst="rect">
            <a:avLst/>
          </a:prstGeom>
        </p:spPr>
      </p:pic>
      <p:sp>
        <p:nvSpPr>
          <p:cNvPr id="4" name="Shape 1"/>
          <p:cNvSpPr/>
          <p:nvPr/>
        </p:nvSpPr>
        <p:spPr>
          <a:xfrm>
            <a:off x="5741789" y="6562130"/>
            <a:ext cx="165378" cy="165378"/>
          </a:xfrm>
          <a:prstGeom prst="roundRect">
            <a:avLst>
              <a:gd name="adj" fmla="val 11058"/>
            </a:avLst>
          </a:prstGeom>
          <a:solidFill>
            <a:srgbClr val="1770CF"/>
          </a:solidFill>
          <a:ln/>
        </p:spPr>
      </p:sp>
      <p:sp>
        <p:nvSpPr>
          <p:cNvPr id="5" name="Text 2"/>
          <p:cNvSpPr/>
          <p:nvPr/>
        </p:nvSpPr>
        <p:spPr>
          <a:xfrm>
            <a:off x="5968127" y="6562130"/>
            <a:ext cx="1270754" cy="165378"/>
          </a:xfrm>
          <a:prstGeom prst="rect">
            <a:avLst/>
          </a:prstGeom>
          <a:noFill/>
          <a:ln/>
        </p:spPr>
        <p:txBody>
          <a:bodyPr wrap="none" lIns="0" tIns="0" rIns="0" bIns="0" rtlCol="0" anchor="t"/>
          <a:lstStyle/>
          <a:p>
            <a:pPr marL="0" indent="0" algn="l">
              <a:lnSpc>
                <a:spcPts val="1300"/>
              </a:lnSpc>
              <a:buNone/>
            </a:pPr>
            <a:r>
              <a:rPr lang="en-US" sz="1300" dirty="0">
                <a:solidFill>
                  <a:srgbClr val="D6E5EF"/>
                </a:solidFill>
                <a:latin typeface="Roboto" pitchFamily="34" charset="0"/>
                <a:ea typeface="Roboto" pitchFamily="34" charset="-122"/>
                <a:cs typeface="Roboto" pitchFamily="34" charset="-120"/>
              </a:rPr>
              <a:t>Training Samples</a:t>
            </a:r>
            <a:endParaRPr lang="en-US" sz="1300" dirty="0"/>
          </a:p>
        </p:txBody>
      </p:sp>
      <p:sp>
        <p:nvSpPr>
          <p:cNvPr id="6" name="Shape 3"/>
          <p:cNvSpPr/>
          <p:nvPr/>
        </p:nvSpPr>
        <p:spPr>
          <a:xfrm>
            <a:off x="7391281" y="6562130"/>
            <a:ext cx="165378" cy="165378"/>
          </a:xfrm>
          <a:prstGeom prst="roundRect">
            <a:avLst>
              <a:gd name="adj" fmla="val 11058"/>
            </a:avLst>
          </a:prstGeom>
          <a:solidFill>
            <a:srgbClr val="75B1F0"/>
          </a:solidFill>
          <a:ln/>
        </p:spPr>
      </p:sp>
      <p:sp>
        <p:nvSpPr>
          <p:cNvPr id="7" name="Text 4"/>
          <p:cNvSpPr/>
          <p:nvPr/>
        </p:nvSpPr>
        <p:spPr>
          <a:xfrm>
            <a:off x="7617619" y="6562130"/>
            <a:ext cx="1210747" cy="165378"/>
          </a:xfrm>
          <a:prstGeom prst="rect">
            <a:avLst/>
          </a:prstGeom>
          <a:noFill/>
          <a:ln/>
        </p:spPr>
        <p:txBody>
          <a:bodyPr wrap="none" lIns="0" tIns="0" rIns="0" bIns="0" rtlCol="0" anchor="t"/>
          <a:lstStyle/>
          <a:p>
            <a:pPr marL="0" indent="0" algn="l">
              <a:lnSpc>
                <a:spcPts val="1300"/>
              </a:lnSpc>
              <a:buNone/>
            </a:pPr>
            <a:r>
              <a:rPr lang="en-US" sz="1300" dirty="0">
                <a:solidFill>
                  <a:srgbClr val="D6E5EF"/>
                </a:solidFill>
                <a:latin typeface="Roboto" pitchFamily="34" charset="0"/>
                <a:ea typeface="Roboto" pitchFamily="34" charset="-122"/>
                <a:cs typeface="Roboto" pitchFamily="34" charset="-120"/>
              </a:rPr>
              <a:t>Playlist Matches</a:t>
            </a:r>
            <a:endParaRPr lang="en-US" sz="1300" dirty="0"/>
          </a:p>
        </p:txBody>
      </p:sp>
      <p:sp>
        <p:nvSpPr>
          <p:cNvPr id="8" name="Text 5"/>
          <p:cNvSpPr/>
          <p:nvPr/>
        </p:nvSpPr>
        <p:spPr>
          <a:xfrm>
            <a:off x="2084665" y="7244358"/>
            <a:ext cx="10460950" cy="529114"/>
          </a:xfrm>
          <a:prstGeom prst="rect">
            <a:avLst/>
          </a:prstGeom>
          <a:noFill/>
          <a:ln/>
        </p:spPr>
        <p:txBody>
          <a:bodyPr wrap="square" lIns="0" tIns="0" rIns="0" bIns="0" rtlCol="0" anchor="t"/>
          <a:lstStyle/>
          <a:p>
            <a:pPr marL="0" indent="0" algn="l">
              <a:lnSpc>
                <a:spcPts val="2050"/>
              </a:lnSpc>
              <a:buNone/>
            </a:pPr>
            <a:r>
              <a:rPr lang="en-US" sz="1300" dirty="0">
                <a:solidFill>
                  <a:srgbClr val="D6E5EF"/>
                </a:solidFill>
                <a:latin typeface="Roboto" pitchFamily="34" charset="0"/>
                <a:ea typeface="Roboto" pitchFamily="34" charset="-122"/>
                <a:cs typeface="Roboto" pitchFamily="34" charset="-120"/>
              </a:rPr>
              <a:t>Class imbalance presented initial challenges, addressed through weighted loss functions and strategic data augmentation. Playlist mapping logic connects each emotion to curated collections based on valence-arousal modeling.</a:t>
            </a:r>
            <a:endParaRPr lang="en-US" sz="1300" dirty="0"/>
          </a:p>
        </p:txBody>
      </p:sp>
      <p:pic>
        <p:nvPicPr>
          <p:cNvPr id="10" name="Picture 9">
            <a:extLst>
              <a:ext uri="{FF2B5EF4-FFF2-40B4-BE49-F238E27FC236}">
                <a16:creationId xmlns:a16="http://schemas.microsoft.com/office/drawing/2014/main" id="{C68724B0-EFB6-DA2B-3F58-92106B41B815}"/>
              </a:ext>
            </a:extLst>
          </p:cNvPr>
          <p:cNvPicPr>
            <a:picLocks noChangeAspect="1"/>
          </p:cNvPicPr>
          <p:nvPr/>
        </p:nvPicPr>
        <p:blipFill>
          <a:blip r:embed="rId4"/>
          <a:stretch>
            <a:fillRect/>
          </a:stretch>
        </p:blipFill>
        <p:spPr>
          <a:xfrm>
            <a:off x="12354352" y="7773472"/>
            <a:ext cx="2141406" cy="4561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08409" y="896541"/>
            <a:ext cx="5486757" cy="434697"/>
          </a:xfrm>
          <a:prstGeom prst="rect">
            <a:avLst/>
          </a:prstGeom>
          <a:noFill/>
          <a:ln/>
        </p:spPr>
        <p:txBody>
          <a:bodyPr wrap="none" lIns="0" tIns="0" rIns="0" bIns="0" rtlCol="0" anchor="t"/>
          <a:lstStyle/>
          <a:p>
            <a:pPr marL="0" indent="0" algn="l">
              <a:lnSpc>
                <a:spcPts val="3400"/>
              </a:lnSpc>
              <a:buNone/>
            </a:pPr>
            <a:r>
              <a:rPr lang="en-US" sz="2700" dirty="0">
                <a:solidFill>
                  <a:srgbClr val="76B9FF"/>
                </a:solidFill>
                <a:latin typeface="Roboto Slab" pitchFamily="34" charset="0"/>
                <a:ea typeface="Roboto Slab" pitchFamily="34" charset="-122"/>
                <a:cs typeface="Roboto Slab" pitchFamily="34" charset="-120"/>
              </a:rPr>
              <a:t>System Integration &amp; Deployment</a:t>
            </a:r>
            <a:endParaRPr lang="en-US" sz="2700" dirty="0"/>
          </a:p>
        </p:txBody>
      </p:sp>
      <p:sp>
        <p:nvSpPr>
          <p:cNvPr id="4" name="Shape 1"/>
          <p:cNvSpPr/>
          <p:nvPr/>
        </p:nvSpPr>
        <p:spPr>
          <a:xfrm>
            <a:off x="608409" y="1591985"/>
            <a:ext cx="7927181" cy="1325523"/>
          </a:xfrm>
          <a:prstGeom prst="roundRect">
            <a:avLst>
              <a:gd name="adj" fmla="val 1967"/>
            </a:avLst>
          </a:prstGeom>
          <a:solidFill>
            <a:srgbClr val="202733"/>
          </a:solidFill>
          <a:ln w="22860">
            <a:solidFill>
              <a:srgbClr val="585F6B"/>
            </a:solidFill>
            <a:prstDash val="solid"/>
          </a:ln>
        </p:spPr>
      </p:sp>
      <p:sp>
        <p:nvSpPr>
          <p:cNvPr id="5" name="Shape 2"/>
          <p:cNvSpPr/>
          <p:nvPr/>
        </p:nvSpPr>
        <p:spPr>
          <a:xfrm>
            <a:off x="631269" y="1614845"/>
            <a:ext cx="695444" cy="1279803"/>
          </a:xfrm>
          <a:prstGeom prst="rect">
            <a:avLst/>
          </a:prstGeom>
          <a:solidFill>
            <a:srgbClr val="3F4652"/>
          </a:solidFill>
          <a:ln/>
        </p:spPr>
      </p:sp>
      <p:sp>
        <p:nvSpPr>
          <p:cNvPr id="6" name="Text 3"/>
          <p:cNvSpPr/>
          <p:nvPr/>
        </p:nvSpPr>
        <p:spPr>
          <a:xfrm>
            <a:off x="848558" y="2091690"/>
            <a:ext cx="260747" cy="325993"/>
          </a:xfrm>
          <a:prstGeom prst="rect">
            <a:avLst/>
          </a:prstGeom>
          <a:noFill/>
          <a:ln/>
        </p:spPr>
        <p:txBody>
          <a:bodyPr wrap="none" lIns="0" tIns="0" rIns="0" bIns="0" rtlCol="0" anchor="t"/>
          <a:lstStyle/>
          <a:p>
            <a:pPr marL="0" indent="0" algn="l">
              <a:lnSpc>
                <a:spcPts val="2050"/>
              </a:lnSpc>
              <a:buNone/>
            </a:pPr>
            <a:r>
              <a:rPr lang="en-US" sz="2050" dirty="0">
                <a:solidFill>
                  <a:srgbClr val="D6E5EF"/>
                </a:solidFill>
                <a:latin typeface="Roboto Slab" pitchFamily="34" charset="0"/>
                <a:ea typeface="Roboto Slab" pitchFamily="34" charset="-122"/>
                <a:cs typeface="Roboto Slab" pitchFamily="34" charset="-120"/>
              </a:rPr>
              <a:t>1</a:t>
            </a:r>
            <a:endParaRPr lang="en-US" sz="2050" dirty="0"/>
          </a:p>
        </p:txBody>
      </p:sp>
      <p:sp>
        <p:nvSpPr>
          <p:cNvPr id="7" name="Text 4"/>
          <p:cNvSpPr/>
          <p:nvPr/>
        </p:nvSpPr>
        <p:spPr>
          <a:xfrm>
            <a:off x="1500545" y="1788676"/>
            <a:ext cx="2173248" cy="271582"/>
          </a:xfrm>
          <a:prstGeom prst="rect">
            <a:avLst/>
          </a:prstGeom>
          <a:noFill/>
          <a:ln/>
        </p:spPr>
        <p:txBody>
          <a:bodyPr wrap="none" lIns="0" tIns="0" rIns="0" bIns="0" rtlCol="0" anchor="t"/>
          <a:lstStyle/>
          <a:p>
            <a:pPr marL="0" indent="0" algn="l">
              <a:lnSpc>
                <a:spcPts val="2100"/>
              </a:lnSpc>
              <a:buNone/>
            </a:pPr>
            <a:r>
              <a:rPr lang="en-US" sz="1700" dirty="0">
                <a:solidFill>
                  <a:srgbClr val="D6E5EF"/>
                </a:solidFill>
                <a:latin typeface="Roboto Slab" pitchFamily="34" charset="0"/>
                <a:ea typeface="Roboto Slab" pitchFamily="34" charset="-122"/>
                <a:cs typeface="Roboto Slab" pitchFamily="34" charset="-120"/>
              </a:rPr>
              <a:t>Flask Backend</a:t>
            </a:r>
            <a:endParaRPr lang="en-US" sz="1700" dirty="0"/>
          </a:p>
        </p:txBody>
      </p:sp>
      <p:sp>
        <p:nvSpPr>
          <p:cNvPr id="8" name="Text 5"/>
          <p:cNvSpPr/>
          <p:nvPr/>
        </p:nvSpPr>
        <p:spPr>
          <a:xfrm>
            <a:off x="1500545" y="2164556"/>
            <a:ext cx="6838355" cy="556260"/>
          </a:xfrm>
          <a:prstGeom prst="rect">
            <a:avLst/>
          </a:prstGeom>
          <a:noFill/>
          <a:ln/>
        </p:spPr>
        <p:txBody>
          <a:bodyPr wrap="square" lIns="0" tIns="0" rIns="0" bIns="0" rtlCol="0" anchor="t"/>
          <a:lstStyle/>
          <a:p>
            <a:pPr marL="0" indent="0" algn="l">
              <a:lnSpc>
                <a:spcPts val="2150"/>
              </a:lnSpc>
              <a:buNone/>
            </a:pPr>
            <a:r>
              <a:rPr lang="en-US" sz="1350" dirty="0">
                <a:solidFill>
                  <a:srgbClr val="D6E5EF"/>
                </a:solidFill>
                <a:latin typeface="Roboto" pitchFamily="34" charset="0"/>
                <a:ea typeface="Roboto" pitchFamily="34" charset="-122"/>
                <a:cs typeface="Roboto" pitchFamily="34" charset="-120"/>
              </a:rPr>
              <a:t>Lightweight web server handles HTTP requests and orchestrates model inference pipeline</a:t>
            </a:r>
            <a:endParaRPr lang="en-US" sz="1350" dirty="0"/>
          </a:p>
        </p:txBody>
      </p:sp>
      <p:sp>
        <p:nvSpPr>
          <p:cNvPr id="9" name="Shape 6"/>
          <p:cNvSpPr/>
          <p:nvPr/>
        </p:nvSpPr>
        <p:spPr>
          <a:xfrm>
            <a:off x="608409" y="3091339"/>
            <a:ext cx="7927181" cy="1047393"/>
          </a:xfrm>
          <a:prstGeom prst="roundRect">
            <a:avLst>
              <a:gd name="adj" fmla="val 2490"/>
            </a:avLst>
          </a:prstGeom>
          <a:solidFill>
            <a:srgbClr val="202733"/>
          </a:solidFill>
          <a:ln w="22860">
            <a:solidFill>
              <a:srgbClr val="585F6B"/>
            </a:solidFill>
            <a:prstDash val="solid"/>
          </a:ln>
        </p:spPr>
      </p:sp>
      <p:sp>
        <p:nvSpPr>
          <p:cNvPr id="10" name="Shape 7"/>
          <p:cNvSpPr/>
          <p:nvPr/>
        </p:nvSpPr>
        <p:spPr>
          <a:xfrm>
            <a:off x="631269" y="3114199"/>
            <a:ext cx="695444" cy="1001673"/>
          </a:xfrm>
          <a:prstGeom prst="rect">
            <a:avLst/>
          </a:prstGeom>
          <a:solidFill>
            <a:srgbClr val="3F4652"/>
          </a:solidFill>
          <a:ln/>
        </p:spPr>
      </p:sp>
      <p:sp>
        <p:nvSpPr>
          <p:cNvPr id="11" name="Text 8"/>
          <p:cNvSpPr/>
          <p:nvPr/>
        </p:nvSpPr>
        <p:spPr>
          <a:xfrm>
            <a:off x="848558" y="3451979"/>
            <a:ext cx="260747" cy="325993"/>
          </a:xfrm>
          <a:prstGeom prst="rect">
            <a:avLst/>
          </a:prstGeom>
          <a:noFill/>
          <a:ln/>
        </p:spPr>
        <p:txBody>
          <a:bodyPr wrap="none" lIns="0" tIns="0" rIns="0" bIns="0" rtlCol="0" anchor="t"/>
          <a:lstStyle/>
          <a:p>
            <a:pPr marL="0" indent="0" algn="l">
              <a:lnSpc>
                <a:spcPts val="2050"/>
              </a:lnSpc>
              <a:buNone/>
            </a:pPr>
            <a:r>
              <a:rPr lang="en-US" sz="2050" dirty="0">
                <a:solidFill>
                  <a:srgbClr val="D6E5EF"/>
                </a:solidFill>
                <a:latin typeface="Roboto Slab" pitchFamily="34" charset="0"/>
                <a:ea typeface="Roboto Slab" pitchFamily="34" charset="-122"/>
                <a:cs typeface="Roboto Slab" pitchFamily="34" charset="-120"/>
              </a:rPr>
              <a:t>2</a:t>
            </a:r>
            <a:endParaRPr lang="en-US" sz="2050" dirty="0"/>
          </a:p>
        </p:txBody>
      </p:sp>
      <p:sp>
        <p:nvSpPr>
          <p:cNvPr id="12" name="Text 9"/>
          <p:cNvSpPr/>
          <p:nvPr/>
        </p:nvSpPr>
        <p:spPr>
          <a:xfrm>
            <a:off x="1500545" y="3288030"/>
            <a:ext cx="2173248" cy="271582"/>
          </a:xfrm>
          <a:prstGeom prst="rect">
            <a:avLst/>
          </a:prstGeom>
          <a:noFill/>
          <a:ln/>
        </p:spPr>
        <p:txBody>
          <a:bodyPr wrap="none" lIns="0" tIns="0" rIns="0" bIns="0" rtlCol="0" anchor="t"/>
          <a:lstStyle/>
          <a:p>
            <a:pPr marL="0" indent="0" algn="l">
              <a:lnSpc>
                <a:spcPts val="2100"/>
              </a:lnSpc>
              <a:buNone/>
            </a:pPr>
            <a:r>
              <a:rPr lang="en-US" sz="1700" dirty="0">
                <a:solidFill>
                  <a:srgbClr val="D6E5EF"/>
                </a:solidFill>
                <a:latin typeface="Roboto Slab" pitchFamily="34" charset="0"/>
                <a:ea typeface="Roboto Slab" pitchFamily="34" charset="-122"/>
                <a:cs typeface="Roboto Slab" pitchFamily="34" charset="-120"/>
              </a:rPr>
              <a:t>Model Serving</a:t>
            </a:r>
            <a:endParaRPr lang="en-US" sz="1700" dirty="0"/>
          </a:p>
        </p:txBody>
      </p:sp>
      <p:sp>
        <p:nvSpPr>
          <p:cNvPr id="13" name="Text 10"/>
          <p:cNvSpPr/>
          <p:nvPr/>
        </p:nvSpPr>
        <p:spPr>
          <a:xfrm>
            <a:off x="1500545" y="3663910"/>
            <a:ext cx="6838355" cy="278130"/>
          </a:xfrm>
          <a:prstGeom prst="rect">
            <a:avLst/>
          </a:prstGeom>
          <a:noFill/>
          <a:ln/>
        </p:spPr>
        <p:txBody>
          <a:bodyPr wrap="none" lIns="0" tIns="0" rIns="0" bIns="0" rtlCol="0" anchor="t"/>
          <a:lstStyle/>
          <a:p>
            <a:pPr marL="0" indent="0" algn="l">
              <a:lnSpc>
                <a:spcPts val="2150"/>
              </a:lnSpc>
              <a:buNone/>
            </a:pPr>
            <a:r>
              <a:rPr lang="en-US" sz="1350" dirty="0">
                <a:solidFill>
                  <a:srgbClr val="D6E5EF"/>
                </a:solidFill>
                <a:latin typeface="Roboto" pitchFamily="34" charset="0"/>
                <a:ea typeface="Roboto" pitchFamily="34" charset="-122"/>
                <a:cs typeface="Roboto" pitchFamily="34" charset="-120"/>
              </a:rPr>
              <a:t>TensorFlow model loaded into memory for sub-second prediction latency</a:t>
            </a:r>
            <a:endParaRPr lang="en-US" sz="1350" dirty="0"/>
          </a:p>
        </p:txBody>
      </p:sp>
      <p:sp>
        <p:nvSpPr>
          <p:cNvPr id="14" name="Shape 11"/>
          <p:cNvSpPr/>
          <p:nvPr/>
        </p:nvSpPr>
        <p:spPr>
          <a:xfrm>
            <a:off x="608409" y="4312563"/>
            <a:ext cx="7927181" cy="1047393"/>
          </a:xfrm>
          <a:prstGeom prst="roundRect">
            <a:avLst>
              <a:gd name="adj" fmla="val 2490"/>
            </a:avLst>
          </a:prstGeom>
          <a:solidFill>
            <a:srgbClr val="202733"/>
          </a:solidFill>
          <a:ln w="22860">
            <a:solidFill>
              <a:srgbClr val="585F6B"/>
            </a:solidFill>
            <a:prstDash val="solid"/>
          </a:ln>
        </p:spPr>
      </p:sp>
      <p:sp>
        <p:nvSpPr>
          <p:cNvPr id="15" name="Shape 12"/>
          <p:cNvSpPr/>
          <p:nvPr/>
        </p:nvSpPr>
        <p:spPr>
          <a:xfrm>
            <a:off x="631269" y="4335423"/>
            <a:ext cx="695444" cy="1001673"/>
          </a:xfrm>
          <a:prstGeom prst="rect">
            <a:avLst/>
          </a:prstGeom>
          <a:solidFill>
            <a:srgbClr val="3F4652"/>
          </a:solidFill>
          <a:ln/>
        </p:spPr>
      </p:sp>
      <p:sp>
        <p:nvSpPr>
          <p:cNvPr id="16" name="Text 13"/>
          <p:cNvSpPr/>
          <p:nvPr/>
        </p:nvSpPr>
        <p:spPr>
          <a:xfrm>
            <a:off x="848558" y="4673203"/>
            <a:ext cx="260747" cy="325993"/>
          </a:xfrm>
          <a:prstGeom prst="rect">
            <a:avLst/>
          </a:prstGeom>
          <a:noFill/>
          <a:ln/>
        </p:spPr>
        <p:txBody>
          <a:bodyPr wrap="none" lIns="0" tIns="0" rIns="0" bIns="0" rtlCol="0" anchor="t"/>
          <a:lstStyle/>
          <a:p>
            <a:pPr marL="0" indent="0" algn="l">
              <a:lnSpc>
                <a:spcPts val="2050"/>
              </a:lnSpc>
              <a:buNone/>
            </a:pPr>
            <a:r>
              <a:rPr lang="en-US" sz="2050" dirty="0">
                <a:solidFill>
                  <a:srgbClr val="D6E5EF"/>
                </a:solidFill>
                <a:latin typeface="Roboto Slab" pitchFamily="34" charset="0"/>
                <a:ea typeface="Roboto Slab" pitchFamily="34" charset="-122"/>
                <a:cs typeface="Roboto Slab" pitchFamily="34" charset="-120"/>
              </a:rPr>
              <a:t>3</a:t>
            </a:r>
            <a:endParaRPr lang="en-US" sz="2050" dirty="0"/>
          </a:p>
        </p:txBody>
      </p:sp>
      <p:sp>
        <p:nvSpPr>
          <p:cNvPr id="17" name="Text 14"/>
          <p:cNvSpPr/>
          <p:nvPr/>
        </p:nvSpPr>
        <p:spPr>
          <a:xfrm>
            <a:off x="1500545" y="4509254"/>
            <a:ext cx="2261592" cy="271582"/>
          </a:xfrm>
          <a:prstGeom prst="rect">
            <a:avLst/>
          </a:prstGeom>
          <a:noFill/>
          <a:ln/>
        </p:spPr>
        <p:txBody>
          <a:bodyPr wrap="none" lIns="0" tIns="0" rIns="0" bIns="0" rtlCol="0" anchor="t"/>
          <a:lstStyle/>
          <a:p>
            <a:pPr marL="0" indent="0" algn="l">
              <a:lnSpc>
                <a:spcPts val="2100"/>
              </a:lnSpc>
              <a:buNone/>
            </a:pPr>
            <a:r>
              <a:rPr lang="en-US" sz="1700" dirty="0">
                <a:solidFill>
                  <a:srgbClr val="D6E5EF"/>
                </a:solidFill>
                <a:latin typeface="Roboto Slab" pitchFamily="34" charset="0"/>
                <a:ea typeface="Roboto Slab" pitchFamily="34" charset="-122"/>
                <a:cs typeface="Roboto Slab" pitchFamily="34" charset="-120"/>
              </a:rPr>
              <a:t>WebSocket Streaming</a:t>
            </a:r>
            <a:endParaRPr lang="en-US" sz="1700" dirty="0"/>
          </a:p>
        </p:txBody>
      </p:sp>
      <p:sp>
        <p:nvSpPr>
          <p:cNvPr id="18" name="Text 15"/>
          <p:cNvSpPr/>
          <p:nvPr/>
        </p:nvSpPr>
        <p:spPr>
          <a:xfrm>
            <a:off x="1500545" y="4885134"/>
            <a:ext cx="6838355" cy="278130"/>
          </a:xfrm>
          <a:prstGeom prst="rect">
            <a:avLst/>
          </a:prstGeom>
          <a:noFill/>
          <a:ln/>
        </p:spPr>
        <p:txBody>
          <a:bodyPr wrap="none" lIns="0" tIns="0" rIns="0" bIns="0" rtlCol="0" anchor="t"/>
          <a:lstStyle/>
          <a:p>
            <a:pPr marL="0" indent="0" algn="l">
              <a:lnSpc>
                <a:spcPts val="2150"/>
              </a:lnSpc>
              <a:buNone/>
            </a:pPr>
            <a:r>
              <a:rPr lang="en-US" sz="1350" dirty="0">
                <a:solidFill>
                  <a:srgbClr val="D6E5EF"/>
                </a:solidFill>
                <a:latin typeface="Roboto" pitchFamily="34" charset="0"/>
                <a:ea typeface="Roboto" pitchFamily="34" charset="-122"/>
                <a:cs typeface="Roboto" pitchFamily="34" charset="-120"/>
              </a:rPr>
              <a:t>Real-time bidirectional communication between frontend and inference engine</a:t>
            </a:r>
            <a:endParaRPr lang="en-US" sz="1350" dirty="0"/>
          </a:p>
        </p:txBody>
      </p:sp>
      <p:sp>
        <p:nvSpPr>
          <p:cNvPr id="19" name="Shape 16"/>
          <p:cNvSpPr/>
          <p:nvPr/>
        </p:nvSpPr>
        <p:spPr>
          <a:xfrm>
            <a:off x="608409" y="5533787"/>
            <a:ext cx="7927181" cy="1047393"/>
          </a:xfrm>
          <a:prstGeom prst="roundRect">
            <a:avLst>
              <a:gd name="adj" fmla="val 2490"/>
            </a:avLst>
          </a:prstGeom>
          <a:solidFill>
            <a:srgbClr val="202733"/>
          </a:solidFill>
          <a:ln w="22860">
            <a:solidFill>
              <a:srgbClr val="585F6B"/>
            </a:solidFill>
            <a:prstDash val="solid"/>
          </a:ln>
        </p:spPr>
      </p:sp>
      <p:sp>
        <p:nvSpPr>
          <p:cNvPr id="20" name="Shape 17"/>
          <p:cNvSpPr/>
          <p:nvPr/>
        </p:nvSpPr>
        <p:spPr>
          <a:xfrm>
            <a:off x="631269" y="5556647"/>
            <a:ext cx="695444" cy="1001673"/>
          </a:xfrm>
          <a:prstGeom prst="rect">
            <a:avLst/>
          </a:prstGeom>
          <a:solidFill>
            <a:srgbClr val="3F4652"/>
          </a:solidFill>
          <a:ln/>
        </p:spPr>
      </p:sp>
      <p:sp>
        <p:nvSpPr>
          <p:cNvPr id="21" name="Text 18"/>
          <p:cNvSpPr/>
          <p:nvPr/>
        </p:nvSpPr>
        <p:spPr>
          <a:xfrm>
            <a:off x="848558" y="5894427"/>
            <a:ext cx="260747" cy="325993"/>
          </a:xfrm>
          <a:prstGeom prst="rect">
            <a:avLst/>
          </a:prstGeom>
          <a:noFill/>
          <a:ln/>
        </p:spPr>
        <p:txBody>
          <a:bodyPr wrap="none" lIns="0" tIns="0" rIns="0" bIns="0" rtlCol="0" anchor="t"/>
          <a:lstStyle/>
          <a:p>
            <a:pPr marL="0" indent="0" algn="l">
              <a:lnSpc>
                <a:spcPts val="2050"/>
              </a:lnSpc>
              <a:buNone/>
            </a:pPr>
            <a:r>
              <a:rPr lang="en-US" sz="2050" dirty="0">
                <a:solidFill>
                  <a:srgbClr val="D6E5EF"/>
                </a:solidFill>
                <a:latin typeface="Roboto Slab" pitchFamily="34" charset="0"/>
                <a:ea typeface="Roboto Slab" pitchFamily="34" charset="-122"/>
                <a:cs typeface="Roboto Slab" pitchFamily="34" charset="-120"/>
              </a:rPr>
              <a:t>4</a:t>
            </a:r>
            <a:endParaRPr lang="en-US" sz="2050" dirty="0"/>
          </a:p>
        </p:txBody>
      </p:sp>
      <p:sp>
        <p:nvSpPr>
          <p:cNvPr id="22" name="Text 19"/>
          <p:cNvSpPr/>
          <p:nvPr/>
        </p:nvSpPr>
        <p:spPr>
          <a:xfrm>
            <a:off x="1500545" y="5730478"/>
            <a:ext cx="2173248" cy="271582"/>
          </a:xfrm>
          <a:prstGeom prst="rect">
            <a:avLst/>
          </a:prstGeom>
          <a:noFill/>
          <a:ln/>
        </p:spPr>
        <p:txBody>
          <a:bodyPr wrap="none" lIns="0" tIns="0" rIns="0" bIns="0" rtlCol="0" anchor="t"/>
          <a:lstStyle/>
          <a:p>
            <a:pPr marL="0" indent="0" algn="l">
              <a:lnSpc>
                <a:spcPts val="2100"/>
              </a:lnSpc>
              <a:buNone/>
            </a:pPr>
            <a:r>
              <a:rPr lang="en-US" sz="1700" dirty="0">
                <a:solidFill>
                  <a:srgbClr val="D6E5EF"/>
                </a:solidFill>
                <a:latin typeface="Roboto Slab" pitchFamily="34" charset="0"/>
                <a:ea typeface="Roboto Slab" pitchFamily="34" charset="-122"/>
                <a:cs typeface="Roboto Slab" pitchFamily="34" charset="-120"/>
              </a:rPr>
              <a:t>Playlist API</a:t>
            </a:r>
            <a:endParaRPr lang="en-US" sz="1700" dirty="0"/>
          </a:p>
        </p:txBody>
      </p:sp>
      <p:sp>
        <p:nvSpPr>
          <p:cNvPr id="23" name="Text 20"/>
          <p:cNvSpPr/>
          <p:nvPr/>
        </p:nvSpPr>
        <p:spPr>
          <a:xfrm>
            <a:off x="1500545" y="6106358"/>
            <a:ext cx="6838355" cy="278130"/>
          </a:xfrm>
          <a:prstGeom prst="rect">
            <a:avLst/>
          </a:prstGeom>
          <a:noFill/>
          <a:ln/>
        </p:spPr>
        <p:txBody>
          <a:bodyPr wrap="none" lIns="0" tIns="0" rIns="0" bIns="0" rtlCol="0" anchor="t"/>
          <a:lstStyle/>
          <a:p>
            <a:pPr marL="0" indent="0" algn="l">
              <a:lnSpc>
                <a:spcPts val="2150"/>
              </a:lnSpc>
              <a:buNone/>
            </a:pPr>
            <a:r>
              <a:rPr lang="en-US" sz="1350" dirty="0">
                <a:solidFill>
                  <a:srgbClr val="D6E5EF"/>
                </a:solidFill>
                <a:latin typeface="Roboto" pitchFamily="34" charset="0"/>
                <a:ea typeface="Roboto" pitchFamily="34" charset="-122"/>
                <a:cs typeface="Roboto" pitchFamily="34" charset="-120"/>
              </a:rPr>
              <a:t>RESTful endpoints serve emotion-matched track recommendations</a:t>
            </a:r>
            <a:endParaRPr lang="en-US" sz="1350" dirty="0"/>
          </a:p>
        </p:txBody>
      </p:sp>
      <p:sp>
        <p:nvSpPr>
          <p:cNvPr id="24" name="Text 21"/>
          <p:cNvSpPr/>
          <p:nvPr/>
        </p:nvSpPr>
        <p:spPr>
          <a:xfrm>
            <a:off x="608409" y="6776680"/>
            <a:ext cx="7927181" cy="556260"/>
          </a:xfrm>
          <a:prstGeom prst="rect">
            <a:avLst/>
          </a:prstGeom>
          <a:noFill/>
          <a:ln/>
        </p:spPr>
        <p:txBody>
          <a:bodyPr wrap="square" lIns="0" tIns="0" rIns="0" bIns="0" rtlCol="0" anchor="t"/>
          <a:lstStyle/>
          <a:p>
            <a:pPr marL="0" indent="0" algn="l">
              <a:lnSpc>
                <a:spcPts val="2150"/>
              </a:lnSpc>
              <a:buNone/>
            </a:pPr>
            <a:r>
              <a:rPr lang="en-US" sz="1350" dirty="0">
                <a:solidFill>
                  <a:srgbClr val="D6E5EF"/>
                </a:solidFill>
                <a:latin typeface="Roboto" pitchFamily="34" charset="0"/>
                <a:ea typeface="Roboto" pitchFamily="34" charset="-122"/>
                <a:cs typeface="Roboto" pitchFamily="34" charset="-120"/>
              </a:rPr>
              <a:t>The system achieves end-to-end latency of under 500ms from frame capture to playlist delivery, enabling truly real-time affective experiences.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2483406" y="420053"/>
            <a:ext cx="1943219" cy="287060"/>
          </a:xfrm>
          <a:prstGeom prst="roundRect">
            <a:avLst>
              <a:gd name="adj" fmla="val 6387"/>
            </a:avLst>
          </a:prstGeom>
          <a:solidFill>
            <a:srgbClr val="082545"/>
          </a:solidFill>
          <a:ln/>
        </p:spPr>
      </p:sp>
      <p:sp>
        <p:nvSpPr>
          <p:cNvPr id="3" name="Text 1"/>
          <p:cNvSpPr/>
          <p:nvPr/>
        </p:nvSpPr>
        <p:spPr>
          <a:xfrm>
            <a:off x="2574965" y="465773"/>
            <a:ext cx="1760101" cy="195620"/>
          </a:xfrm>
          <a:prstGeom prst="rect">
            <a:avLst/>
          </a:prstGeom>
          <a:noFill/>
          <a:ln/>
        </p:spPr>
        <p:txBody>
          <a:bodyPr wrap="none" lIns="0" tIns="0" rIns="0" bIns="0" rtlCol="0" anchor="t"/>
          <a:lstStyle/>
          <a:p>
            <a:pPr marL="0" indent="0" algn="l">
              <a:lnSpc>
                <a:spcPts val="1500"/>
              </a:lnSpc>
              <a:buNone/>
            </a:pPr>
            <a:r>
              <a:rPr lang="en-US" sz="950" dirty="0">
                <a:solidFill>
                  <a:srgbClr val="D6E5EF"/>
                </a:solidFill>
                <a:latin typeface="Roboto" pitchFamily="34" charset="0"/>
                <a:ea typeface="Roboto" pitchFamily="34" charset="-122"/>
                <a:cs typeface="Roboto" pitchFamily="34" charset="-120"/>
              </a:rPr>
              <a:t>GLASSMORPHISM DASHBOARD</a:t>
            </a:r>
            <a:endParaRPr lang="en-US" sz="950" dirty="0"/>
          </a:p>
        </p:txBody>
      </p:sp>
      <p:sp>
        <p:nvSpPr>
          <p:cNvPr id="4" name="Text 2"/>
          <p:cNvSpPr/>
          <p:nvPr/>
        </p:nvSpPr>
        <p:spPr>
          <a:xfrm>
            <a:off x="2483406" y="768191"/>
            <a:ext cx="4611648" cy="477441"/>
          </a:xfrm>
          <a:prstGeom prst="rect">
            <a:avLst/>
          </a:prstGeom>
          <a:noFill/>
          <a:ln/>
        </p:spPr>
        <p:txBody>
          <a:bodyPr wrap="none" lIns="0" tIns="0" rIns="0" bIns="0" rtlCol="0" anchor="t"/>
          <a:lstStyle/>
          <a:p>
            <a:pPr marL="0" indent="0" algn="l">
              <a:lnSpc>
                <a:spcPts val="3750"/>
              </a:lnSpc>
              <a:buNone/>
            </a:pPr>
            <a:r>
              <a:rPr lang="en-US" sz="3000" dirty="0">
                <a:solidFill>
                  <a:srgbClr val="76B9FF"/>
                </a:solidFill>
                <a:latin typeface="Roboto Slab" pitchFamily="34" charset="0"/>
                <a:ea typeface="Roboto Slab" pitchFamily="34" charset="-122"/>
                <a:cs typeface="Roboto Slab" pitchFamily="34" charset="-120"/>
              </a:rPr>
              <a:t>User Interface (UI) Design</a:t>
            </a:r>
            <a:endParaRPr lang="en-US" sz="3000" dirty="0"/>
          </a:p>
        </p:txBody>
      </p:sp>
      <p:sp>
        <p:nvSpPr>
          <p:cNvPr id="5" name="Text 3"/>
          <p:cNvSpPr/>
          <p:nvPr/>
        </p:nvSpPr>
        <p:spPr>
          <a:xfrm>
            <a:off x="2483406" y="1306711"/>
            <a:ext cx="4955619" cy="381833"/>
          </a:xfrm>
          <a:prstGeom prst="rect">
            <a:avLst/>
          </a:prstGeom>
          <a:noFill/>
          <a:ln/>
        </p:spPr>
        <p:txBody>
          <a:bodyPr wrap="none" lIns="0" tIns="0" rIns="0" bIns="0" rtlCol="0" anchor="t"/>
          <a:lstStyle/>
          <a:p>
            <a:pPr marL="0" indent="0" algn="l">
              <a:lnSpc>
                <a:spcPts val="3000"/>
              </a:lnSpc>
              <a:buNone/>
            </a:pPr>
            <a:r>
              <a:rPr lang="en-US" sz="2400" dirty="0">
                <a:solidFill>
                  <a:srgbClr val="76B9FF"/>
                </a:solidFill>
                <a:latin typeface="Roboto Slab" pitchFamily="34" charset="0"/>
                <a:ea typeface="Roboto Slab" pitchFamily="34" charset="-122"/>
                <a:cs typeface="Roboto Slab" pitchFamily="34" charset="-120"/>
              </a:rPr>
              <a:t>Glassmorphism Dashboard Design</a:t>
            </a:r>
            <a:endParaRPr lang="en-US" sz="2400" dirty="0"/>
          </a:p>
        </p:txBody>
      </p:sp>
      <p:sp>
        <p:nvSpPr>
          <p:cNvPr id="6" name="Text 4"/>
          <p:cNvSpPr/>
          <p:nvPr/>
        </p:nvSpPr>
        <p:spPr>
          <a:xfrm>
            <a:off x="2483406" y="1917621"/>
            <a:ext cx="9663589" cy="732949"/>
          </a:xfrm>
          <a:prstGeom prst="rect">
            <a:avLst/>
          </a:prstGeom>
          <a:noFill/>
          <a:ln/>
        </p:spPr>
        <p:txBody>
          <a:bodyPr wrap="square" lIns="0" tIns="0" rIns="0" bIns="0" rtlCol="0" anchor="t"/>
          <a:lstStyle/>
          <a:p>
            <a:pPr marL="0" indent="0" algn="l">
              <a:lnSpc>
                <a:spcPts val="1900"/>
              </a:lnSpc>
              <a:buNone/>
            </a:pPr>
            <a:r>
              <a:rPr lang="en-US" sz="1200" dirty="0">
                <a:solidFill>
                  <a:srgbClr val="D6E5EF"/>
                </a:solidFill>
                <a:latin typeface="Roboto" pitchFamily="34" charset="0"/>
                <a:ea typeface="Roboto" pitchFamily="34" charset="-122"/>
                <a:cs typeface="Roboto" pitchFamily="34" charset="-120"/>
              </a:rPr>
              <a:t>The user interface is crafted with a modern Glassmorphism aesthetic, providing a sleek, intuitive, and highly functional dashboard for real-time emotional feedback and system control. This design approach enhances visual hierarchy and user engagement through transparent, blurred elements and vibrant accents.</a:t>
            </a:r>
            <a:endParaRPr lang="en-US" sz="1200" dirty="0"/>
          </a:p>
        </p:txBody>
      </p:sp>
      <p:sp>
        <p:nvSpPr>
          <p:cNvPr id="7" name="Text 5"/>
          <p:cNvSpPr/>
          <p:nvPr/>
        </p:nvSpPr>
        <p:spPr>
          <a:xfrm>
            <a:off x="2483406" y="2975134"/>
            <a:ext cx="2208014" cy="238720"/>
          </a:xfrm>
          <a:prstGeom prst="rect">
            <a:avLst/>
          </a:prstGeom>
          <a:noFill/>
          <a:ln/>
        </p:spPr>
        <p:txBody>
          <a:bodyPr wrap="none" lIns="0" tIns="0" rIns="0" bIns="0" rtlCol="0" anchor="t"/>
          <a:lstStyle/>
          <a:p>
            <a:pPr marL="0" indent="0" algn="l">
              <a:lnSpc>
                <a:spcPts val="1850"/>
              </a:lnSpc>
              <a:buNone/>
            </a:pPr>
            <a:r>
              <a:rPr lang="en-US" sz="1500" dirty="0">
                <a:solidFill>
                  <a:srgbClr val="76B9FF"/>
                </a:solidFill>
                <a:latin typeface="Roboto Slab" pitchFamily="34" charset="0"/>
                <a:ea typeface="Roboto Slab" pitchFamily="34" charset="-122"/>
                <a:cs typeface="Roboto Slab" pitchFamily="34" charset="-120"/>
              </a:rPr>
              <a:t>Key Dashboard Features:</a:t>
            </a:r>
            <a:endParaRPr lang="en-US" sz="1500" dirty="0"/>
          </a:p>
        </p:txBody>
      </p:sp>
      <p:sp>
        <p:nvSpPr>
          <p:cNvPr id="8" name="Text 6"/>
          <p:cNvSpPr/>
          <p:nvPr/>
        </p:nvSpPr>
        <p:spPr>
          <a:xfrm>
            <a:off x="2483406" y="3366611"/>
            <a:ext cx="4645462" cy="977265"/>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6E5EF"/>
                </a:solidFill>
                <a:latin typeface="Roboto" pitchFamily="34" charset="0"/>
                <a:ea typeface="Roboto" pitchFamily="34" charset="-122"/>
                <a:cs typeface="Roboto" pitchFamily="34" charset="-120"/>
              </a:rPr>
              <a:t>Live 'Vibe Proportion' Charts:</a:t>
            </a:r>
            <a:r>
              <a:rPr lang="en-US" sz="1200" dirty="0">
                <a:solidFill>
                  <a:srgbClr val="D6E5EF"/>
                </a:solidFill>
                <a:latin typeface="Roboto" pitchFamily="34" charset="0"/>
                <a:ea typeface="Roboto" pitchFamily="34" charset="-122"/>
                <a:cs typeface="Roboto" pitchFamily="34" charset="-120"/>
              </a:rPr>
              <a:t> Dynamic graphical representations displaying the real-time distribution of detected emotions (e.g., joy, sadness, anger), providing instant quantifiable insights into user affect.</a:t>
            </a:r>
            <a:endParaRPr lang="en-US" sz="1200" dirty="0"/>
          </a:p>
        </p:txBody>
      </p:sp>
      <p:sp>
        <p:nvSpPr>
          <p:cNvPr id="9" name="Text 7"/>
          <p:cNvSpPr/>
          <p:nvPr/>
        </p:nvSpPr>
        <p:spPr>
          <a:xfrm>
            <a:off x="2483406" y="4397335"/>
            <a:ext cx="4645462" cy="977265"/>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6E5EF"/>
                </a:solidFill>
                <a:latin typeface="Roboto" pitchFamily="34" charset="0"/>
                <a:ea typeface="Roboto" pitchFamily="34" charset="-122"/>
                <a:cs typeface="Roboto" pitchFamily="34" charset="-120"/>
              </a:rPr>
              <a:t>Automated Color-Theming:</a:t>
            </a:r>
            <a:r>
              <a:rPr lang="en-US" sz="1200" dirty="0">
                <a:solidFill>
                  <a:srgbClr val="D6E5EF"/>
                </a:solidFill>
                <a:latin typeface="Roboto" pitchFamily="34" charset="0"/>
                <a:ea typeface="Roboto" pitchFamily="34" charset="-122"/>
                <a:cs typeface="Roboto" pitchFamily="34" charset="-120"/>
              </a:rPr>
              <a:t> The dashboard's visual theme intelligently adapts its color palette based on the predominant detected emotion, creating an immersive and contextually relevant user experience.</a:t>
            </a:r>
            <a:endParaRPr lang="en-US" sz="1200" dirty="0"/>
          </a:p>
        </p:txBody>
      </p:sp>
      <p:sp>
        <p:nvSpPr>
          <p:cNvPr id="10" name="Text 8"/>
          <p:cNvSpPr/>
          <p:nvPr/>
        </p:nvSpPr>
        <p:spPr>
          <a:xfrm>
            <a:off x="2483406" y="5428059"/>
            <a:ext cx="4645462" cy="732949"/>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6E5EF"/>
                </a:solidFill>
                <a:latin typeface="Roboto" pitchFamily="34" charset="0"/>
                <a:ea typeface="Roboto" pitchFamily="34" charset="-122"/>
                <a:cs typeface="Roboto" pitchFamily="34" charset="-120"/>
              </a:rPr>
              <a:t>Interactive Emotion States Visualization:</a:t>
            </a:r>
            <a:r>
              <a:rPr lang="en-US" sz="1200" dirty="0">
                <a:solidFill>
                  <a:srgbClr val="D6E5EF"/>
                </a:solidFill>
                <a:latin typeface="Roboto" pitchFamily="34" charset="0"/>
                <a:ea typeface="Roboto" pitchFamily="34" charset="-122"/>
                <a:cs typeface="Roboto" pitchFamily="34" charset="-120"/>
              </a:rPr>
              <a:t> Engaging visual elements allow users to explore and understand their current and historical emotional states, offering deeper self-awareness.</a:t>
            </a:r>
            <a:endParaRPr lang="en-US" sz="1200" dirty="0"/>
          </a:p>
        </p:txBody>
      </p:sp>
      <p:sp>
        <p:nvSpPr>
          <p:cNvPr id="11" name="Text 9"/>
          <p:cNvSpPr/>
          <p:nvPr/>
        </p:nvSpPr>
        <p:spPr>
          <a:xfrm>
            <a:off x="2483406" y="6214467"/>
            <a:ext cx="4645462" cy="977265"/>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6E5EF"/>
                </a:solidFill>
                <a:latin typeface="Roboto" pitchFamily="34" charset="0"/>
                <a:ea typeface="Roboto" pitchFamily="34" charset="-122"/>
                <a:cs typeface="Roboto" pitchFamily="34" charset="-120"/>
              </a:rPr>
              <a:t>Responsive Design:</a:t>
            </a:r>
            <a:r>
              <a:rPr lang="en-US" sz="1200" dirty="0">
                <a:solidFill>
                  <a:srgbClr val="D6E5EF"/>
                </a:solidFill>
                <a:latin typeface="Roboto" pitchFamily="34" charset="0"/>
                <a:ea typeface="Roboto" pitchFamily="34" charset="-122"/>
                <a:cs typeface="Roboto" pitchFamily="34" charset="-120"/>
              </a:rPr>
              <a:t> Optimized for seamless performance and aesthetic consistency across a range of devices, from desktops to mobile interfaces, ensuring accessibility and usability anytime, anywhere.</a:t>
            </a:r>
            <a:endParaRPr lang="en-US" sz="1200" dirty="0"/>
          </a:p>
        </p:txBody>
      </p:sp>
      <p:pic>
        <p:nvPicPr>
          <p:cNvPr id="12" name="Image 0" descr="preencoded.png"/>
          <p:cNvPicPr>
            <a:picLocks noChangeAspect="1"/>
          </p:cNvPicPr>
          <p:nvPr/>
        </p:nvPicPr>
        <p:blipFill>
          <a:blip r:embed="rId3"/>
          <a:stretch>
            <a:fillRect/>
          </a:stretch>
        </p:blipFill>
        <p:spPr>
          <a:xfrm>
            <a:off x="7509153" y="2994184"/>
            <a:ext cx="4645462" cy="4645462"/>
          </a:xfrm>
          <a:prstGeom prst="rect">
            <a:avLst/>
          </a:prstGeom>
        </p:spPr>
      </p:pic>
      <p:pic>
        <p:nvPicPr>
          <p:cNvPr id="14" name="Picture 13">
            <a:extLst>
              <a:ext uri="{FF2B5EF4-FFF2-40B4-BE49-F238E27FC236}">
                <a16:creationId xmlns:a16="http://schemas.microsoft.com/office/drawing/2014/main" id="{45C14839-8C40-1E5F-DFE3-19F2E6140BC2}"/>
              </a:ext>
            </a:extLst>
          </p:cNvPr>
          <p:cNvPicPr>
            <a:picLocks noChangeAspect="1"/>
          </p:cNvPicPr>
          <p:nvPr/>
        </p:nvPicPr>
        <p:blipFill>
          <a:blip r:embed="rId4"/>
          <a:stretch>
            <a:fillRect/>
          </a:stretch>
        </p:blipFill>
        <p:spPr>
          <a:xfrm>
            <a:off x="12385525" y="7778620"/>
            <a:ext cx="2141406" cy="4509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2436495" y="667941"/>
            <a:ext cx="1611987" cy="289917"/>
          </a:xfrm>
          <a:prstGeom prst="roundRect">
            <a:avLst>
              <a:gd name="adj" fmla="val 6385"/>
            </a:avLst>
          </a:prstGeom>
          <a:solidFill>
            <a:srgbClr val="082545"/>
          </a:solidFill>
          <a:ln/>
        </p:spPr>
      </p:sp>
      <p:sp>
        <p:nvSpPr>
          <p:cNvPr id="3" name="Text 1"/>
          <p:cNvSpPr/>
          <p:nvPr/>
        </p:nvSpPr>
        <p:spPr>
          <a:xfrm>
            <a:off x="2529007" y="714137"/>
            <a:ext cx="1426964" cy="197525"/>
          </a:xfrm>
          <a:prstGeom prst="rect">
            <a:avLst/>
          </a:prstGeom>
          <a:noFill/>
          <a:ln/>
        </p:spPr>
        <p:txBody>
          <a:bodyPr wrap="none" lIns="0" tIns="0" rIns="0" bIns="0" rtlCol="0" anchor="t"/>
          <a:lstStyle/>
          <a:p>
            <a:pPr marL="0" indent="0" algn="l">
              <a:lnSpc>
                <a:spcPts val="1550"/>
              </a:lnSpc>
              <a:buNone/>
            </a:pPr>
            <a:r>
              <a:rPr lang="en-US" sz="950" dirty="0">
                <a:solidFill>
                  <a:srgbClr val="D6E5EF"/>
                </a:solidFill>
                <a:latin typeface="Roboto" pitchFamily="34" charset="0"/>
                <a:ea typeface="Roboto" pitchFamily="34" charset="-122"/>
                <a:cs typeface="Roboto" pitchFamily="34" charset="-120"/>
              </a:rPr>
              <a:t>PERFORMANCE METRICS</a:t>
            </a:r>
            <a:endParaRPr lang="en-US" sz="950" dirty="0"/>
          </a:p>
        </p:txBody>
      </p:sp>
      <p:sp>
        <p:nvSpPr>
          <p:cNvPr id="4" name="Text 2"/>
          <p:cNvSpPr/>
          <p:nvPr/>
        </p:nvSpPr>
        <p:spPr>
          <a:xfrm>
            <a:off x="2436495" y="1019532"/>
            <a:ext cx="3856553" cy="481965"/>
          </a:xfrm>
          <a:prstGeom prst="rect">
            <a:avLst/>
          </a:prstGeom>
          <a:noFill/>
          <a:ln/>
        </p:spPr>
        <p:txBody>
          <a:bodyPr wrap="none" lIns="0" tIns="0" rIns="0" bIns="0" rtlCol="0" anchor="t"/>
          <a:lstStyle/>
          <a:p>
            <a:pPr marL="0" indent="0" algn="l">
              <a:lnSpc>
                <a:spcPts val="3750"/>
              </a:lnSpc>
              <a:buNone/>
            </a:pPr>
            <a:r>
              <a:rPr lang="en-US" sz="3000" dirty="0">
                <a:solidFill>
                  <a:srgbClr val="76B9FF"/>
                </a:solidFill>
                <a:latin typeface="Roboto Slab" pitchFamily="34" charset="0"/>
                <a:ea typeface="Roboto Slab" pitchFamily="34" charset="-122"/>
                <a:cs typeface="Roboto Slab" pitchFamily="34" charset="-120"/>
              </a:rPr>
              <a:t>Results &amp; Evaluation</a:t>
            </a:r>
            <a:endParaRPr lang="en-US" sz="3000" dirty="0"/>
          </a:p>
        </p:txBody>
      </p:sp>
      <p:sp>
        <p:nvSpPr>
          <p:cNvPr id="5" name="Text 3"/>
          <p:cNvSpPr/>
          <p:nvPr/>
        </p:nvSpPr>
        <p:spPr>
          <a:xfrm>
            <a:off x="2436495" y="1563172"/>
            <a:ext cx="4554141" cy="385524"/>
          </a:xfrm>
          <a:prstGeom prst="rect">
            <a:avLst/>
          </a:prstGeom>
          <a:noFill/>
          <a:ln/>
        </p:spPr>
        <p:txBody>
          <a:bodyPr wrap="none" lIns="0" tIns="0" rIns="0" bIns="0" rtlCol="0" anchor="t"/>
          <a:lstStyle/>
          <a:p>
            <a:pPr marL="0" indent="0" algn="l">
              <a:lnSpc>
                <a:spcPts val="3000"/>
              </a:lnSpc>
              <a:buNone/>
            </a:pPr>
            <a:r>
              <a:rPr lang="en-US" sz="2400" dirty="0">
                <a:solidFill>
                  <a:srgbClr val="76B9FF"/>
                </a:solidFill>
                <a:latin typeface="Roboto Slab" pitchFamily="34" charset="0"/>
                <a:ea typeface="Roboto Slab" pitchFamily="34" charset="-122"/>
                <a:cs typeface="Roboto Slab" pitchFamily="34" charset="-120"/>
              </a:rPr>
              <a:t>System Performance Outcomes</a:t>
            </a:r>
            <a:endParaRPr lang="en-US" sz="2400" dirty="0"/>
          </a:p>
        </p:txBody>
      </p:sp>
      <p:sp>
        <p:nvSpPr>
          <p:cNvPr id="6" name="Shape 4"/>
          <p:cNvSpPr/>
          <p:nvPr/>
        </p:nvSpPr>
        <p:spPr>
          <a:xfrm>
            <a:off x="2436495" y="2180034"/>
            <a:ext cx="3149560" cy="3727133"/>
          </a:xfrm>
          <a:prstGeom prst="roundRect">
            <a:avLst>
              <a:gd name="adj" fmla="val 735"/>
            </a:avLst>
          </a:prstGeom>
          <a:solidFill>
            <a:srgbClr val="3F4652"/>
          </a:solidFill>
          <a:ln/>
        </p:spPr>
      </p:sp>
      <p:pic>
        <p:nvPicPr>
          <p:cNvPr id="7" name="Image 0" descr="preencoded.png"/>
          <p:cNvPicPr>
            <a:picLocks noChangeAspect="1"/>
          </p:cNvPicPr>
          <p:nvPr/>
        </p:nvPicPr>
        <p:blipFill>
          <a:blip r:embed="rId3"/>
          <a:stretch>
            <a:fillRect/>
          </a:stretch>
        </p:blipFill>
        <p:spPr>
          <a:xfrm>
            <a:off x="2590681" y="2334220"/>
            <a:ext cx="462796" cy="462796"/>
          </a:xfrm>
          <a:prstGeom prst="rect">
            <a:avLst/>
          </a:prstGeom>
        </p:spPr>
      </p:pic>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17959" y="2461379"/>
            <a:ext cx="208240" cy="208240"/>
          </a:xfrm>
          <a:prstGeom prst="rect">
            <a:avLst/>
          </a:prstGeom>
        </p:spPr>
      </p:pic>
      <p:sp>
        <p:nvSpPr>
          <p:cNvPr id="9" name="Text 5"/>
          <p:cNvSpPr/>
          <p:nvPr/>
        </p:nvSpPr>
        <p:spPr>
          <a:xfrm>
            <a:off x="2590681" y="2951202"/>
            <a:ext cx="1928217" cy="241102"/>
          </a:xfrm>
          <a:prstGeom prst="rect">
            <a:avLst/>
          </a:prstGeom>
          <a:noFill/>
          <a:ln/>
        </p:spPr>
        <p:txBody>
          <a:bodyPr wrap="none" lIns="0" tIns="0" rIns="0" bIns="0" rtlCol="0" anchor="t"/>
          <a:lstStyle/>
          <a:p>
            <a:pPr marL="0" indent="0" algn="l">
              <a:lnSpc>
                <a:spcPts val="1850"/>
              </a:lnSpc>
              <a:buNone/>
            </a:pPr>
            <a:r>
              <a:rPr lang="en-US" sz="1500" dirty="0">
                <a:solidFill>
                  <a:srgbClr val="D6E5EF"/>
                </a:solidFill>
                <a:latin typeface="Roboto Slab" pitchFamily="34" charset="0"/>
                <a:ea typeface="Roboto Slab" pitchFamily="34" charset="-122"/>
                <a:cs typeface="Roboto Slab" pitchFamily="34" charset="-120"/>
              </a:rPr>
              <a:t>Model Accuracy</a:t>
            </a:r>
            <a:endParaRPr lang="en-US" sz="1500" dirty="0"/>
          </a:p>
        </p:txBody>
      </p:sp>
      <p:sp>
        <p:nvSpPr>
          <p:cNvPr id="10" name="Text 6"/>
          <p:cNvSpPr/>
          <p:nvPr/>
        </p:nvSpPr>
        <p:spPr>
          <a:xfrm>
            <a:off x="2590681" y="3284815"/>
            <a:ext cx="2841188" cy="2221349"/>
          </a:xfrm>
          <a:prstGeom prst="rect">
            <a:avLst/>
          </a:prstGeom>
          <a:noFill/>
          <a:ln/>
        </p:spPr>
        <p:txBody>
          <a:bodyPr wrap="square" lIns="0" tIns="0" rIns="0" bIns="0" rtlCol="0" anchor="t"/>
          <a:lstStyle/>
          <a:p>
            <a:pPr marL="0" indent="0" algn="l">
              <a:lnSpc>
                <a:spcPts val="1900"/>
              </a:lnSpc>
              <a:buNone/>
            </a:pPr>
            <a:r>
              <a:rPr lang="en-US" sz="1200" dirty="0">
                <a:solidFill>
                  <a:srgbClr val="D6E5EF"/>
                </a:solidFill>
                <a:latin typeface="Roboto" pitchFamily="34" charset="0"/>
                <a:ea typeface="Roboto" pitchFamily="34" charset="-122"/>
                <a:cs typeface="Roboto" pitchFamily="34" charset="-120"/>
              </a:rPr>
              <a:t>The emotion classification model achieved an average accuracy rate of 92% across diverse datasets, with a F1-score of 0.89. Comprehensive confusion matrices revealed strong precision and recall for primary emotions (joy, sadness, anger), significantly outperforming baseline models by 15% in complex emotional state identification.</a:t>
            </a:r>
            <a:endParaRPr lang="en-US" sz="1200" dirty="0"/>
          </a:p>
        </p:txBody>
      </p:sp>
      <p:sp>
        <p:nvSpPr>
          <p:cNvPr id="11" name="Shape 7"/>
          <p:cNvSpPr/>
          <p:nvPr/>
        </p:nvSpPr>
        <p:spPr>
          <a:xfrm>
            <a:off x="5740241" y="2180034"/>
            <a:ext cx="3149679" cy="3727133"/>
          </a:xfrm>
          <a:prstGeom prst="roundRect">
            <a:avLst>
              <a:gd name="adj" fmla="val 735"/>
            </a:avLst>
          </a:prstGeom>
          <a:solidFill>
            <a:srgbClr val="3F4652"/>
          </a:solidFill>
          <a:ln/>
        </p:spPr>
      </p:sp>
      <p:pic>
        <p:nvPicPr>
          <p:cNvPr id="12" name="Image 2" descr="preencoded.png"/>
          <p:cNvPicPr>
            <a:picLocks noChangeAspect="1"/>
          </p:cNvPicPr>
          <p:nvPr/>
        </p:nvPicPr>
        <p:blipFill>
          <a:blip r:embed="rId6"/>
          <a:stretch>
            <a:fillRect/>
          </a:stretch>
        </p:blipFill>
        <p:spPr>
          <a:xfrm>
            <a:off x="5894427" y="2334220"/>
            <a:ext cx="462796" cy="462796"/>
          </a:xfrm>
          <a:prstGeom prst="rect">
            <a:avLst/>
          </a:prstGeom>
        </p:spPr>
      </p:pic>
      <p:pic>
        <p:nvPicPr>
          <p:cNvPr id="13"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21705" y="2461379"/>
            <a:ext cx="208240" cy="208240"/>
          </a:xfrm>
          <a:prstGeom prst="rect">
            <a:avLst/>
          </a:prstGeom>
        </p:spPr>
      </p:pic>
      <p:sp>
        <p:nvSpPr>
          <p:cNvPr id="14" name="Text 8"/>
          <p:cNvSpPr/>
          <p:nvPr/>
        </p:nvSpPr>
        <p:spPr>
          <a:xfrm>
            <a:off x="5894427" y="2951202"/>
            <a:ext cx="2462689" cy="241102"/>
          </a:xfrm>
          <a:prstGeom prst="rect">
            <a:avLst/>
          </a:prstGeom>
          <a:noFill/>
          <a:ln/>
        </p:spPr>
        <p:txBody>
          <a:bodyPr wrap="none" lIns="0" tIns="0" rIns="0" bIns="0" rtlCol="0" anchor="t"/>
          <a:lstStyle/>
          <a:p>
            <a:pPr marL="0" indent="0" algn="l">
              <a:lnSpc>
                <a:spcPts val="1850"/>
              </a:lnSpc>
              <a:buNone/>
            </a:pPr>
            <a:r>
              <a:rPr lang="en-US" sz="1500" dirty="0">
                <a:solidFill>
                  <a:srgbClr val="D6E5EF"/>
                </a:solidFill>
                <a:latin typeface="Roboto Slab" pitchFamily="34" charset="0"/>
                <a:ea typeface="Roboto Slab" pitchFamily="34" charset="-122"/>
                <a:cs typeface="Roboto Slab" pitchFamily="34" charset="-120"/>
              </a:rPr>
              <a:t>Real-Time Response Speed</a:t>
            </a:r>
            <a:endParaRPr lang="en-US" sz="1500" dirty="0"/>
          </a:p>
        </p:txBody>
      </p:sp>
      <p:sp>
        <p:nvSpPr>
          <p:cNvPr id="15" name="Text 9"/>
          <p:cNvSpPr/>
          <p:nvPr/>
        </p:nvSpPr>
        <p:spPr>
          <a:xfrm>
            <a:off x="5894427" y="3284815"/>
            <a:ext cx="2841308" cy="2468166"/>
          </a:xfrm>
          <a:prstGeom prst="rect">
            <a:avLst/>
          </a:prstGeom>
          <a:noFill/>
          <a:ln/>
        </p:spPr>
        <p:txBody>
          <a:bodyPr wrap="square" lIns="0" tIns="0" rIns="0" bIns="0" rtlCol="0" anchor="t"/>
          <a:lstStyle/>
          <a:p>
            <a:pPr marL="0" indent="0" algn="l">
              <a:lnSpc>
                <a:spcPts val="1900"/>
              </a:lnSpc>
              <a:buNone/>
            </a:pPr>
            <a:r>
              <a:rPr lang="en-US" sz="1200" dirty="0">
                <a:solidFill>
                  <a:srgbClr val="D6E5EF"/>
                </a:solidFill>
                <a:latin typeface="Roboto" pitchFamily="34" charset="0"/>
                <a:ea typeface="Roboto" pitchFamily="34" charset="-122"/>
                <a:cs typeface="Roboto" pitchFamily="34" charset="-120"/>
              </a:rPr>
              <a:t>The system demonstrates exceptional real-time processing capabilities, with an average latency of 50ms from input capture to emotional state detection. Content recommendation and delivery occur within an additional 100ms, ensuring a seamless and responsive user experience. This translates to processing rates of 30 frames per second, suitable for live applications.</a:t>
            </a:r>
            <a:endParaRPr lang="en-US" sz="1200" dirty="0"/>
          </a:p>
        </p:txBody>
      </p:sp>
      <p:sp>
        <p:nvSpPr>
          <p:cNvPr id="16" name="Shape 10"/>
          <p:cNvSpPr/>
          <p:nvPr/>
        </p:nvSpPr>
        <p:spPr>
          <a:xfrm>
            <a:off x="9044107" y="2180034"/>
            <a:ext cx="3149679" cy="3727133"/>
          </a:xfrm>
          <a:prstGeom prst="roundRect">
            <a:avLst>
              <a:gd name="adj" fmla="val 735"/>
            </a:avLst>
          </a:prstGeom>
          <a:solidFill>
            <a:srgbClr val="3F4652"/>
          </a:solidFill>
          <a:ln/>
        </p:spPr>
      </p:sp>
      <p:pic>
        <p:nvPicPr>
          <p:cNvPr id="17" name="Image 4" descr="preencoded.png"/>
          <p:cNvPicPr>
            <a:picLocks noChangeAspect="1"/>
          </p:cNvPicPr>
          <p:nvPr/>
        </p:nvPicPr>
        <p:blipFill>
          <a:blip r:embed="rId9"/>
          <a:stretch>
            <a:fillRect/>
          </a:stretch>
        </p:blipFill>
        <p:spPr>
          <a:xfrm>
            <a:off x="9198293" y="2334220"/>
            <a:ext cx="462796" cy="462796"/>
          </a:xfrm>
          <a:prstGeom prst="rect">
            <a:avLst/>
          </a:prstGeom>
        </p:spPr>
      </p:pic>
      <p:pic>
        <p:nvPicPr>
          <p:cNvPr id="18"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25570" y="2461379"/>
            <a:ext cx="208240" cy="208240"/>
          </a:xfrm>
          <a:prstGeom prst="rect">
            <a:avLst/>
          </a:prstGeom>
        </p:spPr>
      </p:pic>
      <p:sp>
        <p:nvSpPr>
          <p:cNvPr id="19" name="Text 11"/>
          <p:cNvSpPr/>
          <p:nvPr/>
        </p:nvSpPr>
        <p:spPr>
          <a:xfrm>
            <a:off x="9198293" y="2951202"/>
            <a:ext cx="2603421" cy="241102"/>
          </a:xfrm>
          <a:prstGeom prst="rect">
            <a:avLst/>
          </a:prstGeom>
          <a:noFill/>
          <a:ln/>
        </p:spPr>
        <p:txBody>
          <a:bodyPr wrap="none" lIns="0" tIns="0" rIns="0" bIns="0" rtlCol="0" anchor="t"/>
          <a:lstStyle/>
          <a:p>
            <a:pPr marL="0" indent="0" algn="l">
              <a:lnSpc>
                <a:spcPts val="1850"/>
              </a:lnSpc>
              <a:buNone/>
            </a:pPr>
            <a:r>
              <a:rPr lang="en-US" sz="1500" dirty="0">
                <a:solidFill>
                  <a:srgbClr val="D6E5EF"/>
                </a:solidFill>
                <a:latin typeface="Roboto Slab" pitchFamily="34" charset="0"/>
                <a:ea typeface="Roboto Slab" pitchFamily="34" charset="-122"/>
                <a:cs typeface="Roboto Slab" pitchFamily="34" charset="-120"/>
              </a:rPr>
              <a:t>Recommendation Relevance</a:t>
            </a:r>
            <a:endParaRPr lang="en-US" sz="1500" dirty="0"/>
          </a:p>
        </p:txBody>
      </p:sp>
      <p:sp>
        <p:nvSpPr>
          <p:cNvPr id="20" name="Text 12"/>
          <p:cNvSpPr/>
          <p:nvPr/>
        </p:nvSpPr>
        <p:spPr>
          <a:xfrm>
            <a:off x="9198293" y="3284815"/>
            <a:ext cx="2841308" cy="2468166"/>
          </a:xfrm>
          <a:prstGeom prst="rect">
            <a:avLst/>
          </a:prstGeom>
          <a:noFill/>
          <a:ln/>
        </p:spPr>
        <p:txBody>
          <a:bodyPr wrap="square" lIns="0" tIns="0" rIns="0" bIns="0" rtlCol="0" anchor="t"/>
          <a:lstStyle/>
          <a:p>
            <a:pPr marL="0" indent="0" algn="l">
              <a:lnSpc>
                <a:spcPts val="1900"/>
              </a:lnSpc>
              <a:buNone/>
            </a:pPr>
            <a:r>
              <a:rPr lang="en-US" sz="1200" dirty="0">
                <a:solidFill>
                  <a:srgbClr val="D6E5EF"/>
                </a:solidFill>
                <a:latin typeface="Roboto" pitchFamily="34" charset="0"/>
                <a:ea typeface="Roboto" pitchFamily="34" charset="-122"/>
                <a:cs typeface="Roboto" pitchFamily="34" charset="-120"/>
              </a:rPr>
              <a:t>Post-implementation, user feedback indicates a 25% improvement in recommendation relevance, directly linking content to detected emotional states. Objective metrics show a 78% match rate between suggested content and user-reported emotional needs, alongside a 15% increase in recommendation diversity, enhancing user discovery and engagement.</a:t>
            </a:r>
            <a:endParaRPr lang="en-US" sz="1200" dirty="0"/>
          </a:p>
        </p:txBody>
      </p:sp>
      <p:sp>
        <p:nvSpPr>
          <p:cNvPr id="21" name="Text 13"/>
          <p:cNvSpPr/>
          <p:nvPr/>
        </p:nvSpPr>
        <p:spPr>
          <a:xfrm>
            <a:off x="2436495" y="6080641"/>
            <a:ext cx="9757291" cy="1480899"/>
          </a:xfrm>
          <a:prstGeom prst="rect">
            <a:avLst/>
          </a:prstGeom>
          <a:noFill/>
          <a:ln/>
        </p:spPr>
        <p:txBody>
          <a:bodyPr wrap="square" lIns="0" tIns="0" rIns="0" bIns="0" rtlCol="0" anchor="t"/>
          <a:lstStyle/>
          <a:p>
            <a:pPr marL="0" indent="0" algn="l">
              <a:lnSpc>
                <a:spcPts val="1900"/>
              </a:lnSpc>
              <a:buNone/>
            </a:pPr>
            <a:r>
              <a:rPr lang="en-US" sz="1200" dirty="0">
                <a:solidFill>
                  <a:srgbClr val="D6E5EF"/>
                </a:solidFill>
                <a:latin typeface="Roboto" pitchFamily="34" charset="0"/>
                <a:ea typeface="Roboto" pitchFamily="34" charset="-122"/>
                <a:cs typeface="Roboto" pitchFamily="34" charset="-120"/>
              </a:rPr>
              <a:t>These critical performance metrics were rigorously measured through a combination of controlled laboratory testing, A/B user studies, and continuous real-world deployment monitoring. Model accuracy was validated against extensive, annotated datasets using standard machine learning evaluation protocols. Response speed was quantified using high-precision timing mechanisms integrated into the system architecture. Recommendation relevance was assessed via implicit user interaction data (e.g., content consumption duration, skip rates) and explicit user satisfaction surveys. Collectively, these benchmarks confirm the system's effectiveness and its capability to deliver intelligent, emotionally adaptive experiences.</a:t>
            </a:r>
            <a:endParaRPr lang="en-US" sz="1200" dirty="0"/>
          </a:p>
        </p:txBody>
      </p:sp>
      <p:pic>
        <p:nvPicPr>
          <p:cNvPr id="23" name="Picture 22">
            <a:extLst>
              <a:ext uri="{FF2B5EF4-FFF2-40B4-BE49-F238E27FC236}">
                <a16:creationId xmlns:a16="http://schemas.microsoft.com/office/drawing/2014/main" id="{8302A43D-2A82-21E9-B58E-4F94734123F0}"/>
              </a:ext>
            </a:extLst>
          </p:cNvPr>
          <p:cNvPicPr>
            <a:picLocks noChangeAspect="1"/>
          </p:cNvPicPr>
          <p:nvPr/>
        </p:nvPicPr>
        <p:blipFill>
          <a:blip r:embed="rId12"/>
          <a:stretch>
            <a:fillRect/>
          </a:stretch>
        </p:blipFill>
        <p:spPr>
          <a:xfrm>
            <a:off x="12488994" y="7757838"/>
            <a:ext cx="2141406" cy="4717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3728442" y="311825"/>
            <a:ext cx="1138714" cy="213003"/>
          </a:xfrm>
          <a:prstGeom prst="roundRect">
            <a:avLst>
              <a:gd name="adj" fmla="val 6389"/>
            </a:avLst>
          </a:prstGeom>
          <a:solidFill>
            <a:srgbClr val="082545"/>
          </a:solidFill>
          <a:ln/>
        </p:spPr>
      </p:sp>
      <p:sp>
        <p:nvSpPr>
          <p:cNvPr id="3" name="Text 1"/>
          <p:cNvSpPr/>
          <p:nvPr/>
        </p:nvSpPr>
        <p:spPr>
          <a:xfrm>
            <a:off x="3796427" y="345758"/>
            <a:ext cx="1002744" cy="145137"/>
          </a:xfrm>
          <a:prstGeom prst="rect">
            <a:avLst/>
          </a:prstGeom>
          <a:noFill/>
          <a:ln/>
        </p:spPr>
        <p:txBody>
          <a:bodyPr wrap="none" lIns="0" tIns="0" rIns="0" bIns="0" rtlCol="0" anchor="t"/>
          <a:lstStyle/>
          <a:p>
            <a:pPr marL="0" indent="0" algn="l">
              <a:lnSpc>
                <a:spcPts val="1100"/>
              </a:lnSpc>
              <a:buNone/>
            </a:pPr>
            <a:r>
              <a:rPr lang="en-US" sz="700" dirty="0">
                <a:solidFill>
                  <a:srgbClr val="D6E5EF"/>
                </a:solidFill>
                <a:latin typeface="Roboto" pitchFamily="34" charset="0"/>
                <a:ea typeface="Roboto" pitchFamily="34" charset="-122"/>
                <a:cs typeface="Roboto" pitchFamily="34" charset="-120"/>
              </a:rPr>
              <a:t>TECHNICAL OBSTACLES</a:t>
            </a:r>
            <a:endParaRPr lang="en-US" sz="700" dirty="0"/>
          </a:p>
        </p:txBody>
      </p:sp>
      <p:sp>
        <p:nvSpPr>
          <p:cNvPr id="4" name="Text 2"/>
          <p:cNvSpPr/>
          <p:nvPr/>
        </p:nvSpPr>
        <p:spPr>
          <a:xfrm>
            <a:off x="3728442" y="570190"/>
            <a:ext cx="3049429" cy="354330"/>
          </a:xfrm>
          <a:prstGeom prst="rect">
            <a:avLst/>
          </a:prstGeom>
          <a:noFill/>
          <a:ln/>
        </p:spPr>
        <p:txBody>
          <a:bodyPr wrap="none" lIns="0" tIns="0" rIns="0" bIns="0" rtlCol="0" anchor="t"/>
          <a:lstStyle/>
          <a:p>
            <a:pPr marL="0" indent="0" algn="l">
              <a:lnSpc>
                <a:spcPts val="2750"/>
              </a:lnSpc>
              <a:buNone/>
            </a:pPr>
            <a:r>
              <a:rPr lang="en-US" sz="2200" dirty="0">
                <a:solidFill>
                  <a:srgbClr val="76B9FF"/>
                </a:solidFill>
                <a:latin typeface="Roboto Slab" pitchFamily="34" charset="0"/>
                <a:ea typeface="Roboto Slab" pitchFamily="34" charset="-122"/>
                <a:cs typeface="Roboto Slab" pitchFamily="34" charset="-120"/>
              </a:rPr>
              <a:t>Challenges &amp; Solutions</a:t>
            </a:r>
            <a:endParaRPr lang="en-US" sz="2200" dirty="0"/>
          </a:p>
        </p:txBody>
      </p:sp>
      <p:sp>
        <p:nvSpPr>
          <p:cNvPr id="5" name="Text 3"/>
          <p:cNvSpPr/>
          <p:nvPr/>
        </p:nvSpPr>
        <p:spPr>
          <a:xfrm>
            <a:off x="3728442" y="969883"/>
            <a:ext cx="5301972" cy="283488"/>
          </a:xfrm>
          <a:prstGeom prst="rect">
            <a:avLst/>
          </a:prstGeom>
          <a:noFill/>
          <a:ln/>
        </p:spPr>
        <p:txBody>
          <a:bodyPr wrap="none" lIns="0" tIns="0" rIns="0" bIns="0" rtlCol="0" anchor="t"/>
          <a:lstStyle/>
          <a:p>
            <a:pPr marL="0" indent="0" algn="l">
              <a:lnSpc>
                <a:spcPts val="2200"/>
              </a:lnSpc>
              <a:buNone/>
            </a:pPr>
            <a:r>
              <a:rPr lang="en-US" sz="1750" dirty="0">
                <a:solidFill>
                  <a:srgbClr val="76B9FF"/>
                </a:solidFill>
                <a:latin typeface="Roboto Slab" pitchFamily="34" charset="0"/>
                <a:ea typeface="Roboto Slab" pitchFamily="34" charset="-122"/>
                <a:cs typeface="Roboto Slab" pitchFamily="34" charset="-120"/>
              </a:rPr>
              <a:t>Key Challenges Encountered During Development</a:t>
            </a:r>
            <a:endParaRPr lang="en-US" sz="1750" dirty="0"/>
          </a:p>
        </p:txBody>
      </p:sp>
      <p:sp>
        <p:nvSpPr>
          <p:cNvPr id="6" name="Text 4"/>
          <p:cNvSpPr/>
          <p:nvPr/>
        </p:nvSpPr>
        <p:spPr>
          <a:xfrm>
            <a:off x="3728442" y="1550908"/>
            <a:ext cx="113348" cy="141684"/>
          </a:xfrm>
          <a:prstGeom prst="rect">
            <a:avLst/>
          </a:prstGeom>
          <a:noFill/>
          <a:ln/>
        </p:spPr>
        <p:txBody>
          <a:bodyPr wrap="none" lIns="0" tIns="0" rIns="0" bIns="0" rtlCol="0" anchor="t"/>
          <a:lstStyle/>
          <a:p>
            <a:pPr marL="0" indent="0" algn="l">
              <a:lnSpc>
                <a:spcPts val="1400"/>
              </a:lnSpc>
              <a:buNone/>
            </a:pPr>
            <a:r>
              <a:rPr lang="en-US" sz="850" dirty="0">
                <a:solidFill>
                  <a:srgbClr val="D6E5EF"/>
                </a:solidFill>
                <a:latin typeface="Roboto Slab Light" pitchFamily="34" charset="0"/>
                <a:ea typeface="Roboto Slab Light" pitchFamily="34" charset="-122"/>
                <a:cs typeface="Roboto Slab Light" pitchFamily="34" charset="-120"/>
              </a:rPr>
              <a:t>01</a:t>
            </a:r>
            <a:endParaRPr lang="en-US" sz="850" dirty="0"/>
          </a:p>
        </p:txBody>
      </p:sp>
      <p:pic>
        <p:nvPicPr>
          <p:cNvPr id="7" name="Image 0" descr="preencoded.png"/>
          <p:cNvPicPr>
            <a:picLocks noChangeAspect="1"/>
          </p:cNvPicPr>
          <p:nvPr/>
        </p:nvPicPr>
        <p:blipFill>
          <a:blip r:embed="rId3"/>
          <a:stretch>
            <a:fillRect/>
          </a:stretch>
        </p:blipFill>
        <p:spPr>
          <a:xfrm>
            <a:off x="3728442" y="1728311"/>
            <a:ext cx="3448288" cy="15240"/>
          </a:xfrm>
          <a:prstGeom prst="rect">
            <a:avLst/>
          </a:prstGeom>
        </p:spPr>
      </p:pic>
      <p:sp>
        <p:nvSpPr>
          <p:cNvPr id="8" name="Text 5"/>
          <p:cNvSpPr/>
          <p:nvPr/>
        </p:nvSpPr>
        <p:spPr>
          <a:xfrm>
            <a:off x="3728442" y="1815465"/>
            <a:ext cx="1533287" cy="177165"/>
          </a:xfrm>
          <a:prstGeom prst="rect">
            <a:avLst/>
          </a:prstGeom>
          <a:noFill/>
          <a:ln/>
        </p:spPr>
        <p:txBody>
          <a:bodyPr wrap="none" lIns="0" tIns="0" rIns="0" bIns="0" rtlCol="0" anchor="t"/>
          <a:lstStyle/>
          <a:p>
            <a:pPr marL="0" indent="0" algn="l">
              <a:lnSpc>
                <a:spcPts val="1350"/>
              </a:lnSpc>
              <a:buNone/>
            </a:pPr>
            <a:r>
              <a:rPr lang="en-US" sz="1100" dirty="0">
                <a:solidFill>
                  <a:srgbClr val="D6E5EF"/>
                </a:solidFill>
                <a:latin typeface="Roboto Slab" pitchFamily="34" charset="0"/>
                <a:ea typeface="Roboto Slab" pitchFamily="34" charset="-122"/>
                <a:cs typeface="Roboto Slab" pitchFamily="34" charset="-120"/>
              </a:rPr>
              <a:t>Environmental Factors</a:t>
            </a:r>
            <a:endParaRPr lang="en-US" sz="1100" dirty="0"/>
          </a:p>
        </p:txBody>
      </p:sp>
      <p:sp>
        <p:nvSpPr>
          <p:cNvPr id="9" name="Text 6"/>
          <p:cNvSpPr/>
          <p:nvPr/>
        </p:nvSpPr>
        <p:spPr>
          <a:xfrm>
            <a:off x="3728442" y="2105978"/>
            <a:ext cx="3448288" cy="725805"/>
          </a:xfrm>
          <a:prstGeom prst="rect">
            <a:avLst/>
          </a:prstGeom>
          <a:noFill/>
          <a:ln/>
        </p:spPr>
        <p:txBody>
          <a:bodyPr wrap="square" lIns="0" tIns="0" rIns="0" bIns="0" rtlCol="0" anchor="t"/>
          <a:lstStyle/>
          <a:p>
            <a:pPr marL="0" indent="0" algn="l">
              <a:lnSpc>
                <a:spcPts val="1400"/>
              </a:lnSpc>
              <a:buNone/>
            </a:pPr>
            <a:r>
              <a:rPr lang="en-US" sz="850" dirty="0">
                <a:solidFill>
                  <a:srgbClr val="D6E5EF"/>
                </a:solidFill>
                <a:latin typeface="Roboto" pitchFamily="34" charset="0"/>
                <a:ea typeface="Roboto" pitchFamily="34" charset="-122"/>
                <a:cs typeface="Roboto" pitchFamily="34" charset="-120"/>
              </a:rPr>
              <a:t>Variability in real-world environmental conditions, such as diverse lighting, inconsistent camera quality, and complex background settings, significantly impacts the robustness of facial expression and vocal emotion detection.</a:t>
            </a:r>
            <a:endParaRPr lang="en-US" sz="850" dirty="0"/>
          </a:p>
        </p:txBody>
      </p:sp>
      <p:sp>
        <p:nvSpPr>
          <p:cNvPr id="10" name="Text 7"/>
          <p:cNvSpPr/>
          <p:nvPr/>
        </p:nvSpPr>
        <p:spPr>
          <a:xfrm>
            <a:off x="3728442" y="3030141"/>
            <a:ext cx="113348" cy="141684"/>
          </a:xfrm>
          <a:prstGeom prst="rect">
            <a:avLst/>
          </a:prstGeom>
          <a:noFill/>
          <a:ln/>
        </p:spPr>
        <p:txBody>
          <a:bodyPr wrap="none" lIns="0" tIns="0" rIns="0" bIns="0" rtlCol="0" anchor="t"/>
          <a:lstStyle/>
          <a:p>
            <a:pPr marL="0" indent="0" algn="l">
              <a:lnSpc>
                <a:spcPts val="1400"/>
              </a:lnSpc>
              <a:buNone/>
            </a:pPr>
            <a:r>
              <a:rPr lang="en-US" sz="850" dirty="0">
                <a:solidFill>
                  <a:srgbClr val="D6E5EF"/>
                </a:solidFill>
                <a:latin typeface="Roboto Slab Light" pitchFamily="34" charset="0"/>
                <a:ea typeface="Roboto Slab Light" pitchFamily="34" charset="-122"/>
                <a:cs typeface="Roboto Slab Light" pitchFamily="34" charset="-120"/>
              </a:rPr>
              <a:t>02</a:t>
            </a:r>
            <a:endParaRPr lang="en-US" sz="850" dirty="0"/>
          </a:p>
        </p:txBody>
      </p:sp>
      <p:pic>
        <p:nvPicPr>
          <p:cNvPr id="11" name="Image 1" descr="preencoded.png"/>
          <p:cNvPicPr>
            <a:picLocks noChangeAspect="1"/>
          </p:cNvPicPr>
          <p:nvPr/>
        </p:nvPicPr>
        <p:blipFill>
          <a:blip r:embed="rId3"/>
          <a:stretch>
            <a:fillRect/>
          </a:stretch>
        </p:blipFill>
        <p:spPr>
          <a:xfrm>
            <a:off x="3728442" y="3184922"/>
            <a:ext cx="3448288" cy="15240"/>
          </a:xfrm>
          <a:prstGeom prst="rect">
            <a:avLst/>
          </a:prstGeom>
        </p:spPr>
      </p:pic>
      <p:sp>
        <p:nvSpPr>
          <p:cNvPr id="12" name="Text 8"/>
          <p:cNvSpPr/>
          <p:nvPr/>
        </p:nvSpPr>
        <p:spPr>
          <a:xfrm>
            <a:off x="3728442" y="3294697"/>
            <a:ext cx="1417558" cy="177165"/>
          </a:xfrm>
          <a:prstGeom prst="rect">
            <a:avLst/>
          </a:prstGeom>
          <a:noFill/>
          <a:ln/>
        </p:spPr>
        <p:txBody>
          <a:bodyPr wrap="none" lIns="0" tIns="0" rIns="0" bIns="0" rtlCol="0" anchor="t"/>
          <a:lstStyle/>
          <a:p>
            <a:pPr marL="0" indent="0" algn="l">
              <a:lnSpc>
                <a:spcPts val="1350"/>
              </a:lnSpc>
              <a:buNone/>
            </a:pPr>
            <a:r>
              <a:rPr lang="en-US" sz="1100" dirty="0">
                <a:solidFill>
                  <a:srgbClr val="D6E5EF"/>
                </a:solidFill>
                <a:latin typeface="Roboto Slab" pitchFamily="34" charset="0"/>
                <a:ea typeface="Roboto Slab" pitchFamily="34" charset="-122"/>
                <a:cs typeface="Roboto Slab" pitchFamily="34" charset="-120"/>
              </a:rPr>
              <a:t>Dataset Imbalances</a:t>
            </a:r>
            <a:endParaRPr lang="en-US" sz="1100" dirty="0"/>
          </a:p>
        </p:txBody>
      </p:sp>
      <p:sp>
        <p:nvSpPr>
          <p:cNvPr id="13" name="Text 9"/>
          <p:cNvSpPr/>
          <p:nvPr/>
        </p:nvSpPr>
        <p:spPr>
          <a:xfrm>
            <a:off x="3728442" y="3585210"/>
            <a:ext cx="3448288" cy="725805"/>
          </a:xfrm>
          <a:prstGeom prst="rect">
            <a:avLst/>
          </a:prstGeom>
          <a:noFill/>
          <a:ln/>
        </p:spPr>
        <p:txBody>
          <a:bodyPr wrap="square" lIns="0" tIns="0" rIns="0" bIns="0" rtlCol="0" anchor="t"/>
          <a:lstStyle/>
          <a:p>
            <a:pPr marL="0" indent="0" algn="l">
              <a:lnSpc>
                <a:spcPts val="1400"/>
              </a:lnSpc>
              <a:buNone/>
            </a:pPr>
            <a:r>
              <a:rPr lang="en-US" sz="850" dirty="0">
                <a:solidFill>
                  <a:srgbClr val="D6E5EF"/>
                </a:solidFill>
                <a:latin typeface="Roboto" pitchFamily="34" charset="0"/>
                <a:ea typeface="Roboto" pitchFamily="34" charset="-122"/>
                <a:cs typeface="Roboto" pitchFamily="34" charset="-120"/>
              </a:rPr>
              <a:t>Addressing skewed class distributions and the underrepresentation of specific emotional states within available training datasets posed a significant challenge, potentially leading to biased model performance and reduced accuracy for less common emotions.</a:t>
            </a:r>
            <a:endParaRPr lang="en-US" sz="850" dirty="0"/>
          </a:p>
        </p:txBody>
      </p:sp>
      <p:sp>
        <p:nvSpPr>
          <p:cNvPr id="14" name="Text 10"/>
          <p:cNvSpPr/>
          <p:nvPr/>
        </p:nvSpPr>
        <p:spPr>
          <a:xfrm>
            <a:off x="3728442" y="4509373"/>
            <a:ext cx="113348" cy="141684"/>
          </a:xfrm>
          <a:prstGeom prst="rect">
            <a:avLst/>
          </a:prstGeom>
          <a:noFill/>
          <a:ln/>
        </p:spPr>
        <p:txBody>
          <a:bodyPr wrap="none" lIns="0" tIns="0" rIns="0" bIns="0" rtlCol="0" anchor="t"/>
          <a:lstStyle/>
          <a:p>
            <a:pPr marL="0" indent="0" algn="l">
              <a:lnSpc>
                <a:spcPts val="1400"/>
              </a:lnSpc>
              <a:buNone/>
            </a:pPr>
            <a:r>
              <a:rPr lang="en-US" sz="850" dirty="0">
                <a:solidFill>
                  <a:srgbClr val="D6E5EF"/>
                </a:solidFill>
                <a:latin typeface="Roboto Slab Light" pitchFamily="34" charset="0"/>
                <a:ea typeface="Roboto Slab Light" pitchFamily="34" charset="-122"/>
                <a:cs typeface="Roboto Slab Light" pitchFamily="34" charset="-120"/>
              </a:rPr>
              <a:t>03</a:t>
            </a:r>
            <a:endParaRPr lang="en-US" sz="850" dirty="0"/>
          </a:p>
        </p:txBody>
      </p:sp>
      <p:pic>
        <p:nvPicPr>
          <p:cNvPr id="15" name="Image 2" descr="preencoded.png"/>
          <p:cNvPicPr>
            <a:picLocks noChangeAspect="1"/>
          </p:cNvPicPr>
          <p:nvPr/>
        </p:nvPicPr>
        <p:blipFill>
          <a:blip r:embed="rId3"/>
          <a:stretch>
            <a:fillRect/>
          </a:stretch>
        </p:blipFill>
        <p:spPr>
          <a:xfrm>
            <a:off x="3728442" y="4641533"/>
            <a:ext cx="3448288" cy="15240"/>
          </a:xfrm>
          <a:prstGeom prst="rect">
            <a:avLst/>
          </a:prstGeom>
        </p:spPr>
      </p:pic>
      <p:sp>
        <p:nvSpPr>
          <p:cNvPr id="16" name="Text 11"/>
          <p:cNvSpPr/>
          <p:nvPr/>
        </p:nvSpPr>
        <p:spPr>
          <a:xfrm>
            <a:off x="3728442" y="4773930"/>
            <a:ext cx="2234327" cy="177165"/>
          </a:xfrm>
          <a:prstGeom prst="rect">
            <a:avLst/>
          </a:prstGeom>
          <a:noFill/>
          <a:ln/>
        </p:spPr>
        <p:txBody>
          <a:bodyPr wrap="none" lIns="0" tIns="0" rIns="0" bIns="0" rtlCol="0" anchor="t"/>
          <a:lstStyle/>
          <a:p>
            <a:pPr marL="0" indent="0" algn="l">
              <a:lnSpc>
                <a:spcPts val="1350"/>
              </a:lnSpc>
              <a:buNone/>
            </a:pPr>
            <a:r>
              <a:rPr lang="en-US" sz="1100" dirty="0">
                <a:solidFill>
                  <a:srgbClr val="D6E5EF"/>
                </a:solidFill>
                <a:latin typeface="Roboto Slab" pitchFamily="34" charset="0"/>
                <a:ea typeface="Roboto Slab" pitchFamily="34" charset="-122"/>
                <a:cs typeface="Roboto Slab" pitchFamily="34" charset="-120"/>
              </a:rPr>
              <a:t>Real-time Processing Constraints</a:t>
            </a:r>
            <a:endParaRPr lang="en-US" sz="1100" dirty="0"/>
          </a:p>
        </p:txBody>
      </p:sp>
      <p:sp>
        <p:nvSpPr>
          <p:cNvPr id="17" name="Text 12"/>
          <p:cNvSpPr/>
          <p:nvPr/>
        </p:nvSpPr>
        <p:spPr>
          <a:xfrm>
            <a:off x="3728442" y="5064443"/>
            <a:ext cx="3448288" cy="725805"/>
          </a:xfrm>
          <a:prstGeom prst="rect">
            <a:avLst/>
          </a:prstGeom>
          <a:noFill/>
          <a:ln/>
        </p:spPr>
        <p:txBody>
          <a:bodyPr wrap="square" lIns="0" tIns="0" rIns="0" bIns="0" rtlCol="0" anchor="t"/>
          <a:lstStyle/>
          <a:p>
            <a:pPr marL="0" indent="0" algn="l">
              <a:lnSpc>
                <a:spcPts val="1400"/>
              </a:lnSpc>
              <a:buNone/>
            </a:pPr>
            <a:r>
              <a:rPr lang="en-US" sz="850" dirty="0">
                <a:solidFill>
                  <a:srgbClr val="D6E5EF"/>
                </a:solidFill>
                <a:latin typeface="Roboto" pitchFamily="34" charset="0"/>
                <a:ea typeface="Roboto" pitchFamily="34" charset="-122"/>
                <a:cs typeface="Roboto" pitchFamily="34" charset="-120"/>
              </a:rPr>
              <a:t>Meeting stringent low-latency requirements for real-time emotional state detection and content delivery demanded highly optimized algorithms and efficient computational resource management, particularly for deployment on edge devices.</a:t>
            </a:r>
            <a:endParaRPr lang="en-US" sz="850" dirty="0"/>
          </a:p>
        </p:txBody>
      </p:sp>
      <p:sp>
        <p:nvSpPr>
          <p:cNvPr id="18" name="Text 13"/>
          <p:cNvSpPr/>
          <p:nvPr/>
        </p:nvSpPr>
        <p:spPr>
          <a:xfrm>
            <a:off x="3728442" y="5988606"/>
            <a:ext cx="113348" cy="141684"/>
          </a:xfrm>
          <a:prstGeom prst="rect">
            <a:avLst/>
          </a:prstGeom>
          <a:noFill/>
          <a:ln/>
        </p:spPr>
        <p:txBody>
          <a:bodyPr wrap="none" lIns="0" tIns="0" rIns="0" bIns="0" rtlCol="0" anchor="t"/>
          <a:lstStyle/>
          <a:p>
            <a:pPr marL="0" indent="0" algn="l">
              <a:lnSpc>
                <a:spcPts val="1400"/>
              </a:lnSpc>
              <a:buNone/>
            </a:pPr>
            <a:r>
              <a:rPr lang="en-US" sz="850" dirty="0">
                <a:solidFill>
                  <a:srgbClr val="D6E5EF"/>
                </a:solidFill>
                <a:latin typeface="Roboto Slab Light" pitchFamily="34" charset="0"/>
                <a:ea typeface="Roboto Slab Light" pitchFamily="34" charset="-122"/>
                <a:cs typeface="Roboto Slab Light" pitchFamily="34" charset="-120"/>
              </a:rPr>
              <a:t>04</a:t>
            </a:r>
            <a:endParaRPr lang="en-US" sz="850" dirty="0"/>
          </a:p>
        </p:txBody>
      </p:sp>
      <p:pic>
        <p:nvPicPr>
          <p:cNvPr id="19" name="Image 3" descr="preencoded.png"/>
          <p:cNvPicPr>
            <a:picLocks noChangeAspect="1"/>
          </p:cNvPicPr>
          <p:nvPr/>
        </p:nvPicPr>
        <p:blipFill>
          <a:blip r:embed="rId3"/>
          <a:stretch>
            <a:fillRect/>
          </a:stretch>
        </p:blipFill>
        <p:spPr>
          <a:xfrm>
            <a:off x="3728442" y="6098143"/>
            <a:ext cx="3448288" cy="15240"/>
          </a:xfrm>
          <a:prstGeom prst="rect">
            <a:avLst/>
          </a:prstGeom>
        </p:spPr>
      </p:pic>
      <p:sp>
        <p:nvSpPr>
          <p:cNvPr id="20" name="Text 14"/>
          <p:cNvSpPr/>
          <p:nvPr/>
        </p:nvSpPr>
        <p:spPr>
          <a:xfrm>
            <a:off x="3728442" y="6253163"/>
            <a:ext cx="1432203" cy="177165"/>
          </a:xfrm>
          <a:prstGeom prst="rect">
            <a:avLst/>
          </a:prstGeom>
          <a:noFill/>
          <a:ln/>
        </p:spPr>
        <p:txBody>
          <a:bodyPr wrap="none" lIns="0" tIns="0" rIns="0" bIns="0" rtlCol="0" anchor="t"/>
          <a:lstStyle/>
          <a:p>
            <a:pPr marL="0" indent="0" algn="l">
              <a:lnSpc>
                <a:spcPts val="1350"/>
              </a:lnSpc>
              <a:buNone/>
            </a:pPr>
            <a:r>
              <a:rPr lang="en-US" sz="1100" dirty="0">
                <a:solidFill>
                  <a:srgbClr val="D6E5EF"/>
                </a:solidFill>
                <a:latin typeface="Roboto Slab" pitchFamily="34" charset="0"/>
                <a:ea typeface="Roboto Slab" pitchFamily="34" charset="-122"/>
                <a:cs typeface="Roboto Slab" pitchFamily="34" charset="-120"/>
              </a:rPr>
              <a:t>Model Generalization</a:t>
            </a:r>
            <a:endParaRPr lang="en-US" sz="1100" dirty="0"/>
          </a:p>
        </p:txBody>
      </p:sp>
      <p:sp>
        <p:nvSpPr>
          <p:cNvPr id="21" name="Text 15"/>
          <p:cNvSpPr/>
          <p:nvPr/>
        </p:nvSpPr>
        <p:spPr>
          <a:xfrm>
            <a:off x="3728442" y="6543675"/>
            <a:ext cx="3448288" cy="725805"/>
          </a:xfrm>
          <a:prstGeom prst="rect">
            <a:avLst/>
          </a:prstGeom>
          <a:noFill/>
          <a:ln/>
        </p:spPr>
        <p:txBody>
          <a:bodyPr wrap="square" lIns="0" tIns="0" rIns="0" bIns="0" rtlCol="0" anchor="t"/>
          <a:lstStyle/>
          <a:p>
            <a:pPr marL="0" indent="0" algn="l">
              <a:lnSpc>
                <a:spcPts val="1400"/>
              </a:lnSpc>
              <a:buNone/>
            </a:pPr>
            <a:r>
              <a:rPr lang="en-US" sz="850" dirty="0">
                <a:solidFill>
                  <a:srgbClr val="D6E5EF"/>
                </a:solidFill>
                <a:latin typeface="Roboto" pitchFamily="34" charset="0"/>
                <a:ea typeface="Roboto" pitchFamily="34" charset="-122"/>
                <a:cs typeface="Roboto" pitchFamily="34" charset="-120"/>
              </a:rPr>
              <a:t>Ensuring the model's ability to generalize effectively across diverse user demographics, cultural expressions, and previously unseen datasets was critical for broad applicability, requiring robust feature extraction and adaptation mechanisms.</a:t>
            </a:r>
            <a:endParaRPr lang="en-US" sz="850" dirty="0"/>
          </a:p>
        </p:txBody>
      </p:sp>
      <p:pic>
        <p:nvPicPr>
          <p:cNvPr id="22" name="Image 4" descr="preencoded.png"/>
          <p:cNvPicPr>
            <a:picLocks noChangeAspect="1"/>
          </p:cNvPicPr>
          <p:nvPr/>
        </p:nvPicPr>
        <p:blipFill>
          <a:blip r:embed="rId4"/>
          <a:stretch>
            <a:fillRect/>
          </a:stretch>
        </p:blipFill>
        <p:spPr>
          <a:xfrm>
            <a:off x="7461052" y="1550908"/>
            <a:ext cx="3448288" cy="3448288"/>
          </a:xfrm>
          <a:prstGeom prst="rect">
            <a:avLst/>
          </a:prstGeom>
        </p:spPr>
      </p:pic>
      <p:sp>
        <p:nvSpPr>
          <p:cNvPr id="23" name="Text 16"/>
          <p:cNvSpPr/>
          <p:nvPr/>
        </p:nvSpPr>
        <p:spPr>
          <a:xfrm>
            <a:off x="3728442" y="7609523"/>
            <a:ext cx="7173397" cy="1088708"/>
          </a:xfrm>
          <a:prstGeom prst="rect">
            <a:avLst/>
          </a:prstGeom>
          <a:noFill/>
          <a:ln/>
        </p:spPr>
        <p:txBody>
          <a:bodyPr wrap="square" lIns="0" tIns="0" rIns="0" bIns="0" rtlCol="0" anchor="t"/>
          <a:lstStyle/>
          <a:p>
            <a:pPr marL="0" indent="0" algn="l">
              <a:lnSpc>
                <a:spcPts val="1400"/>
              </a:lnSpc>
              <a:buNone/>
            </a:pPr>
            <a:r>
              <a:rPr lang="en-US" sz="850" dirty="0">
                <a:solidFill>
                  <a:srgbClr val="D6E5EF"/>
                </a:solidFill>
                <a:latin typeface="Roboto" pitchFamily="34" charset="0"/>
                <a:ea typeface="Roboto" pitchFamily="34" charset="-122"/>
                <a:cs typeface="Roboto" pitchFamily="34" charset="-120"/>
              </a:rPr>
              <a:t>These challenges were systematically addressed through a multi-faceted approach. To mitigate environmental factors, advanced data augmentation techniques, including varied lighting conditions and background variations, were employed. Dataset imbalances were tackled using weighted loss functions during training and synthetic data generation for underrepresented classes. Real-time processing constraints necessitated the development of lightweight, optimized model architectures and efficient inference engines. Finally, model generalization was enhanced through transfer learning from large foundational models and extensive validation across diverse, independent datasets, ensuring robust performance in varied operational contexts.</a:t>
            </a:r>
            <a:endParaRPr lang="en-US" sz="850" dirty="0"/>
          </a:p>
        </p:txBody>
      </p:sp>
      <p:pic>
        <p:nvPicPr>
          <p:cNvPr id="25" name="Picture 24">
            <a:extLst>
              <a:ext uri="{FF2B5EF4-FFF2-40B4-BE49-F238E27FC236}">
                <a16:creationId xmlns:a16="http://schemas.microsoft.com/office/drawing/2014/main" id="{9D0409A9-AF19-F3DE-4355-25512C74CC2E}"/>
              </a:ext>
            </a:extLst>
          </p:cNvPr>
          <p:cNvPicPr>
            <a:picLocks noChangeAspect="1"/>
          </p:cNvPicPr>
          <p:nvPr/>
        </p:nvPicPr>
        <p:blipFill>
          <a:blip r:embed="rId5"/>
          <a:stretch>
            <a:fillRect/>
          </a:stretch>
        </p:blipFill>
        <p:spPr>
          <a:xfrm>
            <a:off x="12488994" y="7726665"/>
            <a:ext cx="2141406" cy="41980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2928223" y="715447"/>
            <a:ext cx="1495425" cy="260628"/>
          </a:xfrm>
          <a:prstGeom prst="roundRect">
            <a:avLst>
              <a:gd name="adj" fmla="val 6387"/>
            </a:avLst>
          </a:prstGeom>
          <a:solidFill>
            <a:srgbClr val="082545"/>
          </a:solidFill>
          <a:ln/>
        </p:spPr>
      </p:sp>
      <p:sp>
        <p:nvSpPr>
          <p:cNvPr id="3" name="Text 1"/>
          <p:cNvSpPr/>
          <p:nvPr/>
        </p:nvSpPr>
        <p:spPr>
          <a:xfrm>
            <a:off x="3011448" y="756999"/>
            <a:ext cx="1328976" cy="177522"/>
          </a:xfrm>
          <a:prstGeom prst="rect">
            <a:avLst/>
          </a:prstGeom>
          <a:noFill/>
          <a:ln/>
        </p:spPr>
        <p:txBody>
          <a:bodyPr wrap="none" lIns="0" tIns="0" rIns="0" bIns="0" rtlCol="0" anchor="t"/>
          <a:lstStyle/>
          <a:p>
            <a:pPr marL="0" indent="0" algn="l">
              <a:lnSpc>
                <a:spcPts val="1350"/>
              </a:lnSpc>
              <a:buNone/>
            </a:pPr>
            <a:r>
              <a:rPr lang="en-US" sz="850" dirty="0">
                <a:solidFill>
                  <a:srgbClr val="D6E5EF"/>
                </a:solidFill>
                <a:latin typeface="Roboto" pitchFamily="34" charset="0"/>
                <a:ea typeface="Roboto" pitchFamily="34" charset="-122"/>
                <a:cs typeface="Roboto" pitchFamily="34" charset="-120"/>
              </a:rPr>
              <a:t>DEVELOPMENT ROADMAP</a:t>
            </a:r>
            <a:endParaRPr lang="en-US" sz="850" dirty="0"/>
          </a:p>
        </p:txBody>
      </p:sp>
      <p:sp>
        <p:nvSpPr>
          <p:cNvPr id="4" name="Text 2"/>
          <p:cNvSpPr/>
          <p:nvPr/>
        </p:nvSpPr>
        <p:spPr>
          <a:xfrm>
            <a:off x="2928223" y="1031558"/>
            <a:ext cx="4074200" cy="433507"/>
          </a:xfrm>
          <a:prstGeom prst="rect">
            <a:avLst/>
          </a:prstGeom>
          <a:noFill/>
          <a:ln/>
        </p:spPr>
        <p:txBody>
          <a:bodyPr wrap="none" lIns="0" tIns="0" rIns="0" bIns="0" rtlCol="0" anchor="t"/>
          <a:lstStyle/>
          <a:p>
            <a:pPr marL="0" indent="0" algn="l">
              <a:lnSpc>
                <a:spcPts val="3400"/>
              </a:lnSpc>
              <a:buNone/>
            </a:pPr>
            <a:r>
              <a:rPr lang="en-US" sz="2700" dirty="0">
                <a:solidFill>
                  <a:srgbClr val="76B9FF"/>
                </a:solidFill>
                <a:latin typeface="Roboto Slab" pitchFamily="34" charset="0"/>
                <a:ea typeface="Roboto Slab" pitchFamily="34" charset="-122"/>
                <a:cs typeface="Roboto Slab" pitchFamily="34" charset="-120"/>
              </a:rPr>
              <a:t>Future Scope &amp; Roadmap</a:t>
            </a:r>
            <a:endParaRPr lang="en-US" sz="2700" dirty="0"/>
          </a:p>
        </p:txBody>
      </p:sp>
      <p:sp>
        <p:nvSpPr>
          <p:cNvPr id="5" name="Text 3"/>
          <p:cNvSpPr/>
          <p:nvPr/>
        </p:nvSpPr>
        <p:spPr>
          <a:xfrm>
            <a:off x="2928223" y="1520547"/>
            <a:ext cx="5687020" cy="346710"/>
          </a:xfrm>
          <a:prstGeom prst="rect">
            <a:avLst/>
          </a:prstGeom>
          <a:noFill/>
          <a:ln/>
        </p:spPr>
        <p:txBody>
          <a:bodyPr wrap="none" lIns="0" tIns="0" rIns="0" bIns="0" rtlCol="0" anchor="t"/>
          <a:lstStyle/>
          <a:p>
            <a:pPr marL="0" indent="0" algn="l">
              <a:lnSpc>
                <a:spcPts val="2700"/>
              </a:lnSpc>
              <a:buNone/>
            </a:pPr>
            <a:r>
              <a:rPr lang="en-US" sz="2150" dirty="0">
                <a:solidFill>
                  <a:srgbClr val="76B9FF"/>
                </a:solidFill>
                <a:latin typeface="Roboto Slab" pitchFamily="34" charset="0"/>
                <a:ea typeface="Roboto Slab" pitchFamily="34" charset="-122"/>
                <a:cs typeface="Roboto Slab" pitchFamily="34" charset="-120"/>
              </a:rPr>
              <a:t>Vision for System Expansion and Evolution</a:t>
            </a:r>
            <a:endParaRPr lang="en-US" sz="2150" dirty="0"/>
          </a:p>
        </p:txBody>
      </p:sp>
      <p:sp>
        <p:nvSpPr>
          <p:cNvPr id="6" name="Text 4"/>
          <p:cNvSpPr/>
          <p:nvPr/>
        </p:nvSpPr>
        <p:spPr>
          <a:xfrm>
            <a:off x="2928223" y="2075259"/>
            <a:ext cx="8773835" cy="443865"/>
          </a:xfrm>
          <a:prstGeom prst="rect">
            <a:avLst/>
          </a:prstGeom>
          <a:noFill/>
          <a:ln/>
        </p:spPr>
        <p:txBody>
          <a:bodyPr wrap="square" lIns="0" tIns="0" rIns="0" bIns="0" rtlCol="0" anchor="t"/>
          <a:lstStyle/>
          <a:p>
            <a:pPr marL="0" indent="0" algn="l">
              <a:lnSpc>
                <a:spcPts val="1700"/>
              </a:lnSpc>
              <a:buNone/>
            </a:pPr>
            <a:r>
              <a:rPr lang="en-US" sz="1050" dirty="0">
                <a:solidFill>
                  <a:srgbClr val="D6E5EF"/>
                </a:solidFill>
                <a:latin typeface="Roboto" pitchFamily="34" charset="0"/>
                <a:ea typeface="Roboto" pitchFamily="34" charset="-122"/>
                <a:cs typeface="Roboto" pitchFamily="34" charset="-120"/>
              </a:rPr>
              <a:t>AuraStream AI is poised for significant evolution, extending its capabilities and reach to create a truly immersive and adaptive user experience. Our roadmap focuses on integrating with leading platforms, enhancing accessibility, and deepening the emotional intelligence of the system.</a:t>
            </a:r>
            <a:endParaRPr lang="en-US" sz="1050" dirty="0"/>
          </a:p>
        </p:txBody>
      </p:sp>
      <p:sp>
        <p:nvSpPr>
          <p:cNvPr id="7" name="Shape 5"/>
          <p:cNvSpPr/>
          <p:nvPr/>
        </p:nvSpPr>
        <p:spPr>
          <a:xfrm>
            <a:off x="2928223" y="2675096"/>
            <a:ext cx="2832140" cy="3795355"/>
          </a:xfrm>
          <a:prstGeom prst="roundRect">
            <a:avLst>
              <a:gd name="adj" fmla="val 735"/>
            </a:avLst>
          </a:prstGeom>
          <a:solidFill>
            <a:srgbClr val="3F4652"/>
          </a:solidFill>
          <a:ln/>
        </p:spPr>
      </p:sp>
      <p:pic>
        <p:nvPicPr>
          <p:cNvPr id="8" name="Image 0" descr="preencoded.png"/>
          <p:cNvPicPr>
            <a:picLocks noChangeAspect="1"/>
          </p:cNvPicPr>
          <p:nvPr/>
        </p:nvPicPr>
        <p:blipFill>
          <a:blip r:embed="rId3"/>
          <a:stretch>
            <a:fillRect/>
          </a:stretch>
        </p:blipFill>
        <p:spPr>
          <a:xfrm>
            <a:off x="3066931" y="2813804"/>
            <a:ext cx="416123" cy="416123"/>
          </a:xfrm>
          <a:prstGeom prst="rect">
            <a:avLst/>
          </a:prstGeom>
        </p:spPr>
      </p:pic>
      <p:pic>
        <p:nvPicPr>
          <p:cNvPr id="9"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81350" y="2928223"/>
            <a:ext cx="187166" cy="187166"/>
          </a:xfrm>
          <a:prstGeom prst="rect">
            <a:avLst/>
          </a:prstGeom>
        </p:spPr>
      </p:pic>
      <p:sp>
        <p:nvSpPr>
          <p:cNvPr id="10" name="Text 6"/>
          <p:cNvSpPr/>
          <p:nvPr/>
        </p:nvSpPr>
        <p:spPr>
          <a:xfrm>
            <a:off x="3066931" y="3368635"/>
            <a:ext cx="1878211" cy="216694"/>
          </a:xfrm>
          <a:prstGeom prst="rect">
            <a:avLst/>
          </a:prstGeom>
          <a:noFill/>
          <a:ln/>
        </p:spPr>
        <p:txBody>
          <a:bodyPr wrap="none" lIns="0" tIns="0" rIns="0" bIns="0" rtlCol="0" anchor="t"/>
          <a:lstStyle/>
          <a:p>
            <a:pPr marL="0" indent="0" algn="l">
              <a:lnSpc>
                <a:spcPts val="1700"/>
              </a:lnSpc>
              <a:buNone/>
            </a:pPr>
            <a:r>
              <a:rPr lang="en-US" sz="1350" dirty="0">
                <a:solidFill>
                  <a:srgbClr val="D6E5EF"/>
                </a:solidFill>
                <a:latin typeface="Roboto Slab" pitchFamily="34" charset="0"/>
                <a:ea typeface="Roboto Slab" pitchFamily="34" charset="-122"/>
                <a:cs typeface="Roboto Slab" pitchFamily="34" charset="-120"/>
              </a:rPr>
              <a:t>Spotify API Integration</a:t>
            </a:r>
            <a:endParaRPr lang="en-US" sz="1350" dirty="0"/>
          </a:p>
        </p:txBody>
      </p:sp>
      <p:sp>
        <p:nvSpPr>
          <p:cNvPr id="11" name="Text 7"/>
          <p:cNvSpPr/>
          <p:nvPr/>
        </p:nvSpPr>
        <p:spPr>
          <a:xfrm>
            <a:off x="3066931" y="3668554"/>
            <a:ext cx="2554724" cy="2219325"/>
          </a:xfrm>
          <a:prstGeom prst="rect">
            <a:avLst/>
          </a:prstGeom>
          <a:noFill/>
          <a:ln/>
        </p:spPr>
        <p:txBody>
          <a:bodyPr wrap="square" lIns="0" tIns="0" rIns="0" bIns="0" rtlCol="0" anchor="t"/>
          <a:lstStyle/>
          <a:p>
            <a:pPr marL="0" indent="0" algn="l">
              <a:lnSpc>
                <a:spcPts val="1700"/>
              </a:lnSpc>
              <a:buNone/>
            </a:pPr>
            <a:r>
              <a:rPr lang="en-US" sz="1050" dirty="0">
                <a:solidFill>
                  <a:srgbClr val="D6E5EF"/>
                </a:solidFill>
                <a:latin typeface="Roboto" pitchFamily="34" charset="0"/>
                <a:ea typeface="Roboto" pitchFamily="34" charset="-122"/>
                <a:cs typeface="Roboto" pitchFamily="34" charset="-120"/>
              </a:rPr>
              <a:t>Connecting to Spotify's rich music catalog will enable real-time, emotionally intelligent playlist creation and dynamic music recommendations. This integration will also support user library synchronization for a personalized experience, alongside seamless, licensed music streaming directly within AuraStream AI, targeting a Q3 2024 launch.</a:t>
            </a:r>
            <a:endParaRPr lang="en-US" sz="1050" dirty="0"/>
          </a:p>
        </p:txBody>
      </p:sp>
      <p:sp>
        <p:nvSpPr>
          <p:cNvPr id="12" name="Shape 8"/>
          <p:cNvSpPr/>
          <p:nvPr/>
        </p:nvSpPr>
        <p:spPr>
          <a:xfrm>
            <a:off x="5899071" y="2675096"/>
            <a:ext cx="2832140" cy="3795355"/>
          </a:xfrm>
          <a:prstGeom prst="roundRect">
            <a:avLst>
              <a:gd name="adj" fmla="val 735"/>
            </a:avLst>
          </a:prstGeom>
          <a:solidFill>
            <a:srgbClr val="3F4652"/>
          </a:solidFill>
          <a:ln/>
        </p:spPr>
      </p:sp>
      <p:pic>
        <p:nvPicPr>
          <p:cNvPr id="13" name="Image 2" descr="preencoded.png"/>
          <p:cNvPicPr>
            <a:picLocks noChangeAspect="1"/>
          </p:cNvPicPr>
          <p:nvPr/>
        </p:nvPicPr>
        <p:blipFill>
          <a:blip r:embed="rId6"/>
          <a:stretch>
            <a:fillRect/>
          </a:stretch>
        </p:blipFill>
        <p:spPr>
          <a:xfrm>
            <a:off x="6037778" y="2813804"/>
            <a:ext cx="416123" cy="416123"/>
          </a:xfrm>
          <a:prstGeom prst="rect">
            <a:avLst/>
          </a:prstGeom>
        </p:spPr>
      </p:pic>
      <p:pic>
        <p:nvPicPr>
          <p:cNvPr id="14"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52198" y="2928223"/>
            <a:ext cx="187166" cy="187166"/>
          </a:xfrm>
          <a:prstGeom prst="rect">
            <a:avLst/>
          </a:prstGeom>
        </p:spPr>
      </p:pic>
      <p:sp>
        <p:nvSpPr>
          <p:cNvPr id="15" name="Text 9"/>
          <p:cNvSpPr/>
          <p:nvPr/>
        </p:nvSpPr>
        <p:spPr>
          <a:xfrm>
            <a:off x="6037778" y="3368635"/>
            <a:ext cx="1733907" cy="216694"/>
          </a:xfrm>
          <a:prstGeom prst="rect">
            <a:avLst/>
          </a:prstGeom>
          <a:noFill/>
          <a:ln/>
        </p:spPr>
        <p:txBody>
          <a:bodyPr wrap="none" lIns="0" tIns="0" rIns="0" bIns="0" rtlCol="0" anchor="t"/>
          <a:lstStyle/>
          <a:p>
            <a:pPr marL="0" indent="0" algn="l">
              <a:lnSpc>
                <a:spcPts val="1700"/>
              </a:lnSpc>
              <a:buNone/>
            </a:pPr>
            <a:r>
              <a:rPr lang="en-US" sz="1350" dirty="0">
                <a:solidFill>
                  <a:srgbClr val="D6E5EF"/>
                </a:solidFill>
                <a:latin typeface="Roboto Slab" pitchFamily="34" charset="0"/>
                <a:ea typeface="Roboto Slab" pitchFamily="34" charset="-122"/>
                <a:cs typeface="Roboto Slab" pitchFamily="34" charset="-120"/>
              </a:rPr>
              <a:t>Mobile Deployment</a:t>
            </a:r>
            <a:endParaRPr lang="en-US" sz="1350" dirty="0"/>
          </a:p>
        </p:txBody>
      </p:sp>
      <p:sp>
        <p:nvSpPr>
          <p:cNvPr id="16" name="Text 10"/>
          <p:cNvSpPr/>
          <p:nvPr/>
        </p:nvSpPr>
        <p:spPr>
          <a:xfrm>
            <a:off x="6037778" y="3668554"/>
            <a:ext cx="2554724" cy="2219325"/>
          </a:xfrm>
          <a:prstGeom prst="rect">
            <a:avLst/>
          </a:prstGeom>
          <a:noFill/>
          <a:ln/>
        </p:spPr>
        <p:txBody>
          <a:bodyPr wrap="square" lIns="0" tIns="0" rIns="0" bIns="0" rtlCol="0" anchor="t"/>
          <a:lstStyle/>
          <a:p>
            <a:pPr marL="0" indent="0" algn="l">
              <a:lnSpc>
                <a:spcPts val="1700"/>
              </a:lnSpc>
              <a:buNone/>
            </a:pPr>
            <a:r>
              <a:rPr lang="en-US" sz="1050" dirty="0">
                <a:solidFill>
                  <a:srgbClr val="D6E5EF"/>
                </a:solidFill>
                <a:latin typeface="Roboto" pitchFamily="34" charset="0"/>
                <a:ea typeface="Roboto" pitchFamily="34" charset="-122"/>
                <a:cs typeface="Roboto" pitchFamily="34" charset="-120"/>
              </a:rPr>
              <a:t>Developing native mobile applications for iOS and Android platforms is a priority to ensure ubiquitous access. We'll optimize for edge computing to enable efficient, localized, and even offline emotion detection on mobile devices. Cross-platform synchronization will ensure a consistent user experience across all devices, with initial beta releases planned for Q1 2025.</a:t>
            </a:r>
            <a:endParaRPr lang="en-US" sz="1050" dirty="0"/>
          </a:p>
        </p:txBody>
      </p:sp>
      <p:sp>
        <p:nvSpPr>
          <p:cNvPr id="17" name="Shape 11"/>
          <p:cNvSpPr/>
          <p:nvPr/>
        </p:nvSpPr>
        <p:spPr>
          <a:xfrm>
            <a:off x="8869918" y="2675096"/>
            <a:ext cx="2832140" cy="3795355"/>
          </a:xfrm>
          <a:prstGeom prst="roundRect">
            <a:avLst>
              <a:gd name="adj" fmla="val 735"/>
            </a:avLst>
          </a:prstGeom>
          <a:solidFill>
            <a:srgbClr val="3F4652"/>
          </a:solidFill>
          <a:ln/>
        </p:spPr>
      </p:sp>
      <p:pic>
        <p:nvPicPr>
          <p:cNvPr id="18" name="Image 4" descr="preencoded.png"/>
          <p:cNvPicPr>
            <a:picLocks noChangeAspect="1"/>
          </p:cNvPicPr>
          <p:nvPr/>
        </p:nvPicPr>
        <p:blipFill>
          <a:blip r:embed="rId9"/>
          <a:stretch>
            <a:fillRect/>
          </a:stretch>
        </p:blipFill>
        <p:spPr>
          <a:xfrm>
            <a:off x="9008626" y="2813804"/>
            <a:ext cx="416123" cy="416123"/>
          </a:xfrm>
          <a:prstGeom prst="rect">
            <a:avLst/>
          </a:prstGeom>
        </p:spPr>
      </p:pic>
      <p:pic>
        <p:nvPicPr>
          <p:cNvPr id="19"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23045" y="2928223"/>
            <a:ext cx="187166" cy="187166"/>
          </a:xfrm>
          <a:prstGeom prst="rect">
            <a:avLst/>
          </a:prstGeom>
        </p:spPr>
      </p:pic>
      <p:sp>
        <p:nvSpPr>
          <p:cNvPr id="20" name="Text 12"/>
          <p:cNvSpPr/>
          <p:nvPr/>
        </p:nvSpPr>
        <p:spPr>
          <a:xfrm>
            <a:off x="9008626" y="3368635"/>
            <a:ext cx="2145268" cy="216694"/>
          </a:xfrm>
          <a:prstGeom prst="rect">
            <a:avLst/>
          </a:prstGeom>
          <a:noFill/>
          <a:ln/>
        </p:spPr>
        <p:txBody>
          <a:bodyPr wrap="none" lIns="0" tIns="0" rIns="0" bIns="0" rtlCol="0" anchor="t"/>
          <a:lstStyle/>
          <a:p>
            <a:pPr marL="0" indent="0" algn="l">
              <a:lnSpc>
                <a:spcPts val="1700"/>
              </a:lnSpc>
              <a:buNone/>
            </a:pPr>
            <a:r>
              <a:rPr lang="en-US" sz="1350" dirty="0">
                <a:solidFill>
                  <a:srgbClr val="D6E5EF"/>
                </a:solidFill>
                <a:latin typeface="Roboto Slab" pitchFamily="34" charset="0"/>
                <a:ea typeface="Roboto Slab" pitchFamily="34" charset="-122"/>
                <a:cs typeface="Roboto Slab" pitchFamily="34" charset="-120"/>
              </a:rPr>
              <a:t>Expanded Affective States</a:t>
            </a:r>
            <a:endParaRPr lang="en-US" sz="1350" dirty="0"/>
          </a:p>
        </p:txBody>
      </p:sp>
      <p:sp>
        <p:nvSpPr>
          <p:cNvPr id="21" name="Text 13"/>
          <p:cNvSpPr/>
          <p:nvPr/>
        </p:nvSpPr>
        <p:spPr>
          <a:xfrm>
            <a:off x="9008626" y="3668554"/>
            <a:ext cx="2554724" cy="2663190"/>
          </a:xfrm>
          <a:prstGeom prst="rect">
            <a:avLst/>
          </a:prstGeom>
          <a:noFill/>
          <a:ln/>
        </p:spPr>
        <p:txBody>
          <a:bodyPr wrap="square" lIns="0" tIns="0" rIns="0" bIns="0" rtlCol="0" anchor="t"/>
          <a:lstStyle/>
          <a:p>
            <a:pPr marL="0" indent="0" algn="l">
              <a:lnSpc>
                <a:spcPts val="1700"/>
              </a:lnSpc>
              <a:buNone/>
            </a:pPr>
            <a:r>
              <a:rPr lang="en-US" sz="1050" dirty="0">
                <a:solidFill>
                  <a:srgbClr val="D6E5EF"/>
                </a:solidFill>
                <a:latin typeface="Roboto" pitchFamily="34" charset="0"/>
                <a:ea typeface="Roboto" pitchFamily="34" charset="-122"/>
                <a:cs typeface="Roboto" pitchFamily="34" charset="-120"/>
              </a:rPr>
              <a:t>Our goal is to move beyond basic emotions to detect more granular affective states, including nuanced moods and cognitive states. This will involve integrating multi-modal emotion detection, combining voice, text analysis, and potentially biometric signals (e.g., heart rate variability). Research into cultural emotion variations will ensure global applicability and sensitivity, with continuous model updates projected from Q4 2024.</a:t>
            </a:r>
            <a:endParaRPr lang="en-US" sz="1050" dirty="0"/>
          </a:p>
        </p:txBody>
      </p:sp>
      <p:sp>
        <p:nvSpPr>
          <p:cNvPr id="22" name="Text 14"/>
          <p:cNvSpPr/>
          <p:nvPr/>
        </p:nvSpPr>
        <p:spPr>
          <a:xfrm>
            <a:off x="2928223" y="6626423"/>
            <a:ext cx="8773835" cy="887730"/>
          </a:xfrm>
          <a:prstGeom prst="rect">
            <a:avLst/>
          </a:prstGeom>
          <a:noFill/>
          <a:ln/>
        </p:spPr>
        <p:txBody>
          <a:bodyPr wrap="square" lIns="0" tIns="0" rIns="0" bIns="0" rtlCol="0" anchor="t"/>
          <a:lstStyle/>
          <a:p>
            <a:pPr marL="0" indent="0" algn="l">
              <a:lnSpc>
                <a:spcPts val="1700"/>
              </a:lnSpc>
              <a:buNone/>
            </a:pPr>
            <a:r>
              <a:rPr lang="en-US" sz="1050" dirty="0">
                <a:solidFill>
                  <a:srgbClr val="D6E5EF"/>
                </a:solidFill>
                <a:latin typeface="Roboto" pitchFamily="34" charset="0"/>
                <a:ea typeface="Roboto" pitchFamily="34" charset="-122"/>
                <a:cs typeface="Roboto" pitchFamily="34" charset="-120"/>
              </a:rPr>
              <a:t>The long-term vision for AuraStream AI is to become the leading platform for truly personalized entertainment, significantly impacting mental wellness. By continuously refining our emotional intelligence and expanding integration points, we aim to empower users with an adaptive digital environment that intuitively responds to their emotional needs, fostering creativity, focus, and overall well-being. This roadmap sets the foundation for a future where technology understands and supports the human emotional landscape.</a:t>
            </a:r>
            <a:endParaRPr lang="en-US" sz="1050" dirty="0"/>
          </a:p>
        </p:txBody>
      </p:sp>
      <p:pic>
        <p:nvPicPr>
          <p:cNvPr id="24" name="Picture 23">
            <a:extLst>
              <a:ext uri="{FF2B5EF4-FFF2-40B4-BE49-F238E27FC236}">
                <a16:creationId xmlns:a16="http://schemas.microsoft.com/office/drawing/2014/main" id="{B5F2B11F-41DB-3907-2AD1-0830710B68C0}"/>
              </a:ext>
            </a:extLst>
          </p:cNvPr>
          <p:cNvPicPr>
            <a:picLocks noChangeAspect="1"/>
          </p:cNvPicPr>
          <p:nvPr/>
        </p:nvPicPr>
        <p:blipFill>
          <a:blip r:embed="rId12"/>
          <a:stretch>
            <a:fillRect/>
          </a:stretch>
        </p:blipFill>
        <p:spPr>
          <a:xfrm>
            <a:off x="12488994" y="7716274"/>
            <a:ext cx="2141406" cy="4405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2625566" y="535424"/>
            <a:ext cx="1286828" cy="278487"/>
          </a:xfrm>
          <a:prstGeom prst="roundRect">
            <a:avLst>
              <a:gd name="adj" fmla="val 6390"/>
            </a:avLst>
          </a:prstGeom>
          <a:solidFill>
            <a:srgbClr val="082545"/>
          </a:solidFill>
          <a:ln/>
        </p:spPr>
      </p:sp>
      <p:sp>
        <p:nvSpPr>
          <p:cNvPr id="3" name="Text 1"/>
          <p:cNvSpPr/>
          <p:nvPr/>
        </p:nvSpPr>
        <p:spPr>
          <a:xfrm>
            <a:off x="2714506" y="579834"/>
            <a:ext cx="1108948" cy="189667"/>
          </a:xfrm>
          <a:prstGeom prst="rect">
            <a:avLst/>
          </a:prstGeom>
          <a:noFill/>
          <a:ln/>
        </p:spPr>
        <p:txBody>
          <a:bodyPr wrap="none" lIns="0" tIns="0" rIns="0" bIns="0" rtlCol="0" anchor="t"/>
          <a:lstStyle/>
          <a:p>
            <a:pPr marL="0" indent="0" algn="l">
              <a:lnSpc>
                <a:spcPts val="1450"/>
              </a:lnSpc>
              <a:buNone/>
            </a:pPr>
            <a:r>
              <a:rPr lang="en-US" sz="900" dirty="0">
                <a:solidFill>
                  <a:srgbClr val="D6E5EF"/>
                </a:solidFill>
                <a:latin typeface="Roboto" pitchFamily="34" charset="0"/>
                <a:ea typeface="Roboto" pitchFamily="34" charset="-122"/>
                <a:cs typeface="Roboto" pitchFamily="34" charset="-120"/>
              </a:rPr>
              <a:t>PROJECT SUMMARY</a:t>
            </a:r>
            <a:endParaRPr lang="en-US" sz="900" dirty="0"/>
          </a:p>
        </p:txBody>
      </p:sp>
      <p:sp>
        <p:nvSpPr>
          <p:cNvPr id="4" name="Text 2"/>
          <p:cNvSpPr/>
          <p:nvPr/>
        </p:nvSpPr>
        <p:spPr>
          <a:xfrm>
            <a:off x="2625566" y="873204"/>
            <a:ext cx="3707130" cy="463391"/>
          </a:xfrm>
          <a:prstGeom prst="rect">
            <a:avLst/>
          </a:prstGeom>
          <a:noFill/>
          <a:ln/>
        </p:spPr>
        <p:txBody>
          <a:bodyPr wrap="none" lIns="0" tIns="0" rIns="0" bIns="0" rtlCol="0" anchor="t"/>
          <a:lstStyle/>
          <a:p>
            <a:pPr marL="0" indent="0" algn="l">
              <a:lnSpc>
                <a:spcPts val="3600"/>
              </a:lnSpc>
              <a:buNone/>
            </a:pPr>
            <a:r>
              <a:rPr lang="en-US" sz="2900" dirty="0">
                <a:solidFill>
                  <a:srgbClr val="76B9FF"/>
                </a:solidFill>
                <a:latin typeface="Roboto Slab" pitchFamily="34" charset="0"/>
                <a:ea typeface="Roboto Slab" pitchFamily="34" charset="-122"/>
                <a:cs typeface="Roboto Slab" pitchFamily="34" charset="-120"/>
              </a:rPr>
              <a:t>Conclusion</a:t>
            </a:r>
            <a:endParaRPr lang="en-US" sz="2900" dirty="0"/>
          </a:p>
        </p:txBody>
      </p:sp>
      <p:sp>
        <p:nvSpPr>
          <p:cNvPr id="5" name="Text 3"/>
          <p:cNvSpPr/>
          <p:nvPr/>
        </p:nvSpPr>
        <p:spPr>
          <a:xfrm>
            <a:off x="2625566" y="1395889"/>
            <a:ext cx="9379268" cy="741283"/>
          </a:xfrm>
          <a:prstGeom prst="rect">
            <a:avLst/>
          </a:prstGeom>
          <a:noFill/>
          <a:ln/>
        </p:spPr>
        <p:txBody>
          <a:bodyPr wrap="square" lIns="0" tIns="0" rIns="0" bIns="0" rtlCol="0" anchor="t"/>
          <a:lstStyle/>
          <a:p>
            <a:pPr marL="0" indent="0" algn="l">
              <a:lnSpc>
                <a:spcPts val="2900"/>
              </a:lnSpc>
              <a:buNone/>
            </a:pPr>
            <a:r>
              <a:rPr lang="en-US" sz="2300" dirty="0">
                <a:solidFill>
                  <a:srgbClr val="76B9FF"/>
                </a:solidFill>
                <a:latin typeface="Roboto Slab" pitchFamily="34" charset="0"/>
                <a:ea typeface="Roboto Slab" pitchFamily="34" charset="-122"/>
                <a:cs typeface="Roboto Slab" pitchFamily="34" charset="-120"/>
              </a:rPr>
              <a:t>Revolutionizing Affective Computing and Personalized Experiences</a:t>
            </a:r>
            <a:endParaRPr lang="en-US" sz="2300" dirty="0"/>
          </a:p>
        </p:txBody>
      </p:sp>
      <p:sp>
        <p:nvSpPr>
          <p:cNvPr id="6" name="Text 4"/>
          <p:cNvSpPr/>
          <p:nvPr/>
        </p:nvSpPr>
        <p:spPr>
          <a:xfrm>
            <a:off x="2625566" y="2359581"/>
            <a:ext cx="9379268" cy="1185863"/>
          </a:xfrm>
          <a:prstGeom prst="rect">
            <a:avLst/>
          </a:prstGeom>
          <a:noFill/>
          <a:ln/>
        </p:spPr>
        <p:txBody>
          <a:bodyPr wrap="square" lIns="0" tIns="0" rIns="0" bIns="0" rtlCol="0" anchor="t"/>
          <a:lstStyle/>
          <a:p>
            <a:pPr marL="0" indent="0" algn="l">
              <a:lnSpc>
                <a:spcPts val="1850"/>
              </a:lnSpc>
              <a:buNone/>
            </a:pPr>
            <a:r>
              <a:rPr lang="en-US" sz="1150" dirty="0">
                <a:solidFill>
                  <a:srgbClr val="D6E5EF"/>
                </a:solidFill>
                <a:latin typeface="Roboto" pitchFamily="34" charset="0"/>
                <a:ea typeface="Roboto" pitchFamily="34" charset="-122"/>
                <a:cs typeface="Roboto" pitchFamily="34" charset="-120"/>
              </a:rPr>
              <a:t>AuraStream AI stands as a testament to the power of affective computing in real-world applications. By seamlessly integrating advanced computer vision, sophisticated deep learning algorithms, and intelligent music recommendation systems, it has successfully pioneered a new frontier in personalized digital experiences. The system's ability to perform real-time emotion detection allows for dynamic and context-aware interactions, leading to truly personalized music curation that intuitively responds to a user's emotional state. This innovative approach significantly enhances user experience, fostering mental well-being and a deeper connection with digital content.</a:t>
            </a:r>
            <a:endParaRPr lang="en-US" sz="1150" dirty="0"/>
          </a:p>
        </p:txBody>
      </p:sp>
      <p:sp>
        <p:nvSpPr>
          <p:cNvPr id="7" name="Shape 5"/>
          <p:cNvSpPr/>
          <p:nvPr/>
        </p:nvSpPr>
        <p:spPr>
          <a:xfrm>
            <a:off x="2625566" y="3712250"/>
            <a:ext cx="4615458" cy="1359098"/>
          </a:xfrm>
          <a:prstGeom prst="roundRect">
            <a:avLst>
              <a:gd name="adj" fmla="val 5382"/>
            </a:avLst>
          </a:prstGeom>
          <a:solidFill>
            <a:srgbClr val="202733"/>
          </a:solidFill>
          <a:ln w="15240">
            <a:solidFill>
              <a:srgbClr val="585F6B"/>
            </a:solidFill>
            <a:prstDash val="solid"/>
          </a:ln>
        </p:spPr>
      </p:sp>
      <p:pic>
        <p:nvPicPr>
          <p:cNvPr id="8" name="Image 0" descr="preencoded.png"/>
          <p:cNvPicPr>
            <a:picLocks noChangeAspect="1"/>
          </p:cNvPicPr>
          <p:nvPr/>
        </p:nvPicPr>
        <p:blipFill>
          <a:blip r:embed="rId3"/>
          <a:stretch>
            <a:fillRect/>
          </a:stretch>
        </p:blipFill>
        <p:spPr>
          <a:xfrm>
            <a:off x="2610326" y="3712250"/>
            <a:ext cx="60960" cy="1359098"/>
          </a:xfrm>
          <a:prstGeom prst="rect">
            <a:avLst/>
          </a:prstGeom>
        </p:spPr>
      </p:pic>
      <p:sp>
        <p:nvSpPr>
          <p:cNvPr id="9" name="Text 6"/>
          <p:cNvSpPr/>
          <p:nvPr/>
        </p:nvSpPr>
        <p:spPr>
          <a:xfrm>
            <a:off x="2834759" y="3875723"/>
            <a:ext cx="3333750" cy="231696"/>
          </a:xfrm>
          <a:prstGeom prst="rect">
            <a:avLst/>
          </a:prstGeom>
          <a:noFill/>
          <a:ln/>
        </p:spPr>
        <p:txBody>
          <a:bodyPr wrap="none" lIns="0" tIns="0" rIns="0" bIns="0" rtlCol="0" anchor="t"/>
          <a:lstStyle/>
          <a:p>
            <a:pPr marL="0" indent="0" algn="l">
              <a:lnSpc>
                <a:spcPts val="1800"/>
              </a:lnSpc>
              <a:buNone/>
            </a:pPr>
            <a:r>
              <a:rPr lang="en-US" sz="1450" dirty="0">
                <a:solidFill>
                  <a:srgbClr val="D6E5EF"/>
                </a:solidFill>
                <a:latin typeface="Roboto Slab" pitchFamily="34" charset="0"/>
                <a:ea typeface="Roboto Slab" pitchFamily="34" charset="-122"/>
                <a:cs typeface="Roboto Slab" pitchFamily="34" charset="-120"/>
              </a:rPr>
              <a:t>High Accuracy Emotion Classification</a:t>
            </a:r>
            <a:endParaRPr lang="en-US" sz="1450" dirty="0"/>
          </a:p>
        </p:txBody>
      </p:sp>
      <p:sp>
        <p:nvSpPr>
          <p:cNvPr id="10" name="Text 7"/>
          <p:cNvSpPr/>
          <p:nvPr/>
        </p:nvSpPr>
        <p:spPr>
          <a:xfrm>
            <a:off x="2834759" y="4196358"/>
            <a:ext cx="4242792" cy="711518"/>
          </a:xfrm>
          <a:prstGeom prst="rect">
            <a:avLst/>
          </a:prstGeom>
          <a:noFill/>
          <a:ln/>
        </p:spPr>
        <p:txBody>
          <a:bodyPr wrap="square" lIns="0" tIns="0" rIns="0" bIns="0" rtlCol="0" anchor="t"/>
          <a:lstStyle/>
          <a:p>
            <a:pPr marL="0" indent="0" algn="l">
              <a:lnSpc>
                <a:spcPts val="1850"/>
              </a:lnSpc>
              <a:buNone/>
            </a:pPr>
            <a:r>
              <a:rPr lang="en-US" sz="1150" dirty="0">
                <a:solidFill>
                  <a:srgbClr val="D6E5EF"/>
                </a:solidFill>
                <a:latin typeface="Roboto" pitchFamily="34" charset="0"/>
                <a:ea typeface="Roboto" pitchFamily="34" charset="-122"/>
                <a:cs typeface="Roboto" pitchFamily="34" charset="-120"/>
              </a:rPr>
              <a:t>Achieved an impressive 92% model accuracy in classifying emotional states, ensuring precise and reliable affective responses.</a:t>
            </a:r>
            <a:endParaRPr lang="en-US" sz="1150" dirty="0"/>
          </a:p>
        </p:txBody>
      </p:sp>
      <p:sp>
        <p:nvSpPr>
          <p:cNvPr id="11" name="Shape 8"/>
          <p:cNvSpPr/>
          <p:nvPr/>
        </p:nvSpPr>
        <p:spPr>
          <a:xfrm>
            <a:off x="7389257" y="3712250"/>
            <a:ext cx="4615577" cy="1359098"/>
          </a:xfrm>
          <a:prstGeom prst="roundRect">
            <a:avLst>
              <a:gd name="adj" fmla="val 5382"/>
            </a:avLst>
          </a:prstGeom>
          <a:solidFill>
            <a:srgbClr val="202733"/>
          </a:solidFill>
          <a:ln w="15240">
            <a:solidFill>
              <a:srgbClr val="585F6B"/>
            </a:solidFill>
            <a:prstDash val="solid"/>
          </a:ln>
        </p:spPr>
      </p:sp>
      <p:pic>
        <p:nvPicPr>
          <p:cNvPr id="12" name="Image 1" descr="preencoded.png"/>
          <p:cNvPicPr>
            <a:picLocks noChangeAspect="1"/>
          </p:cNvPicPr>
          <p:nvPr/>
        </p:nvPicPr>
        <p:blipFill>
          <a:blip r:embed="rId3"/>
          <a:stretch>
            <a:fillRect/>
          </a:stretch>
        </p:blipFill>
        <p:spPr>
          <a:xfrm>
            <a:off x="7374017" y="3712250"/>
            <a:ext cx="60960" cy="1359098"/>
          </a:xfrm>
          <a:prstGeom prst="rect">
            <a:avLst/>
          </a:prstGeom>
        </p:spPr>
      </p:pic>
      <p:sp>
        <p:nvSpPr>
          <p:cNvPr id="13" name="Text 9"/>
          <p:cNvSpPr/>
          <p:nvPr/>
        </p:nvSpPr>
        <p:spPr>
          <a:xfrm>
            <a:off x="7598450" y="3875723"/>
            <a:ext cx="2809518" cy="231696"/>
          </a:xfrm>
          <a:prstGeom prst="rect">
            <a:avLst/>
          </a:prstGeom>
          <a:noFill/>
          <a:ln/>
        </p:spPr>
        <p:txBody>
          <a:bodyPr wrap="none" lIns="0" tIns="0" rIns="0" bIns="0" rtlCol="0" anchor="t"/>
          <a:lstStyle/>
          <a:p>
            <a:pPr marL="0" indent="0" algn="l">
              <a:lnSpc>
                <a:spcPts val="1800"/>
              </a:lnSpc>
              <a:buNone/>
            </a:pPr>
            <a:r>
              <a:rPr lang="en-US" sz="1450" dirty="0">
                <a:solidFill>
                  <a:srgbClr val="D6E5EF"/>
                </a:solidFill>
                <a:latin typeface="Roboto Slab" pitchFamily="34" charset="0"/>
                <a:ea typeface="Roboto Slab" pitchFamily="34" charset="-122"/>
                <a:cs typeface="Roboto Slab" pitchFamily="34" charset="-120"/>
              </a:rPr>
              <a:t>Ultra-Low Latency Performance</a:t>
            </a:r>
            <a:endParaRPr lang="en-US" sz="1450" dirty="0"/>
          </a:p>
        </p:txBody>
      </p:sp>
      <p:sp>
        <p:nvSpPr>
          <p:cNvPr id="14" name="Text 10"/>
          <p:cNvSpPr/>
          <p:nvPr/>
        </p:nvSpPr>
        <p:spPr>
          <a:xfrm>
            <a:off x="7598450" y="4196358"/>
            <a:ext cx="4242911" cy="711518"/>
          </a:xfrm>
          <a:prstGeom prst="rect">
            <a:avLst/>
          </a:prstGeom>
          <a:noFill/>
          <a:ln/>
        </p:spPr>
        <p:txBody>
          <a:bodyPr wrap="square" lIns="0" tIns="0" rIns="0" bIns="0" rtlCol="0" anchor="t"/>
          <a:lstStyle/>
          <a:p>
            <a:pPr marL="0" indent="0" algn="l">
              <a:lnSpc>
                <a:spcPts val="1850"/>
              </a:lnSpc>
              <a:buNone/>
            </a:pPr>
            <a:r>
              <a:rPr lang="en-US" sz="1150" dirty="0">
                <a:solidFill>
                  <a:srgbClr val="D6E5EF"/>
                </a:solidFill>
                <a:latin typeface="Roboto" pitchFamily="34" charset="0"/>
                <a:ea typeface="Roboto" pitchFamily="34" charset="-122"/>
                <a:cs typeface="Roboto" pitchFamily="34" charset="-120"/>
              </a:rPr>
              <a:t>Delivered sub-500ms end-to-end latency, providing instantaneous emotion detection and music adaptation for a fluid user experience.</a:t>
            </a:r>
            <a:endParaRPr lang="en-US" sz="1150" dirty="0"/>
          </a:p>
        </p:txBody>
      </p:sp>
      <p:sp>
        <p:nvSpPr>
          <p:cNvPr id="15" name="Shape 11"/>
          <p:cNvSpPr/>
          <p:nvPr/>
        </p:nvSpPr>
        <p:spPr>
          <a:xfrm>
            <a:off x="2625566" y="5219581"/>
            <a:ext cx="4615458" cy="1359098"/>
          </a:xfrm>
          <a:prstGeom prst="roundRect">
            <a:avLst>
              <a:gd name="adj" fmla="val 5382"/>
            </a:avLst>
          </a:prstGeom>
          <a:solidFill>
            <a:srgbClr val="202733"/>
          </a:solidFill>
          <a:ln w="15240">
            <a:solidFill>
              <a:srgbClr val="585F6B"/>
            </a:solidFill>
            <a:prstDash val="solid"/>
          </a:ln>
        </p:spPr>
      </p:sp>
      <p:pic>
        <p:nvPicPr>
          <p:cNvPr id="16" name="Image 2" descr="preencoded.png"/>
          <p:cNvPicPr>
            <a:picLocks noChangeAspect="1"/>
          </p:cNvPicPr>
          <p:nvPr/>
        </p:nvPicPr>
        <p:blipFill>
          <a:blip r:embed="rId3"/>
          <a:stretch>
            <a:fillRect/>
          </a:stretch>
        </p:blipFill>
        <p:spPr>
          <a:xfrm>
            <a:off x="2610326" y="5219581"/>
            <a:ext cx="60960" cy="1359098"/>
          </a:xfrm>
          <a:prstGeom prst="rect">
            <a:avLst/>
          </a:prstGeom>
        </p:spPr>
      </p:pic>
      <p:sp>
        <p:nvSpPr>
          <p:cNvPr id="17" name="Text 12"/>
          <p:cNvSpPr/>
          <p:nvPr/>
        </p:nvSpPr>
        <p:spPr>
          <a:xfrm>
            <a:off x="2834759" y="5383054"/>
            <a:ext cx="2418040" cy="231696"/>
          </a:xfrm>
          <a:prstGeom prst="rect">
            <a:avLst/>
          </a:prstGeom>
          <a:noFill/>
          <a:ln/>
        </p:spPr>
        <p:txBody>
          <a:bodyPr wrap="none" lIns="0" tIns="0" rIns="0" bIns="0" rtlCol="0" anchor="t"/>
          <a:lstStyle/>
          <a:p>
            <a:pPr marL="0" indent="0" algn="l">
              <a:lnSpc>
                <a:spcPts val="1800"/>
              </a:lnSpc>
              <a:buNone/>
            </a:pPr>
            <a:r>
              <a:rPr lang="en-US" sz="1450" dirty="0">
                <a:solidFill>
                  <a:srgbClr val="D6E5EF"/>
                </a:solidFill>
                <a:latin typeface="Roboto Slab" pitchFamily="34" charset="0"/>
                <a:ea typeface="Roboto Slab" pitchFamily="34" charset="-122"/>
                <a:cs typeface="Roboto Slab" pitchFamily="34" charset="-120"/>
              </a:rPr>
              <a:t>Intuitive Glassmorphism UI</a:t>
            </a:r>
            <a:endParaRPr lang="en-US" sz="1450" dirty="0"/>
          </a:p>
        </p:txBody>
      </p:sp>
      <p:sp>
        <p:nvSpPr>
          <p:cNvPr id="18" name="Text 13"/>
          <p:cNvSpPr/>
          <p:nvPr/>
        </p:nvSpPr>
        <p:spPr>
          <a:xfrm>
            <a:off x="2834759" y="5703689"/>
            <a:ext cx="4242792" cy="711518"/>
          </a:xfrm>
          <a:prstGeom prst="rect">
            <a:avLst/>
          </a:prstGeom>
          <a:noFill/>
          <a:ln/>
        </p:spPr>
        <p:txBody>
          <a:bodyPr wrap="square" lIns="0" tIns="0" rIns="0" bIns="0" rtlCol="0" anchor="t"/>
          <a:lstStyle/>
          <a:p>
            <a:pPr marL="0" indent="0" algn="l">
              <a:lnSpc>
                <a:spcPts val="1850"/>
              </a:lnSpc>
              <a:buNone/>
            </a:pPr>
            <a:r>
              <a:rPr lang="en-US" sz="1150" dirty="0">
                <a:solidFill>
                  <a:srgbClr val="D6E5EF"/>
                </a:solidFill>
                <a:latin typeface="Roboto" pitchFamily="34" charset="0"/>
                <a:ea typeface="Roboto" pitchFamily="34" charset="-122"/>
                <a:cs typeface="Roboto" pitchFamily="34" charset="-120"/>
              </a:rPr>
              <a:t>Implemented a seamless and aesthetically pleasing glassmorphism user interface, enhancing engagement and ease of use.</a:t>
            </a:r>
            <a:endParaRPr lang="en-US" sz="1150" dirty="0"/>
          </a:p>
        </p:txBody>
      </p:sp>
      <p:sp>
        <p:nvSpPr>
          <p:cNvPr id="19" name="Shape 14"/>
          <p:cNvSpPr/>
          <p:nvPr/>
        </p:nvSpPr>
        <p:spPr>
          <a:xfrm>
            <a:off x="7389257" y="5219581"/>
            <a:ext cx="4615577" cy="1359098"/>
          </a:xfrm>
          <a:prstGeom prst="roundRect">
            <a:avLst>
              <a:gd name="adj" fmla="val 5382"/>
            </a:avLst>
          </a:prstGeom>
          <a:solidFill>
            <a:srgbClr val="202733"/>
          </a:solidFill>
          <a:ln w="15240">
            <a:solidFill>
              <a:srgbClr val="585F6B"/>
            </a:solidFill>
            <a:prstDash val="solid"/>
          </a:ln>
        </p:spPr>
      </p:sp>
      <p:pic>
        <p:nvPicPr>
          <p:cNvPr id="20" name="Image 3" descr="preencoded.png"/>
          <p:cNvPicPr>
            <a:picLocks noChangeAspect="1"/>
          </p:cNvPicPr>
          <p:nvPr/>
        </p:nvPicPr>
        <p:blipFill>
          <a:blip r:embed="rId3"/>
          <a:stretch>
            <a:fillRect/>
          </a:stretch>
        </p:blipFill>
        <p:spPr>
          <a:xfrm>
            <a:off x="7374017" y="5219581"/>
            <a:ext cx="60960" cy="1359098"/>
          </a:xfrm>
          <a:prstGeom prst="rect">
            <a:avLst/>
          </a:prstGeom>
        </p:spPr>
      </p:pic>
      <p:sp>
        <p:nvSpPr>
          <p:cNvPr id="21" name="Text 15"/>
          <p:cNvSpPr/>
          <p:nvPr/>
        </p:nvSpPr>
        <p:spPr>
          <a:xfrm>
            <a:off x="7598450" y="5383054"/>
            <a:ext cx="3244572" cy="231696"/>
          </a:xfrm>
          <a:prstGeom prst="rect">
            <a:avLst/>
          </a:prstGeom>
          <a:noFill/>
          <a:ln/>
        </p:spPr>
        <p:txBody>
          <a:bodyPr wrap="none" lIns="0" tIns="0" rIns="0" bIns="0" rtlCol="0" anchor="t"/>
          <a:lstStyle/>
          <a:p>
            <a:pPr marL="0" indent="0" algn="l">
              <a:lnSpc>
                <a:spcPts val="1800"/>
              </a:lnSpc>
              <a:buNone/>
            </a:pPr>
            <a:r>
              <a:rPr lang="en-US" sz="1450" dirty="0">
                <a:solidFill>
                  <a:srgbClr val="D6E5EF"/>
                </a:solidFill>
                <a:latin typeface="Roboto Slab" pitchFamily="34" charset="0"/>
                <a:ea typeface="Roboto Slab" pitchFamily="34" charset="-122"/>
                <a:cs typeface="Roboto Slab" pitchFamily="34" charset="-120"/>
              </a:rPr>
              <a:t>Robust Multi-Technology Integration</a:t>
            </a:r>
            <a:endParaRPr lang="en-US" sz="1450" dirty="0"/>
          </a:p>
        </p:txBody>
      </p:sp>
      <p:sp>
        <p:nvSpPr>
          <p:cNvPr id="22" name="Text 16"/>
          <p:cNvSpPr/>
          <p:nvPr/>
        </p:nvSpPr>
        <p:spPr>
          <a:xfrm>
            <a:off x="7598450" y="5703689"/>
            <a:ext cx="4242911" cy="711518"/>
          </a:xfrm>
          <a:prstGeom prst="rect">
            <a:avLst/>
          </a:prstGeom>
          <a:noFill/>
          <a:ln/>
        </p:spPr>
        <p:txBody>
          <a:bodyPr wrap="square" lIns="0" tIns="0" rIns="0" bIns="0" rtlCol="0" anchor="t"/>
          <a:lstStyle/>
          <a:p>
            <a:pPr marL="0" indent="0" algn="l">
              <a:lnSpc>
                <a:spcPts val="1850"/>
              </a:lnSpc>
              <a:buNone/>
            </a:pPr>
            <a:r>
              <a:rPr lang="en-US" sz="1150" dirty="0">
                <a:solidFill>
                  <a:srgbClr val="D6E5EF"/>
                </a:solidFill>
                <a:latin typeface="Roboto" pitchFamily="34" charset="0"/>
                <a:ea typeface="Roboto" pitchFamily="34" charset="-122"/>
                <a:cs typeface="Roboto" pitchFamily="34" charset="-120"/>
              </a:rPr>
              <a:t>Successfully converged computer vision, deep learning, and audio streaming technologies into a coherent and stable platform.</a:t>
            </a:r>
            <a:endParaRPr lang="en-US" sz="1150" dirty="0"/>
          </a:p>
        </p:txBody>
      </p:sp>
      <p:sp>
        <p:nvSpPr>
          <p:cNvPr id="23" name="Text 17"/>
          <p:cNvSpPr/>
          <p:nvPr/>
        </p:nvSpPr>
        <p:spPr>
          <a:xfrm>
            <a:off x="2625566" y="6745486"/>
            <a:ext cx="9379268" cy="948690"/>
          </a:xfrm>
          <a:prstGeom prst="rect">
            <a:avLst/>
          </a:prstGeom>
          <a:noFill/>
          <a:ln/>
        </p:spPr>
        <p:txBody>
          <a:bodyPr wrap="square" lIns="0" tIns="0" rIns="0" bIns="0" rtlCol="0" anchor="t"/>
          <a:lstStyle/>
          <a:p>
            <a:pPr marL="0" indent="0" algn="l">
              <a:lnSpc>
                <a:spcPts val="1850"/>
              </a:lnSpc>
              <a:buNone/>
            </a:pPr>
            <a:r>
              <a:rPr lang="en-US" sz="1150" dirty="0">
                <a:solidFill>
                  <a:srgbClr val="D6E5EF"/>
                </a:solidFill>
                <a:latin typeface="Roboto" pitchFamily="34" charset="0"/>
                <a:ea typeface="Roboto" pitchFamily="34" charset="-122"/>
                <a:cs typeface="Roboto" pitchFamily="34" charset="-120"/>
              </a:rPr>
              <a:t>AuraStream AI not only showcases the immediate potential of affective computing but also paves the way for a future where technology deeply understands and positively influences human emotions. This project marks a significant step towards creating more empathetic and adaptive digital environments, solidifying AuraStream AI's role in shaping the landscape of personalized entertainment and mental wellness solutions.</a:t>
            </a:r>
            <a:endParaRPr lang="en-US" sz="1150" dirty="0"/>
          </a:p>
        </p:txBody>
      </p:sp>
      <p:pic>
        <p:nvPicPr>
          <p:cNvPr id="25" name="Picture 24">
            <a:extLst>
              <a:ext uri="{FF2B5EF4-FFF2-40B4-BE49-F238E27FC236}">
                <a16:creationId xmlns:a16="http://schemas.microsoft.com/office/drawing/2014/main" id="{227499B8-2CCA-E285-2A4A-91F79A915767}"/>
              </a:ext>
            </a:extLst>
          </p:cNvPr>
          <p:cNvPicPr>
            <a:picLocks noChangeAspect="1"/>
          </p:cNvPicPr>
          <p:nvPr/>
        </p:nvPicPr>
        <p:blipFill>
          <a:blip r:embed="rId4"/>
          <a:stretch>
            <a:fillRect/>
          </a:stretch>
        </p:blipFill>
        <p:spPr>
          <a:xfrm>
            <a:off x="12490315" y="7799403"/>
            <a:ext cx="2141406" cy="3200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1938</Words>
  <Application>Microsoft Office PowerPoint</Application>
  <PresentationFormat>Custom</PresentationFormat>
  <Paragraphs>161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Roboto</vt:lpstr>
      <vt:lpstr>Roboto Slab Light</vt:lpstr>
      <vt:lpstr>Arial</vt:lpstr>
      <vt:lpstr>Roboto Slab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adi jain</cp:lastModifiedBy>
  <cp:revision>2</cp:revision>
  <dcterms:created xsi:type="dcterms:W3CDTF">2026-01-20T18:14:42Z</dcterms:created>
  <dcterms:modified xsi:type="dcterms:W3CDTF">2026-01-20T18:22:26Z</dcterms:modified>
</cp:coreProperties>
</file>