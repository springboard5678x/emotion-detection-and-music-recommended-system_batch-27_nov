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2" Type="http://schemas.openxmlformats.org/officeDocument/2006/relationships/image" Target="../media/image-1004-2.png"/><Relationship Id="rId4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2" Type="http://schemas.openxmlformats.org/officeDocument/2006/relationships/image" Target="../media/image-1005-2.png"/><Relationship Id="rId4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2" Type="http://schemas.openxmlformats.org/officeDocument/2006/relationships/image" Target="../media/image-1006-2.png"/><Relationship Id="rId4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2" Type="http://schemas.openxmlformats.org/officeDocument/2006/relationships/image" Target="../media/image-1007-2.png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2" Type="http://schemas.openxmlformats.org/officeDocument/2006/relationships/image" Target="../media/image-1008-2.png"/><Relationship Id="rId4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2" Type="http://schemas.openxmlformats.org/officeDocument/2006/relationships/image" Target="../media/image-1009-2.png"/><Relationship Id="rId4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2" Type="http://schemas.openxmlformats.org/officeDocument/2006/relationships/image" Target="../media/image-1010-2.png"/><Relationship Id="rId4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2" Type="http://schemas.openxmlformats.org/officeDocument/2006/relationships/image" Target="../media/image-1011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01620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01620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01620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01620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01620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01620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01620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01620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01620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01620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sv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svg"/><Relationship Id="rId11" Type="http://schemas.openxmlformats.org/officeDocument/2006/relationships/slideLayout" Target="../slideLayouts/slideLayout4.xml"/><Relationship Id="rId1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5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6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7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8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slideLayout" Target="../slideLayouts/slideLayout9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svg"/><Relationship Id="rId4" Type="http://schemas.openxmlformats.org/officeDocument/2006/relationships/image" Target="../media/image-9-4.png"/><Relationship Id="rId5" Type="http://schemas.openxmlformats.org/officeDocument/2006/relationships/image" Target="../media/image-9-5.sv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0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1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3428762"/>
            <a:ext cx="5670590" cy="737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800"/>
              </a:lnSpc>
              <a:buNone/>
            </a:pPr>
            <a:r>
              <a:rPr lang="en-US" sz="4450" b="1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EmotiTune AI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506039"/>
            <a:ext cx="7556421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7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Emotion Detection &amp; Music Recommendation using AI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917740" y="469225"/>
            <a:ext cx="1184196" cy="279916"/>
          </a:xfrm>
          <a:prstGeom prst="roundRect">
            <a:avLst>
              <a:gd name="adj" fmla="val 20487"/>
            </a:avLst>
          </a:prstGeom>
          <a:solidFill>
            <a:srgbClr val="00194D"/>
          </a:solidFill>
          <a:ln/>
        </p:spPr>
      </p:sp>
      <p:sp>
        <p:nvSpPr>
          <p:cNvPr id="3" name="Text 1"/>
          <p:cNvSpPr/>
          <p:nvPr/>
        </p:nvSpPr>
        <p:spPr>
          <a:xfrm>
            <a:off x="2020133" y="520422"/>
            <a:ext cx="979408" cy="177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INTRODUCTION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917740" y="817364"/>
            <a:ext cx="6328291" cy="5547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350"/>
              </a:lnSpc>
              <a:buNone/>
            </a:pPr>
            <a:r>
              <a:rPr lang="en-US" sz="3350" b="1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Why Emotions Matter in Music</a:t>
            </a:r>
            <a:endParaRPr lang="en-US" sz="3350" dirty="0"/>
          </a:p>
        </p:txBody>
      </p:sp>
      <p:sp>
        <p:nvSpPr>
          <p:cNvPr id="5" name="Text 3"/>
          <p:cNvSpPr/>
          <p:nvPr/>
        </p:nvSpPr>
        <p:spPr>
          <a:xfrm>
            <a:off x="1917740" y="1781651"/>
            <a:ext cx="4628674" cy="665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Traditional music recommendation systems rely on listening history and genre preferences, but they miss a crucial element—how you're feeling right now.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917740" y="2600325"/>
            <a:ext cx="4628674" cy="665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Emotion-aware AI systems represent the next evolution in personalised music experiences, understanding not just what you like, but what you need in the moment.</a:t>
            </a:r>
            <a:endParaRPr lang="en-US" sz="13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70276" y="1819989"/>
            <a:ext cx="5749766" cy="574976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5925" y="915472"/>
            <a:ext cx="7279362" cy="683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350"/>
              </a:lnSpc>
              <a:buNone/>
            </a:pPr>
            <a:r>
              <a:rPr lang="en-US" sz="4100" b="1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The Challenge We're Solving</a:t>
            </a:r>
            <a:endParaRPr lang="en-US" sz="4100" dirty="0"/>
          </a:p>
        </p:txBody>
      </p:sp>
      <p:sp>
        <p:nvSpPr>
          <p:cNvPr id="4" name="Shape 1"/>
          <p:cNvSpPr/>
          <p:nvPr/>
        </p:nvSpPr>
        <p:spPr>
          <a:xfrm>
            <a:off x="735925" y="1914168"/>
            <a:ext cx="3730943" cy="2868097"/>
          </a:xfrm>
          <a:prstGeom prst="roundRect">
            <a:avLst>
              <a:gd name="adj" fmla="val 3079"/>
            </a:avLst>
          </a:prstGeom>
          <a:solidFill>
            <a:srgbClr val="101620"/>
          </a:solidFill>
          <a:ln w="22860">
            <a:solidFill>
              <a:srgbClr val="002A80"/>
            </a:solidFill>
            <a:prstDash val="solid"/>
          </a:ln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050" y="2147292"/>
            <a:ext cx="630793" cy="630793"/>
          </a:xfrm>
          <a:prstGeom prst="rect">
            <a:avLst/>
          </a:prstGeom>
        </p:spPr>
      </p:pic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42524" y="2320647"/>
            <a:ext cx="283845" cy="283845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969050" y="2988350"/>
            <a:ext cx="2927033" cy="3417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0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Mood-Music Mismatch</a:t>
            </a:r>
            <a:endParaRPr lang="en-US" sz="2050" dirty="0"/>
          </a:p>
        </p:txBody>
      </p:sp>
      <p:sp>
        <p:nvSpPr>
          <p:cNvPr id="8" name="Text 3"/>
          <p:cNvSpPr/>
          <p:nvPr/>
        </p:nvSpPr>
        <p:spPr>
          <a:xfrm>
            <a:off x="969050" y="3456146"/>
            <a:ext cx="3264694" cy="10929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6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Users struggle to choose music that matches their current emotional state, leading to dissatisfaction</a:t>
            </a:r>
            <a:endParaRPr lang="en-US" sz="1650" dirty="0"/>
          </a:p>
        </p:txBody>
      </p:sp>
      <p:sp>
        <p:nvSpPr>
          <p:cNvPr id="9" name="Shape 4"/>
          <p:cNvSpPr/>
          <p:nvPr/>
        </p:nvSpPr>
        <p:spPr>
          <a:xfrm>
            <a:off x="4677132" y="1914168"/>
            <a:ext cx="3730943" cy="2868097"/>
          </a:xfrm>
          <a:prstGeom prst="roundRect">
            <a:avLst>
              <a:gd name="adj" fmla="val 3079"/>
            </a:avLst>
          </a:prstGeom>
          <a:solidFill>
            <a:srgbClr val="101620"/>
          </a:solidFill>
          <a:ln w="22860">
            <a:solidFill>
              <a:srgbClr val="002A80"/>
            </a:solidFill>
            <a:prstDash val="solid"/>
          </a:ln>
        </p:spPr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10257" y="2147292"/>
            <a:ext cx="630793" cy="630793"/>
          </a:xfrm>
          <a:prstGeom prst="rect">
            <a:avLst/>
          </a:prstGeom>
        </p:spPr>
      </p:pic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083731" y="2320647"/>
            <a:ext cx="283845" cy="283845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4910257" y="2988350"/>
            <a:ext cx="2628424" cy="3417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0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Limited Intelligence</a:t>
            </a:r>
            <a:endParaRPr lang="en-US" sz="2050" dirty="0"/>
          </a:p>
        </p:txBody>
      </p:sp>
      <p:sp>
        <p:nvSpPr>
          <p:cNvPr id="13" name="Text 6"/>
          <p:cNvSpPr/>
          <p:nvPr/>
        </p:nvSpPr>
        <p:spPr>
          <a:xfrm>
            <a:off x="4910257" y="3456146"/>
            <a:ext cx="3264694" cy="8197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6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Existing systems lack emotional awareness and context, offering generic recommendations</a:t>
            </a:r>
            <a:endParaRPr lang="en-US" sz="1650" dirty="0"/>
          </a:p>
        </p:txBody>
      </p:sp>
      <p:sp>
        <p:nvSpPr>
          <p:cNvPr id="14" name="Shape 7"/>
          <p:cNvSpPr/>
          <p:nvPr/>
        </p:nvSpPr>
        <p:spPr>
          <a:xfrm>
            <a:off x="735925" y="4992529"/>
            <a:ext cx="7672149" cy="2321600"/>
          </a:xfrm>
          <a:prstGeom prst="roundRect">
            <a:avLst>
              <a:gd name="adj" fmla="val 3804"/>
            </a:avLst>
          </a:prstGeom>
          <a:solidFill>
            <a:srgbClr val="101620"/>
          </a:solidFill>
          <a:ln w="22860">
            <a:solidFill>
              <a:srgbClr val="002A80"/>
            </a:solidFill>
            <a:prstDash val="solid"/>
          </a:ln>
        </p:spPr>
      </p:sp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9050" y="5225653"/>
            <a:ext cx="630793" cy="630793"/>
          </a:xfrm>
          <a:prstGeom prst="rect">
            <a:avLst/>
          </a:prstGeom>
        </p:spPr>
      </p:pic>
      <p:pic>
        <p:nvPicPr>
          <p:cNvPr id="16" name="Image 6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42524" y="5399008"/>
            <a:ext cx="283845" cy="283845"/>
          </a:xfrm>
          <a:prstGeom prst="rect">
            <a:avLst/>
          </a:prstGeom>
        </p:spPr>
      </p:pic>
      <p:sp>
        <p:nvSpPr>
          <p:cNvPr id="17" name="Text 8"/>
          <p:cNvSpPr/>
          <p:nvPr/>
        </p:nvSpPr>
        <p:spPr>
          <a:xfrm>
            <a:off x="969050" y="6066711"/>
            <a:ext cx="2628424" cy="3417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0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Missing Connection</a:t>
            </a:r>
            <a:endParaRPr lang="en-US" sz="2050" dirty="0"/>
          </a:p>
        </p:txBody>
      </p:sp>
      <p:sp>
        <p:nvSpPr>
          <p:cNvPr id="18" name="Text 9"/>
          <p:cNvSpPr/>
          <p:nvPr/>
        </p:nvSpPr>
        <p:spPr>
          <a:xfrm>
            <a:off x="969050" y="6534507"/>
            <a:ext cx="7205901" cy="5464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6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No seamless bridge between how users feel and what they hear, creating friction in the experience</a:t>
            </a:r>
            <a:endParaRPr lang="en-US" sz="1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2279809"/>
            <a:ext cx="2016681" cy="402312"/>
          </a:xfrm>
          <a:prstGeom prst="roundRect">
            <a:avLst>
              <a:gd name="adj" fmla="val 18944"/>
            </a:avLst>
          </a:prstGeom>
          <a:noFill/>
          <a:ln w="15240">
            <a:solidFill>
              <a:srgbClr val="6296F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45118" y="2412802"/>
            <a:ext cx="181451" cy="18145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17295" y="2363033"/>
            <a:ext cx="1441847" cy="235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400" dirty="0">
                <a:solidFill>
                  <a:srgbClr val="6296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PROJECT GOALS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793790" y="2772847"/>
            <a:ext cx="5670590" cy="737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800"/>
              </a:lnSpc>
              <a:buNone/>
            </a:pPr>
            <a:r>
              <a:rPr lang="en-US" sz="4450" b="1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Our Core Objectives</a:t>
            </a:r>
            <a:endParaRPr lang="en-US" sz="4450" dirty="0"/>
          </a:p>
        </p:txBody>
      </p:sp>
      <p:sp>
        <p:nvSpPr>
          <p:cNvPr id="6" name="Text 3"/>
          <p:cNvSpPr/>
          <p:nvPr/>
        </p:nvSpPr>
        <p:spPr>
          <a:xfrm>
            <a:off x="793790" y="3850124"/>
            <a:ext cx="226814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750" dirty="0">
                <a:solidFill>
                  <a:srgbClr val="EBEDF0"/>
                </a:solidFill>
                <a:latin typeface="Geist Light" pitchFamily="34" charset="0"/>
                <a:ea typeface="Geist Light" pitchFamily="34" charset="-122"/>
                <a:cs typeface="Geist Light" pitchFamily="34" charset="-120"/>
              </a:rPr>
              <a:t>01</a:t>
            </a:r>
            <a:endParaRPr lang="en-US" sz="17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4216479"/>
            <a:ext cx="4196358" cy="304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93790" y="4390787"/>
            <a:ext cx="2835235" cy="3684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2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Emotion Detection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793790" y="4895374"/>
            <a:ext cx="4196358" cy="884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7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Accurately identify human emotions from facial expressions or text input using advanced AI models</a:t>
            </a:r>
            <a:endParaRPr lang="en-US" sz="1750" dirty="0"/>
          </a:p>
        </p:txBody>
      </p:sp>
      <p:sp>
        <p:nvSpPr>
          <p:cNvPr id="10" name="Text 6"/>
          <p:cNvSpPr/>
          <p:nvPr/>
        </p:nvSpPr>
        <p:spPr>
          <a:xfrm>
            <a:off x="5216962" y="3850124"/>
            <a:ext cx="226814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750" dirty="0">
                <a:solidFill>
                  <a:srgbClr val="EBEDF0"/>
                </a:solidFill>
                <a:latin typeface="Geist Light" pitchFamily="34" charset="0"/>
                <a:ea typeface="Geist Light" pitchFamily="34" charset="-122"/>
                <a:cs typeface="Geist Light" pitchFamily="34" charset="-120"/>
              </a:rPr>
              <a:t>02</a:t>
            </a:r>
            <a:endParaRPr lang="en-US" sz="17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6962" y="4216479"/>
            <a:ext cx="4196358" cy="3048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216962" y="4390787"/>
            <a:ext cx="2835235" cy="3684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2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Intelligent Mapping</a:t>
            </a:r>
            <a:endParaRPr lang="en-US" sz="2200" dirty="0"/>
          </a:p>
        </p:txBody>
      </p:sp>
      <p:sp>
        <p:nvSpPr>
          <p:cNvPr id="13" name="Text 8"/>
          <p:cNvSpPr/>
          <p:nvPr/>
        </p:nvSpPr>
        <p:spPr>
          <a:xfrm>
            <a:off x="5216962" y="4895374"/>
            <a:ext cx="4196358" cy="884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7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Create sophisticated emotion-to-music mapping that understands nuanced emotional states</a:t>
            </a:r>
            <a:endParaRPr lang="en-US" sz="1750" dirty="0"/>
          </a:p>
        </p:txBody>
      </p:sp>
      <p:sp>
        <p:nvSpPr>
          <p:cNvPr id="14" name="Text 9"/>
          <p:cNvSpPr/>
          <p:nvPr/>
        </p:nvSpPr>
        <p:spPr>
          <a:xfrm>
            <a:off x="9640133" y="3850124"/>
            <a:ext cx="226814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750" dirty="0">
                <a:solidFill>
                  <a:srgbClr val="EBEDF0"/>
                </a:solidFill>
                <a:latin typeface="Geist Light" pitchFamily="34" charset="0"/>
                <a:ea typeface="Geist Light" pitchFamily="34" charset="-122"/>
                <a:cs typeface="Geist Light" pitchFamily="34" charset="-120"/>
              </a:rPr>
              <a:t>03</a:t>
            </a:r>
            <a:endParaRPr lang="en-US" sz="175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40133" y="4216479"/>
            <a:ext cx="4196358" cy="3048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9640133" y="4390787"/>
            <a:ext cx="3496508" cy="3684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2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Smart Recommendations</a:t>
            </a:r>
            <a:endParaRPr lang="en-US" sz="2200" dirty="0"/>
          </a:p>
        </p:txBody>
      </p:sp>
      <p:sp>
        <p:nvSpPr>
          <p:cNvPr id="17" name="Text 11"/>
          <p:cNvSpPr/>
          <p:nvPr/>
        </p:nvSpPr>
        <p:spPr>
          <a:xfrm>
            <a:off x="9640133" y="4895374"/>
            <a:ext cx="4196358" cy="884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7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Deliver personalised music suggestions that resonate with detected emotions in real-time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06034" y="500182"/>
            <a:ext cx="4513064" cy="586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600"/>
              </a:lnSpc>
              <a:buNone/>
            </a:pPr>
            <a:r>
              <a:rPr lang="en-US" sz="3550" b="1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Expected Outcomes</a:t>
            </a:r>
            <a:endParaRPr lang="en-US" sz="3550" dirty="0"/>
          </a:p>
        </p:txBody>
      </p:sp>
      <p:sp>
        <p:nvSpPr>
          <p:cNvPr id="3" name="Shape 1"/>
          <p:cNvSpPr/>
          <p:nvPr/>
        </p:nvSpPr>
        <p:spPr>
          <a:xfrm>
            <a:off x="1606034" y="1831419"/>
            <a:ext cx="5488900" cy="1597462"/>
          </a:xfrm>
          <a:prstGeom prst="roundRect">
            <a:avLst>
              <a:gd name="adj" fmla="val 6869"/>
            </a:avLst>
          </a:prstGeom>
          <a:solidFill>
            <a:srgbClr val="101620">
              <a:alpha val="95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6034" y="1808559"/>
            <a:ext cx="5488900" cy="91440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9677" y="1560671"/>
            <a:ext cx="541496" cy="541496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242078" y="1690568"/>
            <a:ext cx="216575" cy="281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3"/>
          <p:cNvSpPr/>
          <p:nvPr/>
        </p:nvSpPr>
        <p:spPr>
          <a:xfrm>
            <a:off x="1809393" y="2282666"/>
            <a:ext cx="2256473" cy="293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7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Accurate Detection</a:t>
            </a:r>
            <a:endParaRPr lang="en-US" sz="1750" dirty="0"/>
          </a:p>
        </p:txBody>
      </p:sp>
      <p:sp>
        <p:nvSpPr>
          <p:cNvPr id="8" name="Text 4"/>
          <p:cNvSpPr/>
          <p:nvPr/>
        </p:nvSpPr>
        <p:spPr>
          <a:xfrm>
            <a:off x="1809393" y="2756416"/>
            <a:ext cx="5082183" cy="4691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AI-powered emotion recognition with high precision across multiple emotional states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1606034" y="3880128"/>
            <a:ext cx="5488900" cy="1597462"/>
          </a:xfrm>
          <a:prstGeom prst="roundRect">
            <a:avLst>
              <a:gd name="adj" fmla="val 6869"/>
            </a:avLst>
          </a:prstGeom>
          <a:solidFill>
            <a:srgbClr val="101620">
              <a:alpha val="95000"/>
            </a:srgbClr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6034" y="3857268"/>
            <a:ext cx="5488900" cy="91440"/>
          </a:xfrm>
          <a:prstGeom prst="rect">
            <a:avLst/>
          </a:prstGeom>
        </p:spPr>
      </p:pic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79677" y="3609380"/>
            <a:ext cx="541496" cy="541496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4242078" y="3739277"/>
            <a:ext cx="216575" cy="281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2</a:t>
            </a:r>
            <a:endParaRPr lang="en-US" sz="1700" dirty="0"/>
          </a:p>
        </p:txBody>
      </p:sp>
      <p:sp>
        <p:nvSpPr>
          <p:cNvPr id="13" name="Text 7"/>
          <p:cNvSpPr/>
          <p:nvPr/>
        </p:nvSpPr>
        <p:spPr>
          <a:xfrm>
            <a:off x="1809393" y="4331375"/>
            <a:ext cx="3332798" cy="293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7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Contextual Recommendations</a:t>
            </a:r>
            <a:endParaRPr lang="en-US" sz="1750" dirty="0"/>
          </a:p>
        </p:txBody>
      </p:sp>
      <p:sp>
        <p:nvSpPr>
          <p:cNvPr id="14" name="Text 8"/>
          <p:cNvSpPr/>
          <p:nvPr/>
        </p:nvSpPr>
        <p:spPr>
          <a:xfrm>
            <a:off x="1809393" y="4805124"/>
            <a:ext cx="5082183" cy="4691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Music suggestions tailored to emotional context, not just preferences</a:t>
            </a:r>
            <a:endParaRPr lang="en-US" sz="1400" dirty="0"/>
          </a:p>
        </p:txBody>
      </p:sp>
      <p:sp>
        <p:nvSpPr>
          <p:cNvPr id="15" name="Shape 9"/>
          <p:cNvSpPr/>
          <p:nvPr/>
        </p:nvSpPr>
        <p:spPr>
          <a:xfrm>
            <a:off x="1606034" y="5928836"/>
            <a:ext cx="5488900" cy="1597462"/>
          </a:xfrm>
          <a:prstGeom prst="roundRect">
            <a:avLst>
              <a:gd name="adj" fmla="val 6869"/>
            </a:avLst>
          </a:prstGeom>
          <a:solidFill>
            <a:srgbClr val="101620">
              <a:alpha val="95000"/>
            </a:srgbClr>
          </a:solidFill>
          <a:ln/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06034" y="5905976"/>
            <a:ext cx="5488900" cy="91440"/>
          </a:xfrm>
          <a:prstGeom prst="rect">
            <a:avLst/>
          </a:prstGeom>
        </p:spPr>
      </p:pic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79677" y="5658088"/>
            <a:ext cx="541496" cy="541496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4242078" y="5787985"/>
            <a:ext cx="216575" cy="281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3</a:t>
            </a:r>
            <a:endParaRPr lang="en-US" sz="1700" dirty="0"/>
          </a:p>
        </p:txBody>
      </p:sp>
      <p:sp>
        <p:nvSpPr>
          <p:cNvPr id="19" name="Text 11"/>
          <p:cNvSpPr/>
          <p:nvPr/>
        </p:nvSpPr>
        <p:spPr>
          <a:xfrm>
            <a:off x="1809393" y="6380083"/>
            <a:ext cx="2396133" cy="293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7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Real-Time Experience</a:t>
            </a:r>
            <a:endParaRPr lang="en-US" sz="1750" dirty="0"/>
          </a:p>
        </p:txBody>
      </p:sp>
      <p:sp>
        <p:nvSpPr>
          <p:cNvPr id="20" name="Text 12"/>
          <p:cNvSpPr/>
          <p:nvPr/>
        </p:nvSpPr>
        <p:spPr>
          <a:xfrm>
            <a:off x="1809393" y="6853833"/>
            <a:ext cx="5082183" cy="4691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Seamless, interactive system that responds instantly to user emotions</a:t>
            </a:r>
            <a:endParaRPr lang="en-US" sz="1400" dirty="0"/>
          </a:p>
        </p:txBody>
      </p:sp>
      <p:pic>
        <p:nvPicPr>
          <p:cNvPr id="2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42848" y="1560671"/>
            <a:ext cx="5488900" cy="54889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78969"/>
            <a:ext cx="8336875" cy="737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800"/>
              </a:lnSpc>
              <a:buNone/>
            </a:pPr>
            <a:r>
              <a:rPr lang="en-US" sz="4450" b="1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Datasets Powering EmotiSync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2469713"/>
            <a:ext cx="4158615" cy="257020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5266730"/>
            <a:ext cx="2835235" cy="3684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2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FER-2013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3790" y="5771317"/>
            <a:ext cx="4158615" cy="11791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7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Comprehensive Facial Emotion Recognition dataset with thousands of labelled expressions across seven emotion categories</a:t>
            </a:r>
            <a:endParaRPr lang="en-US" sz="17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5893" y="2469713"/>
            <a:ext cx="4158615" cy="257020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235893" y="5266730"/>
            <a:ext cx="3093839" cy="3684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2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Million Song &amp; Last.fm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5235893" y="5771317"/>
            <a:ext cx="4158615" cy="884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7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Extensive music metadata and listening behaviour data providing rich features for recommendation algorithms</a:t>
            </a:r>
            <a:endParaRPr lang="en-US" sz="17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7995" y="2469713"/>
            <a:ext cx="4158615" cy="257020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677995" y="5266730"/>
            <a:ext cx="2835235" cy="3684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2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RAVDESS (Optional)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9677995" y="5771317"/>
            <a:ext cx="4158615" cy="884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7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Audio-visual emotional speech and song database for enhanced multimodal emotion detection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86113" y="524232"/>
            <a:ext cx="4809768" cy="6194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750" b="1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System Architecture</a:t>
            </a:r>
            <a:endParaRPr lang="en-US" sz="3750" dirty="0"/>
          </a:p>
        </p:txBody>
      </p:sp>
      <p:sp>
        <p:nvSpPr>
          <p:cNvPr id="3" name="Text 1"/>
          <p:cNvSpPr/>
          <p:nvPr/>
        </p:nvSpPr>
        <p:spPr>
          <a:xfrm>
            <a:off x="1286113" y="1524953"/>
            <a:ext cx="12058055" cy="2477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 streamlined pipeline transforming emotions into personalised music experiences</a:t>
            </a:r>
            <a:endParaRPr lang="en-US" sz="15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6113" y="1987153"/>
            <a:ext cx="953095" cy="114383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429828" y="2177772"/>
            <a:ext cx="2382917" cy="3096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Input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2429828" y="2601754"/>
            <a:ext cx="10914340" cy="2477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Facial image or text</a:t>
            </a:r>
            <a:endParaRPr lang="en-US" sz="15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6113" y="3130987"/>
            <a:ext cx="953095" cy="114383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429828" y="3321606"/>
            <a:ext cx="2382917" cy="3096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Emotion Detection</a:t>
            </a:r>
            <a:endParaRPr lang="en-US" sz="1850" dirty="0"/>
          </a:p>
        </p:txBody>
      </p:sp>
      <p:sp>
        <p:nvSpPr>
          <p:cNvPr id="9" name="Text 5"/>
          <p:cNvSpPr/>
          <p:nvPr/>
        </p:nvSpPr>
        <p:spPr>
          <a:xfrm>
            <a:off x="2429828" y="3745587"/>
            <a:ext cx="10914340" cy="2477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AI model analysis</a:t>
            </a:r>
            <a:endParaRPr lang="en-US" sz="15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6113" y="4274820"/>
            <a:ext cx="953095" cy="1143833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2429828" y="4465439"/>
            <a:ext cx="2382917" cy="3096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Emotion Mapping</a:t>
            </a:r>
            <a:endParaRPr lang="en-US" sz="1850" dirty="0"/>
          </a:p>
        </p:txBody>
      </p:sp>
      <p:sp>
        <p:nvSpPr>
          <p:cNvPr id="12" name="Text 7"/>
          <p:cNvSpPr/>
          <p:nvPr/>
        </p:nvSpPr>
        <p:spPr>
          <a:xfrm>
            <a:off x="2429828" y="4889421"/>
            <a:ext cx="10914340" cy="2477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State classification</a:t>
            </a:r>
            <a:endParaRPr lang="en-US" sz="15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6113" y="5418653"/>
            <a:ext cx="953095" cy="1143833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2429828" y="5609273"/>
            <a:ext cx="2788682" cy="3096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Music Recommendation</a:t>
            </a:r>
            <a:endParaRPr lang="en-US" sz="1850" dirty="0"/>
          </a:p>
        </p:txBody>
      </p:sp>
      <p:sp>
        <p:nvSpPr>
          <p:cNvPr id="15" name="Text 9"/>
          <p:cNvSpPr/>
          <p:nvPr/>
        </p:nvSpPr>
        <p:spPr>
          <a:xfrm>
            <a:off x="2429828" y="6033254"/>
            <a:ext cx="10914340" cy="2477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Track selection</a:t>
            </a:r>
            <a:endParaRPr lang="en-US" sz="150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86113" y="6562487"/>
            <a:ext cx="953095" cy="1143833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2429828" y="6753106"/>
            <a:ext cx="2382917" cy="3096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Output</a:t>
            </a:r>
            <a:endParaRPr lang="en-US" sz="1850" dirty="0"/>
          </a:p>
        </p:txBody>
      </p:sp>
      <p:sp>
        <p:nvSpPr>
          <p:cNvPr id="18" name="Text 11"/>
          <p:cNvSpPr/>
          <p:nvPr/>
        </p:nvSpPr>
        <p:spPr>
          <a:xfrm>
            <a:off x="2429828" y="7177088"/>
            <a:ext cx="10914340" cy="2477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Personalised playlist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7284" y="538043"/>
            <a:ext cx="2422565" cy="320873"/>
          </a:xfrm>
          <a:prstGeom prst="roundRect">
            <a:avLst>
              <a:gd name="adj" fmla="val 20489"/>
            </a:avLst>
          </a:prstGeom>
          <a:solidFill>
            <a:srgbClr val="00194D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44679" y="620197"/>
            <a:ext cx="156448" cy="1564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79352" y="596741"/>
            <a:ext cx="1953101" cy="2034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TECHNICAL COMPONENTS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127284" y="937141"/>
            <a:ext cx="5220772" cy="635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000"/>
              </a:lnSpc>
              <a:buNone/>
            </a:pPr>
            <a:r>
              <a:rPr lang="en-US" sz="3850" b="1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Core System Modules</a:t>
            </a:r>
            <a:endParaRPr lang="en-US" sz="3850" dirty="0"/>
          </a:p>
        </p:txBody>
      </p:sp>
      <p:sp>
        <p:nvSpPr>
          <p:cNvPr id="6" name="Shape 3"/>
          <p:cNvSpPr/>
          <p:nvPr/>
        </p:nvSpPr>
        <p:spPr>
          <a:xfrm>
            <a:off x="7303770" y="1866424"/>
            <a:ext cx="22860" cy="5826681"/>
          </a:xfrm>
          <a:prstGeom prst="roundRect">
            <a:avLst>
              <a:gd name="adj" fmla="val 359492"/>
            </a:avLst>
          </a:prstGeom>
          <a:solidFill>
            <a:srgbClr val="002A80"/>
          </a:solidFill>
          <a:ln/>
        </p:spPr>
      </p:sp>
      <p:sp>
        <p:nvSpPr>
          <p:cNvPr id="7" name="Shape 4"/>
          <p:cNvSpPr/>
          <p:nvPr/>
        </p:nvSpPr>
        <p:spPr>
          <a:xfrm>
            <a:off x="6530995" y="2075021"/>
            <a:ext cx="586978" cy="22860"/>
          </a:xfrm>
          <a:prstGeom prst="roundRect">
            <a:avLst>
              <a:gd name="adj" fmla="val 359492"/>
            </a:avLst>
          </a:prstGeom>
          <a:solidFill>
            <a:srgbClr val="002A80"/>
          </a:solidFill>
          <a:ln/>
        </p:spPr>
      </p:sp>
      <p:sp>
        <p:nvSpPr>
          <p:cNvPr id="8" name="Shape 5"/>
          <p:cNvSpPr/>
          <p:nvPr/>
        </p:nvSpPr>
        <p:spPr>
          <a:xfrm>
            <a:off x="7095113" y="1866424"/>
            <a:ext cx="440174" cy="440174"/>
          </a:xfrm>
          <a:prstGeom prst="roundRect">
            <a:avLst>
              <a:gd name="adj" fmla="val 18670"/>
            </a:avLst>
          </a:prstGeom>
          <a:solidFill>
            <a:srgbClr val="101620"/>
          </a:solidFill>
          <a:ln w="22860">
            <a:solidFill>
              <a:srgbClr val="002A8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168396" y="1895713"/>
            <a:ext cx="293489" cy="3814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00"/>
              </a:lnSpc>
              <a:buNone/>
            </a:pPr>
            <a:r>
              <a:rPr lang="en-US" sz="23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1</a:t>
            </a:r>
            <a:endParaRPr lang="en-US" sz="2300" dirty="0"/>
          </a:p>
        </p:txBody>
      </p:sp>
      <p:sp>
        <p:nvSpPr>
          <p:cNvPr id="10" name="Text 7"/>
          <p:cNvSpPr/>
          <p:nvPr/>
        </p:nvSpPr>
        <p:spPr>
          <a:xfrm>
            <a:off x="2464832" y="1927503"/>
            <a:ext cx="3872151" cy="3178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500"/>
              </a:lnSpc>
              <a:buNone/>
            </a:pPr>
            <a:r>
              <a:rPr lang="en-US" sz="19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Data Collection &amp; Preprocessing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1127284" y="2362795"/>
            <a:ext cx="5209699" cy="5083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Gathering and cleaning emotion and music datasets, preparing features for model training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7512427" y="3248858"/>
            <a:ext cx="586978" cy="22860"/>
          </a:xfrm>
          <a:prstGeom prst="roundRect">
            <a:avLst>
              <a:gd name="adj" fmla="val 359492"/>
            </a:avLst>
          </a:prstGeom>
          <a:solidFill>
            <a:srgbClr val="002A80"/>
          </a:solidFill>
          <a:ln/>
        </p:spPr>
      </p:sp>
      <p:sp>
        <p:nvSpPr>
          <p:cNvPr id="13" name="Shape 10"/>
          <p:cNvSpPr/>
          <p:nvPr/>
        </p:nvSpPr>
        <p:spPr>
          <a:xfrm>
            <a:off x="7095113" y="3040261"/>
            <a:ext cx="440174" cy="440174"/>
          </a:xfrm>
          <a:prstGeom prst="roundRect">
            <a:avLst>
              <a:gd name="adj" fmla="val 18670"/>
            </a:avLst>
          </a:prstGeom>
          <a:solidFill>
            <a:srgbClr val="101620"/>
          </a:solidFill>
          <a:ln w="22860">
            <a:solidFill>
              <a:srgbClr val="002A8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168396" y="3069550"/>
            <a:ext cx="293489" cy="3814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00"/>
              </a:lnSpc>
              <a:buNone/>
            </a:pPr>
            <a:r>
              <a:rPr lang="en-US" sz="23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2</a:t>
            </a:r>
            <a:endParaRPr lang="en-US" sz="2300" dirty="0"/>
          </a:p>
        </p:txBody>
      </p:sp>
      <p:sp>
        <p:nvSpPr>
          <p:cNvPr id="15" name="Text 12"/>
          <p:cNvSpPr/>
          <p:nvPr/>
        </p:nvSpPr>
        <p:spPr>
          <a:xfrm>
            <a:off x="8293418" y="3101340"/>
            <a:ext cx="3094077" cy="3178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9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Emotion Detection Engine</a:t>
            </a:r>
            <a:endParaRPr lang="en-US" sz="1900" dirty="0"/>
          </a:p>
        </p:txBody>
      </p:sp>
      <p:sp>
        <p:nvSpPr>
          <p:cNvPr id="16" name="Text 13"/>
          <p:cNvSpPr/>
          <p:nvPr/>
        </p:nvSpPr>
        <p:spPr>
          <a:xfrm>
            <a:off x="8293418" y="3536633"/>
            <a:ext cx="5209699" cy="5083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Deep learning models (CNN/Transformer) trained to recognise facial expressions and text sentiment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6530995" y="4257675"/>
            <a:ext cx="586978" cy="22860"/>
          </a:xfrm>
          <a:prstGeom prst="roundRect">
            <a:avLst>
              <a:gd name="adj" fmla="val 359492"/>
            </a:avLst>
          </a:prstGeom>
          <a:solidFill>
            <a:srgbClr val="002A80"/>
          </a:solidFill>
          <a:ln/>
        </p:spPr>
      </p:sp>
      <p:sp>
        <p:nvSpPr>
          <p:cNvPr id="18" name="Shape 15"/>
          <p:cNvSpPr/>
          <p:nvPr/>
        </p:nvSpPr>
        <p:spPr>
          <a:xfrm>
            <a:off x="7095113" y="4049078"/>
            <a:ext cx="440174" cy="440174"/>
          </a:xfrm>
          <a:prstGeom prst="roundRect">
            <a:avLst>
              <a:gd name="adj" fmla="val 18670"/>
            </a:avLst>
          </a:prstGeom>
          <a:solidFill>
            <a:srgbClr val="101620"/>
          </a:solidFill>
          <a:ln w="22860">
            <a:solidFill>
              <a:srgbClr val="002A8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168396" y="4078367"/>
            <a:ext cx="293489" cy="3814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00"/>
              </a:lnSpc>
              <a:buNone/>
            </a:pPr>
            <a:r>
              <a:rPr lang="en-US" sz="23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3</a:t>
            </a:r>
            <a:endParaRPr lang="en-US" sz="2300" dirty="0"/>
          </a:p>
        </p:txBody>
      </p:sp>
      <p:sp>
        <p:nvSpPr>
          <p:cNvPr id="20" name="Text 17"/>
          <p:cNvSpPr/>
          <p:nvPr/>
        </p:nvSpPr>
        <p:spPr>
          <a:xfrm>
            <a:off x="3333393" y="4110157"/>
            <a:ext cx="3003590" cy="3178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500"/>
              </a:lnSpc>
              <a:buNone/>
            </a:pPr>
            <a:r>
              <a:rPr lang="en-US" sz="19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Music Feature Extraction</a:t>
            </a:r>
            <a:endParaRPr lang="en-US" sz="1900" dirty="0"/>
          </a:p>
        </p:txBody>
      </p:sp>
      <p:sp>
        <p:nvSpPr>
          <p:cNvPr id="21" name="Text 18"/>
          <p:cNvSpPr/>
          <p:nvPr/>
        </p:nvSpPr>
        <p:spPr>
          <a:xfrm>
            <a:off x="1127284" y="4545449"/>
            <a:ext cx="5209699" cy="5083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Analysing audio characteristics—tempo, valence, energy, mood tags—to build rich music profiles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7512427" y="5266492"/>
            <a:ext cx="586978" cy="22860"/>
          </a:xfrm>
          <a:prstGeom prst="roundRect">
            <a:avLst>
              <a:gd name="adj" fmla="val 359492"/>
            </a:avLst>
          </a:prstGeom>
          <a:solidFill>
            <a:srgbClr val="002A80"/>
          </a:solidFill>
          <a:ln/>
        </p:spPr>
      </p:sp>
      <p:sp>
        <p:nvSpPr>
          <p:cNvPr id="23" name="Shape 20"/>
          <p:cNvSpPr/>
          <p:nvPr/>
        </p:nvSpPr>
        <p:spPr>
          <a:xfrm>
            <a:off x="7095113" y="5057894"/>
            <a:ext cx="440174" cy="440174"/>
          </a:xfrm>
          <a:prstGeom prst="roundRect">
            <a:avLst>
              <a:gd name="adj" fmla="val 18670"/>
            </a:avLst>
          </a:prstGeom>
          <a:solidFill>
            <a:srgbClr val="101620"/>
          </a:solidFill>
          <a:ln w="22860">
            <a:solidFill>
              <a:srgbClr val="002A8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168396" y="5087183"/>
            <a:ext cx="293489" cy="3814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00"/>
              </a:lnSpc>
              <a:buNone/>
            </a:pPr>
            <a:r>
              <a:rPr lang="en-US" sz="23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4</a:t>
            </a:r>
            <a:endParaRPr lang="en-US" sz="2300" dirty="0"/>
          </a:p>
        </p:txBody>
      </p:sp>
      <p:sp>
        <p:nvSpPr>
          <p:cNvPr id="25" name="Text 22"/>
          <p:cNvSpPr/>
          <p:nvPr/>
        </p:nvSpPr>
        <p:spPr>
          <a:xfrm>
            <a:off x="8293418" y="5118973"/>
            <a:ext cx="3326249" cy="3178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9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Recommendation Algorithm</a:t>
            </a:r>
            <a:endParaRPr lang="en-US" sz="1900" dirty="0"/>
          </a:p>
        </p:txBody>
      </p:sp>
      <p:sp>
        <p:nvSpPr>
          <p:cNvPr id="26" name="Text 23"/>
          <p:cNvSpPr/>
          <p:nvPr/>
        </p:nvSpPr>
        <p:spPr>
          <a:xfrm>
            <a:off x="8293418" y="5554266"/>
            <a:ext cx="5209699" cy="5083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Intelligent matching system connecting emotional states to appropriate musical attributes</a:t>
            </a:r>
            <a:endParaRPr lang="en-US" sz="1500" dirty="0"/>
          </a:p>
        </p:txBody>
      </p:sp>
      <p:sp>
        <p:nvSpPr>
          <p:cNvPr id="27" name="Shape 24"/>
          <p:cNvSpPr/>
          <p:nvPr/>
        </p:nvSpPr>
        <p:spPr>
          <a:xfrm>
            <a:off x="6530995" y="6275308"/>
            <a:ext cx="586978" cy="22860"/>
          </a:xfrm>
          <a:prstGeom prst="roundRect">
            <a:avLst>
              <a:gd name="adj" fmla="val 359492"/>
            </a:avLst>
          </a:prstGeom>
          <a:solidFill>
            <a:srgbClr val="002A80"/>
          </a:solidFill>
          <a:ln/>
        </p:spPr>
      </p:sp>
      <p:sp>
        <p:nvSpPr>
          <p:cNvPr id="28" name="Shape 25"/>
          <p:cNvSpPr/>
          <p:nvPr/>
        </p:nvSpPr>
        <p:spPr>
          <a:xfrm>
            <a:off x="7095113" y="6066711"/>
            <a:ext cx="440174" cy="440174"/>
          </a:xfrm>
          <a:prstGeom prst="roundRect">
            <a:avLst>
              <a:gd name="adj" fmla="val 18670"/>
            </a:avLst>
          </a:prstGeom>
          <a:solidFill>
            <a:srgbClr val="101620"/>
          </a:solidFill>
          <a:ln w="22860">
            <a:solidFill>
              <a:srgbClr val="002A80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168396" y="6096000"/>
            <a:ext cx="293489" cy="3814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00"/>
              </a:lnSpc>
              <a:buNone/>
            </a:pPr>
            <a:r>
              <a:rPr lang="en-US" sz="23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5</a:t>
            </a:r>
            <a:endParaRPr lang="en-US" sz="2300" dirty="0"/>
          </a:p>
        </p:txBody>
      </p:sp>
      <p:sp>
        <p:nvSpPr>
          <p:cNvPr id="30" name="Text 27"/>
          <p:cNvSpPr/>
          <p:nvPr/>
        </p:nvSpPr>
        <p:spPr>
          <a:xfrm>
            <a:off x="3891201" y="6127790"/>
            <a:ext cx="2445782" cy="3178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500"/>
              </a:lnSpc>
              <a:buNone/>
            </a:pPr>
            <a:r>
              <a:rPr lang="en-US" sz="19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UI &amp; Integration</a:t>
            </a:r>
            <a:endParaRPr lang="en-US" sz="1900" dirty="0"/>
          </a:p>
        </p:txBody>
      </p:sp>
      <p:sp>
        <p:nvSpPr>
          <p:cNvPr id="31" name="Text 28"/>
          <p:cNvSpPr/>
          <p:nvPr/>
        </p:nvSpPr>
        <p:spPr>
          <a:xfrm>
            <a:off x="1127284" y="6563082"/>
            <a:ext cx="5209699" cy="5083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User-friendly interface bringing all components together for seamless real-time interaction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20447" y="566857"/>
            <a:ext cx="6131004" cy="669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250"/>
              </a:lnSpc>
              <a:buNone/>
            </a:pPr>
            <a:r>
              <a:rPr lang="en-US" sz="4050" b="1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Real-World Applications</a:t>
            </a:r>
            <a:endParaRPr lang="en-US" sz="40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0447" y="1544598"/>
            <a:ext cx="514588" cy="51458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20447" y="2316480"/>
            <a:ext cx="2849285" cy="3344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Mental Health Support</a:t>
            </a:r>
            <a:endParaRPr lang="en-US" sz="2000" dirty="0"/>
          </a:p>
        </p:txBody>
      </p:sp>
      <p:sp>
        <p:nvSpPr>
          <p:cNvPr id="6" name="Text 2"/>
          <p:cNvSpPr/>
          <p:nvPr/>
        </p:nvSpPr>
        <p:spPr>
          <a:xfrm>
            <a:off x="720447" y="2774394"/>
            <a:ext cx="7703106" cy="5350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6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Therapeutic music recommendations for stress relief, anxiety management, and mood regulation in wellness apps</a:t>
            </a:r>
            <a:endParaRPr lang="en-US" sz="16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20447" y="3721179"/>
            <a:ext cx="514588" cy="51458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20447" y="4493062"/>
            <a:ext cx="3427452" cy="3344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Music Streaming Platforms</a:t>
            </a:r>
            <a:endParaRPr lang="en-US" sz="2000" dirty="0"/>
          </a:p>
        </p:txBody>
      </p:sp>
      <p:sp>
        <p:nvSpPr>
          <p:cNvPr id="9" name="Text 4"/>
          <p:cNvSpPr/>
          <p:nvPr/>
        </p:nvSpPr>
        <p:spPr>
          <a:xfrm>
            <a:off x="720447" y="4950976"/>
            <a:ext cx="7703106" cy="5350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6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Enhanced user engagement through emotion-aware features that differentiate platforms in competitive markets</a:t>
            </a:r>
            <a:endParaRPr lang="en-US" sz="16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0447" y="5897761"/>
            <a:ext cx="514588" cy="51458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20447" y="6669643"/>
            <a:ext cx="3242191" cy="3344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Personalised Experiences</a:t>
            </a:r>
            <a:endParaRPr lang="en-US" sz="2000" dirty="0"/>
          </a:p>
        </p:txBody>
      </p:sp>
      <p:sp>
        <p:nvSpPr>
          <p:cNvPr id="12" name="Text 6"/>
          <p:cNvSpPr/>
          <p:nvPr/>
        </p:nvSpPr>
        <p:spPr>
          <a:xfrm>
            <a:off x="720447" y="7127557"/>
            <a:ext cx="7703106" cy="5350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6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Adaptive interfaces in smart homes, vehicles, and wearables that respond to users' emotional states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03973"/>
            <a:ext cx="6924437" cy="1474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800"/>
              </a:lnSpc>
              <a:buNone/>
            </a:pPr>
            <a:r>
              <a:rPr lang="en-US" sz="4450" b="1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The Future of Music is Emotionally Intelligent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005018"/>
            <a:ext cx="6924437" cy="884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7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MoodMate bridges the gap between how we feel and what we hear, creating deeper connections through AI-powered understanding.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4093488"/>
            <a:ext cx="6924437" cy="884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7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By combining cutting-edge emotion detection with intelligent music recommendation, we're not just playing songs—we're enhancing lives.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793790" y="5233035"/>
            <a:ext cx="6924437" cy="1190506"/>
          </a:xfrm>
          <a:prstGeom prst="roundRect">
            <a:avLst>
              <a:gd name="adj" fmla="val 8002"/>
            </a:avLst>
          </a:prstGeom>
          <a:solidFill>
            <a:srgbClr val="00194D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0604" y="5539026"/>
            <a:ext cx="283488" cy="22681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30906" y="5516523"/>
            <a:ext cx="5960507" cy="589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Ready to experience emotion-aware music? Connect with us for a live demo.</a:t>
            </a:r>
            <a:endParaRPr lang="en-US" sz="17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9249" y="1332309"/>
            <a:ext cx="5564862" cy="556486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2026-01-21T12:05:04Z</dcterms:created>
  <dcterms:modified xsi:type="dcterms:W3CDTF">2026-01-21T12:05:04Z</dcterms:modified>
</cp:coreProperties>
</file>